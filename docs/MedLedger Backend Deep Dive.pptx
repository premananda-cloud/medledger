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6256000" cy="9144000"/>
  <p:notesSz cx="9144000" cy="16256000"/>
  <p:embeddedFontLst>
    <p:embeddedFont>
      <p:font typeface="Quattrocento Sans" charset="-122" pitchFamily="34"/>
      <p:regular r:id="rId19"/>
    </p:embeddedFont>
    <p:embeddedFont>
      <p:font typeface="Liter" charset="-122" pitchFamily="34"/>
      <p:regular r:id="rId20"/>
    </p:embeddedFont>
    <p:embeddedFont>
      <p:font typeface="Hedvig Letters Sans" charset="-122" pitchFamily="34"/>
      <p:regular r:id="rId21"/>
    </p:embeddedFont>
    <p:embeddedFont>
      <p:font typeface="MiSans" charset="-122" pitchFamily="34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a211da446be5871f8cabfeb9b732c0d41392fc2d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4A5C6A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12618" y="2103582"/>
            <a:ext cx="3260436" cy="517236"/>
          </a:xfrm>
          <a:custGeom>
            <a:avLst/>
            <a:gdLst/>
            <a:ahLst/>
            <a:cxnLst/>
            <a:rect l="l" t="t" r="r" b="b"/>
            <a:pathLst>
              <a:path w="3260436" h="517236">
                <a:moveTo>
                  <a:pt x="101601" y="0"/>
                </a:moveTo>
                <a:lnTo>
                  <a:pt x="3158836" y="0"/>
                </a:lnTo>
                <a:cubicBezTo>
                  <a:pt x="3214948" y="0"/>
                  <a:pt x="3260436" y="45488"/>
                  <a:pt x="3260436" y="101601"/>
                </a:cubicBezTo>
                <a:lnTo>
                  <a:pt x="3260436" y="415636"/>
                </a:lnTo>
                <a:cubicBezTo>
                  <a:pt x="3260436" y="471748"/>
                  <a:pt x="3214948" y="517236"/>
                  <a:pt x="3158836" y="517236"/>
                </a:cubicBezTo>
                <a:lnTo>
                  <a:pt x="101601" y="517236"/>
                </a:lnTo>
                <a:cubicBezTo>
                  <a:pt x="45488" y="517236"/>
                  <a:pt x="0" y="471748"/>
                  <a:pt x="0" y="415636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38A3A5">
              <a:alpha val="20000"/>
            </a:srgbClr>
          </a:solidFill>
          <a:ln w="9236">
            <a:solidFill>
              <a:srgbClr val="38A3A5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20436" y="2269836"/>
            <a:ext cx="2932473" cy="19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spc="140" kern="0" dirty="0">
                <a:solidFill>
                  <a:srgbClr val="38A3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Documentation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2930237"/>
            <a:ext cx="1569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MedLedger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4276437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8D99A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Backend Deep Dive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5292437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9" name="Text 6"/>
          <p:cNvSpPr/>
          <p:nvPr/>
        </p:nvSpPr>
        <p:spPr>
          <a:xfrm>
            <a:off x="508000" y="5749637"/>
            <a:ext cx="9906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EDF2F4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Registration → Keys → Accounts → Encryption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every piece actually works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6100" y="83820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50800" y="0"/>
                </a:moveTo>
                <a:cubicBezTo>
                  <a:pt x="43775" y="0"/>
                  <a:pt x="38100" y="5675"/>
                  <a:pt x="38100" y="12700"/>
                </a:cubicBezTo>
                <a:lnTo>
                  <a:pt x="38100" y="25400"/>
                </a:lnTo>
                <a:lnTo>
                  <a:pt x="25400" y="25400"/>
                </a:lnTo>
                <a:cubicBezTo>
                  <a:pt x="11390" y="25400"/>
                  <a:pt x="0" y="36790"/>
                  <a:pt x="0" y="50800"/>
                </a:cubicBezTo>
                <a:lnTo>
                  <a:pt x="0" y="69850"/>
                </a:lnTo>
                <a:lnTo>
                  <a:pt x="177800" y="69850"/>
                </a:lnTo>
                <a:lnTo>
                  <a:pt x="177800" y="50800"/>
                </a:lnTo>
                <a:cubicBezTo>
                  <a:pt x="177800" y="36790"/>
                  <a:pt x="166410" y="25400"/>
                  <a:pt x="152400" y="25400"/>
                </a:cubicBezTo>
                <a:lnTo>
                  <a:pt x="139700" y="25400"/>
                </a:lnTo>
                <a:lnTo>
                  <a:pt x="139700" y="12700"/>
                </a:lnTo>
                <a:cubicBezTo>
                  <a:pt x="139700" y="5675"/>
                  <a:pt x="134025" y="0"/>
                  <a:pt x="127000" y="0"/>
                </a:cubicBezTo>
                <a:cubicBezTo>
                  <a:pt x="119975" y="0"/>
                  <a:pt x="114300" y="5675"/>
                  <a:pt x="114300" y="12700"/>
                </a:cubicBezTo>
                <a:lnTo>
                  <a:pt x="114300" y="25400"/>
                </a:lnTo>
                <a:lnTo>
                  <a:pt x="63500" y="25400"/>
                </a:lnTo>
                <a:lnTo>
                  <a:pt x="63500" y="12700"/>
                </a:lnTo>
                <a:cubicBezTo>
                  <a:pt x="63500" y="5675"/>
                  <a:pt x="57825" y="0"/>
                  <a:pt x="50800" y="0"/>
                </a:cubicBezTo>
                <a:close/>
                <a:moveTo>
                  <a:pt x="0" y="88900"/>
                </a:moveTo>
                <a:lnTo>
                  <a:pt x="0" y="165100"/>
                </a:lnTo>
                <a:cubicBezTo>
                  <a:pt x="0" y="179110"/>
                  <a:pt x="11390" y="190500"/>
                  <a:pt x="25400" y="190500"/>
                </a:cubicBezTo>
                <a:lnTo>
                  <a:pt x="152400" y="190500"/>
                </a:lnTo>
                <a:cubicBezTo>
                  <a:pt x="166410" y="190500"/>
                  <a:pt x="177800" y="179110"/>
                  <a:pt x="177800" y="165100"/>
                </a:cubicBezTo>
                <a:lnTo>
                  <a:pt x="177800" y="88900"/>
                </a:lnTo>
                <a:lnTo>
                  <a:pt x="0" y="88900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11" name="Text 8"/>
          <p:cNvSpPr/>
          <p:nvPr/>
        </p:nvSpPr>
        <p:spPr>
          <a:xfrm>
            <a:off x="863600" y="8331200"/>
            <a:ext cx="546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2025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641908" y="83820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0"/>
                </a:moveTo>
                <a:cubicBezTo>
                  <a:pt x="103426" y="0"/>
                  <a:pt x="105251" y="397"/>
                  <a:pt x="106918" y="1151"/>
                </a:cubicBezTo>
                <a:lnTo>
                  <a:pt x="181689" y="32861"/>
                </a:lnTo>
                <a:cubicBezTo>
                  <a:pt x="190421" y="36552"/>
                  <a:pt x="196929" y="45164"/>
                  <a:pt x="196890" y="55563"/>
                </a:cubicBezTo>
                <a:cubicBezTo>
                  <a:pt x="196691" y="94932"/>
                  <a:pt x="180499" y="166965"/>
                  <a:pt x="112117" y="199708"/>
                </a:cubicBezTo>
                <a:cubicBezTo>
                  <a:pt x="105489" y="202883"/>
                  <a:pt x="97790" y="202883"/>
                  <a:pt x="91162" y="199708"/>
                </a:cubicBezTo>
                <a:cubicBezTo>
                  <a:pt x="22741" y="166965"/>
                  <a:pt x="6588" y="94932"/>
                  <a:pt x="6390" y="55563"/>
                </a:cubicBezTo>
                <a:cubicBezTo>
                  <a:pt x="6350" y="45164"/>
                  <a:pt x="12859" y="36552"/>
                  <a:pt x="21590" y="32861"/>
                </a:cubicBezTo>
                <a:lnTo>
                  <a:pt x="96322" y="1151"/>
                </a:lnTo>
                <a:cubicBezTo>
                  <a:pt x="97988" y="397"/>
                  <a:pt x="99774" y="0"/>
                  <a:pt x="101600" y="0"/>
                </a:cubicBezTo>
                <a:close/>
                <a:moveTo>
                  <a:pt x="101600" y="26511"/>
                </a:moveTo>
                <a:lnTo>
                  <a:pt x="101600" y="176570"/>
                </a:lnTo>
                <a:cubicBezTo>
                  <a:pt x="156369" y="150058"/>
                  <a:pt x="171093" y="91321"/>
                  <a:pt x="171450" y="56158"/>
                </a:cubicBezTo>
                <a:lnTo>
                  <a:pt x="101600" y="26551"/>
                </a:lnTo>
                <a:lnTo>
                  <a:pt x="101600" y="26551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13" name="Text 10"/>
          <p:cNvSpPr/>
          <p:nvPr/>
        </p:nvSpPr>
        <p:spPr>
          <a:xfrm>
            <a:off x="1972108" y="8331200"/>
            <a:ext cx="162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 by Design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2566867" y="8331200"/>
            <a:ext cx="317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600" b="1" dirty="0">
                <a:solidFill>
                  <a:srgbClr val="38A3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Blockchain-Based Medical Records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spc="140" kern="0" dirty="0">
                <a:solidFill>
                  <a:srgbClr val="38A3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Navigation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 of Contents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6764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5" name="Shape 3"/>
          <p:cNvSpPr/>
          <p:nvPr/>
        </p:nvSpPr>
        <p:spPr>
          <a:xfrm>
            <a:off x="512618" y="2138218"/>
            <a:ext cx="7464136" cy="1990436"/>
          </a:xfrm>
          <a:custGeom>
            <a:avLst/>
            <a:gdLst/>
            <a:ahLst/>
            <a:cxnLst/>
            <a:rect l="l" t="t" r="r" b="b"/>
            <a:pathLst>
              <a:path w="7464136" h="1990436">
                <a:moveTo>
                  <a:pt x="152408" y="0"/>
                </a:moveTo>
                <a:lnTo>
                  <a:pt x="7311729" y="0"/>
                </a:lnTo>
                <a:cubicBezTo>
                  <a:pt x="7395901" y="0"/>
                  <a:pt x="7464136" y="68235"/>
                  <a:pt x="7464136" y="152408"/>
                </a:cubicBezTo>
                <a:lnTo>
                  <a:pt x="7464136" y="1838029"/>
                </a:lnTo>
                <a:cubicBezTo>
                  <a:pt x="7464136" y="1922201"/>
                  <a:pt x="7395901" y="1990436"/>
                  <a:pt x="7311729" y="1990436"/>
                </a:cubicBezTo>
                <a:lnTo>
                  <a:pt x="152408" y="1990436"/>
                </a:lnTo>
                <a:cubicBezTo>
                  <a:pt x="68235" y="1990436"/>
                  <a:pt x="0" y="1922201"/>
                  <a:pt x="0" y="1838029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9236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036" y="2447637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8A3A5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19391" y="2600037"/>
            <a:ext cx="4699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38A3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36436" y="2447637"/>
            <a:ext cx="605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Registration Architecture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36436" y="2904837"/>
            <a:ext cx="60325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flow from API request to secure key generation with ECDSA P-256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2618" y="4390304"/>
            <a:ext cx="7464136" cy="1990436"/>
          </a:xfrm>
          <a:custGeom>
            <a:avLst/>
            <a:gdLst/>
            <a:ahLst/>
            <a:cxnLst/>
            <a:rect l="l" t="t" r="r" b="b"/>
            <a:pathLst>
              <a:path w="7464136" h="1990436">
                <a:moveTo>
                  <a:pt x="152408" y="0"/>
                </a:moveTo>
                <a:lnTo>
                  <a:pt x="7311729" y="0"/>
                </a:lnTo>
                <a:cubicBezTo>
                  <a:pt x="7395901" y="0"/>
                  <a:pt x="7464136" y="68235"/>
                  <a:pt x="7464136" y="152408"/>
                </a:cubicBezTo>
                <a:lnTo>
                  <a:pt x="7464136" y="1838029"/>
                </a:lnTo>
                <a:cubicBezTo>
                  <a:pt x="7464136" y="1922201"/>
                  <a:pt x="7395901" y="1990436"/>
                  <a:pt x="7311729" y="1990436"/>
                </a:cubicBezTo>
                <a:lnTo>
                  <a:pt x="152408" y="1990436"/>
                </a:lnTo>
                <a:cubicBezTo>
                  <a:pt x="68235" y="1990436"/>
                  <a:pt x="0" y="1922201"/>
                  <a:pt x="0" y="1838029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9236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036" y="4699722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8A3A5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91827" y="4852122"/>
            <a:ext cx="520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38A3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36436" y="4699722"/>
            <a:ext cx="605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Account Types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36436" y="5156922"/>
            <a:ext cx="6032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Patient vs Doctor accounts and permission control mechanisms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12618" y="6642461"/>
            <a:ext cx="7464136" cy="1990436"/>
          </a:xfrm>
          <a:custGeom>
            <a:avLst/>
            <a:gdLst/>
            <a:ahLst/>
            <a:cxnLst/>
            <a:rect l="l" t="t" r="r" b="b"/>
            <a:pathLst>
              <a:path w="7464136" h="1990436">
                <a:moveTo>
                  <a:pt x="152408" y="0"/>
                </a:moveTo>
                <a:lnTo>
                  <a:pt x="7311729" y="0"/>
                </a:lnTo>
                <a:cubicBezTo>
                  <a:pt x="7395901" y="0"/>
                  <a:pt x="7464136" y="68235"/>
                  <a:pt x="7464136" y="152408"/>
                </a:cubicBezTo>
                <a:lnTo>
                  <a:pt x="7464136" y="1838029"/>
                </a:lnTo>
                <a:cubicBezTo>
                  <a:pt x="7464136" y="1922201"/>
                  <a:pt x="7395901" y="1990436"/>
                  <a:pt x="7311729" y="1990436"/>
                </a:cubicBezTo>
                <a:lnTo>
                  <a:pt x="152408" y="1990436"/>
                </a:lnTo>
                <a:cubicBezTo>
                  <a:pt x="68235" y="1990436"/>
                  <a:pt x="0" y="1922201"/>
                  <a:pt x="0" y="1838029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9236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036" y="695188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8A3A5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90456" y="7104280"/>
            <a:ext cx="520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38A3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36436" y="6951880"/>
            <a:ext cx="605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Encryption &amp; Security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36436" y="7409080"/>
            <a:ext cx="60325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Multi-layer encryption with AES-256-GCM and ECIES key wrapping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85018" y="2138218"/>
            <a:ext cx="7464136" cy="1990436"/>
          </a:xfrm>
          <a:custGeom>
            <a:avLst/>
            <a:gdLst/>
            <a:ahLst/>
            <a:cxnLst/>
            <a:rect l="l" t="t" r="r" b="b"/>
            <a:pathLst>
              <a:path w="7464136" h="1990436">
                <a:moveTo>
                  <a:pt x="152408" y="0"/>
                </a:moveTo>
                <a:lnTo>
                  <a:pt x="7311729" y="0"/>
                </a:lnTo>
                <a:cubicBezTo>
                  <a:pt x="7395901" y="0"/>
                  <a:pt x="7464136" y="68235"/>
                  <a:pt x="7464136" y="152408"/>
                </a:cubicBezTo>
                <a:lnTo>
                  <a:pt x="7464136" y="1838029"/>
                </a:lnTo>
                <a:cubicBezTo>
                  <a:pt x="7464136" y="1922201"/>
                  <a:pt x="7395901" y="1990436"/>
                  <a:pt x="7311729" y="1990436"/>
                </a:cubicBezTo>
                <a:lnTo>
                  <a:pt x="152408" y="1990436"/>
                </a:lnTo>
                <a:cubicBezTo>
                  <a:pt x="68235" y="1990436"/>
                  <a:pt x="0" y="1922201"/>
                  <a:pt x="0" y="1838029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9236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94437" y="2447637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8A3A5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8763000" y="2600037"/>
            <a:ext cx="520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38A3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508837" y="2447637"/>
            <a:ext cx="605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Decryption Workflow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508837" y="2904837"/>
            <a:ext cx="6032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doctors access records with patient-granted permissions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285018" y="4390304"/>
            <a:ext cx="7464136" cy="1990436"/>
          </a:xfrm>
          <a:custGeom>
            <a:avLst/>
            <a:gdLst/>
            <a:ahLst/>
            <a:cxnLst/>
            <a:rect l="l" t="t" r="r" b="b"/>
            <a:pathLst>
              <a:path w="7464136" h="1990436">
                <a:moveTo>
                  <a:pt x="152408" y="0"/>
                </a:moveTo>
                <a:lnTo>
                  <a:pt x="7311729" y="0"/>
                </a:lnTo>
                <a:cubicBezTo>
                  <a:pt x="7395901" y="0"/>
                  <a:pt x="7464136" y="68235"/>
                  <a:pt x="7464136" y="152408"/>
                </a:cubicBezTo>
                <a:lnTo>
                  <a:pt x="7464136" y="1838029"/>
                </a:lnTo>
                <a:cubicBezTo>
                  <a:pt x="7464136" y="1922201"/>
                  <a:pt x="7395901" y="1990436"/>
                  <a:pt x="7311729" y="1990436"/>
                </a:cubicBezTo>
                <a:lnTo>
                  <a:pt x="152408" y="1990436"/>
                </a:lnTo>
                <a:cubicBezTo>
                  <a:pt x="68235" y="1990436"/>
                  <a:pt x="0" y="1922201"/>
                  <a:pt x="0" y="1838029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9236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94437" y="4699722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8A3A5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8765021" y="4852122"/>
            <a:ext cx="520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38A3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508837" y="4699722"/>
            <a:ext cx="605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Stack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508837" y="5156922"/>
            <a:ext cx="6032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tools and libraries powering the system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285018" y="6642461"/>
            <a:ext cx="7464136" cy="1990436"/>
          </a:xfrm>
          <a:custGeom>
            <a:avLst/>
            <a:gdLst/>
            <a:ahLst/>
            <a:cxnLst/>
            <a:rect l="l" t="t" r="r" b="b"/>
            <a:pathLst>
              <a:path w="7464136" h="1990436">
                <a:moveTo>
                  <a:pt x="152408" y="0"/>
                </a:moveTo>
                <a:lnTo>
                  <a:pt x="7311729" y="0"/>
                </a:lnTo>
                <a:cubicBezTo>
                  <a:pt x="7395901" y="0"/>
                  <a:pt x="7464136" y="68235"/>
                  <a:pt x="7464136" y="152408"/>
                </a:cubicBezTo>
                <a:lnTo>
                  <a:pt x="7464136" y="1838029"/>
                </a:lnTo>
                <a:cubicBezTo>
                  <a:pt x="7464136" y="1922201"/>
                  <a:pt x="7395901" y="1990436"/>
                  <a:pt x="7311729" y="1990436"/>
                </a:cubicBezTo>
                <a:lnTo>
                  <a:pt x="152408" y="1990436"/>
                </a:lnTo>
                <a:cubicBezTo>
                  <a:pt x="68235" y="1990436"/>
                  <a:pt x="0" y="1922201"/>
                  <a:pt x="0" y="1838029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9236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94437" y="695188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8A3A5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8761630" y="7104280"/>
            <a:ext cx="533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38A3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508837" y="6951880"/>
            <a:ext cx="605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Q&amp;A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508837" y="7409080"/>
            <a:ext cx="6032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security principles and architectural decisions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901e50505bc3e0701f151fd44eb05f9209278351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12687" b="12687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4A5C6A">
                  <a:alpha val="8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6866804" y="2332183"/>
            <a:ext cx="2523836" cy="669636"/>
          </a:xfrm>
          <a:custGeom>
            <a:avLst/>
            <a:gdLst/>
            <a:ahLst/>
            <a:cxnLst/>
            <a:rect l="l" t="t" r="r" b="b"/>
            <a:pathLst>
              <a:path w="2523836" h="669636">
                <a:moveTo>
                  <a:pt x="152403" y="0"/>
                </a:moveTo>
                <a:lnTo>
                  <a:pt x="2371434" y="0"/>
                </a:lnTo>
                <a:cubicBezTo>
                  <a:pt x="2455603" y="0"/>
                  <a:pt x="2523836" y="68233"/>
                  <a:pt x="2523836" y="152403"/>
                </a:cubicBezTo>
                <a:lnTo>
                  <a:pt x="2523836" y="517234"/>
                </a:lnTo>
                <a:cubicBezTo>
                  <a:pt x="2523836" y="601403"/>
                  <a:pt x="2455603" y="669636"/>
                  <a:pt x="2371434" y="669636"/>
                </a:cubicBezTo>
                <a:lnTo>
                  <a:pt x="152403" y="669636"/>
                </a:lnTo>
                <a:cubicBezTo>
                  <a:pt x="68233" y="669636"/>
                  <a:pt x="0" y="601403"/>
                  <a:pt x="0" y="517234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solidFill>
            <a:srgbClr val="38A3A5">
              <a:alpha val="20000"/>
            </a:srgbClr>
          </a:solidFill>
          <a:ln w="9236">
            <a:solidFill>
              <a:srgbClr val="38A3A5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12722" y="2526147"/>
            <a:ext cx="2030485" cy="281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spc="200" kern="0" dirty="0">
                <a:solidFill>
                  <a:srgbClr val="38A3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One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190365" y="3412837"/>
            <a:ext cx="18796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96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452721" y="4936837"/>
            <a:ext cx="7353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800" b="1" dirty="0">
                <a:solidFill>
                  <a:srgbClr val="8D99A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Registration Architecture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112000" y="5952837"/>
            <a:ext cx="2032000" cy="50800"/>
          </a:xfrm>
          <a:custGeom>
            <a:avLst/>
            <a:gdLst/>
            <a:ahLst/>
            <a:cxnLst/>
            <a:rect l="l" t="t" r="r" b="b"/>
            <a:pathLst>
              <a:path w="2032000" h="50800">
                <a:moveTo>
                  <a:pt x="0" y="0"/>
                </a:moveTo>
                <a:lnTo>
                  <a:pt x="2032000" y="0"/>
                </a:lnTo>
                <a:lnTo>
                  <a:pt x="2032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9" name="Text 6"/>
          <p:cNvSpPr/>
          <p:nvPr/>
        </p:nvSpPr>
        <p:spPr>
          <a:xfrm>
            <a:off x="4023807" y="6410037"/>
            <a:ext cx="8204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dirty="0">
                <a:solidFill>
                  <a:srgbClr val="EDF2F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complete flow from API request to secure key generation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spc="140" kern="0" dirty="0">
                <a:solidFill>
                  <a:srgbClr val="38A3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Registration Flow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Step-by-Step Registration Process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240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5" name="Shape 3"/>
          <p:cNvSpPr/>
          <p:nvPr/>
        </p:nvSpPr>
        <p:spPr>
          <a:xfrm>
            <a:off x="512618" y="1884218"/>
            <a:ext cx="3654136" cy="2955636"/>
          </a:xfrm>
          <a:custGeom>
            <a:avLst/>
            <a:gdLst/>
            <a:ahLst/>
            <a:cxnLst/>
            <a:rect l="l" t="t" r="r" b="b"/>
            <a:pathLst>
              <a:path w="3654136" h="2955636">
                <a:moveTo>
                  <a:pt x="152393" y="0"/>
                </a:moveTo>
                <a:lnTo>
                  <a:pt x="3501744" y="0"/>
                </a:lnTo>
                <a:cubicBezTo>
                  <a:pt x="3585908" y="0"/>
                  <a:pt x="3654136" y="68228"/>
                  <a:pt x="3654136" y="152393"/>
                </a:cubicBezTo>
                <a:lnTo>
                  <a:pt x="3654136" y="2803244"/>
                </a:lnTo>
                <a:cubicBezTo>
                  <a:pt x="3654136" y="2887408"/>
                  <a:pt x="3585908" y="2955636"/>
                  <a:pt x="3501744" y="2955636"/>
                </a:cubicBezTo>
                <a:lnTo>
                  <a:pt x="152393" y="2955636"/>
                </a:lnTo>
                <a:cubicBezTo>
                  <a:pt x="68285" y="2955636"/>
                  <a:pt x="0" y="2887352"/>
                  <a:pt x="0" y="2803244"/>
                </a:cubicBezTo>
                <a:lnTo>
                  <a:pt x="0" y="152393"/>
                </a:lnTo>
                <a:cubicBezTo>
                  <a:pt x="0" y="68285"/>
                  <a:pt x="68285" y="0"/>
                  <a:pt x="15239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9236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1236" y="2142837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7" name="Text 5"/>
          <p:cNvSpPr/>
          <p:nvPr/>
        </p:nvSpPr>
        <p:spPr>
          <a:xfrm>
            <a:off x="988940" y="2219037"/>
            <a:ext cx="190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31636" y="2219037"/>
            <a:ext cx="1955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FastAPI Validation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1236" y="2803237"/>
            <a:ext cx="32385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RegisterRequest Pydantic schema validates JSON input. Role field (PATIENT/DOCTOR/ADMIN) controls access.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1236" y="4276437"/>
            <a:ext cx="3136900" cy="304800"/>
          </a:xfrm>
          <a:custGeom>
            <a:avLst/>
            <a:gdLst/>
            <a:ahLst/>
            <a:cxnLst/>
            <a:rect l="l" t="t" r="r" b="b"/>
            <a:pathLst>
              <a:path w="3136900" h="304800">
                <a:moveTo>
                  <a:pt x="50801" y="0"/>
                </a:moveTo>
                <a:lnTo>
                  <a:pt x="3086099" y="0"/>
                </a:lnTo>
                <a:cubicBezTo>
                  <a:pt x="3114156" y="0"/>
                  <a:pt x="3136900" y="22744"/>
                  <a:pt x="3136900" y="50801"/>
                </a:cubicBezTo>
                <a:lnTo>
                  <a:pt x="3136900" y="253999"/>
                </a:lnTo>
                <a:cubicBezTo>
                  <a:pt x="3136900" y="282056"/>
                  <a:pt x="3114156" y="304800"/>
                  <a:pt x="30860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A3A5">
              <a:alpha val="1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71236" y="4276437"/>
            <a:ext cx="32131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8A3A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 /api/auth/register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73418" y="1884218"/>
            <a:ext cx="3654136" cy="2955636"/>
          </a:xfrm>
          <a:custGeom>
            <a:avLst/>
            <a:gdLst/>
            <a:ahLst/>
            <a:cxnLst/>
            <a:rect l="l" t="t" r="r" b="b"/>
            <a:pathLst>
              <a:path w="3654136" h="2955636">
                <a:moveTo>
                  <a:pt x="152393" y="0"/>
                </a:moveTo>
                <a:lnTo>
                  <a:pt x="3501744" y="0"/>
                </a:lnTo>
                <a:cubicBezTo>
                  <a:pt x="3585908" y="0"/>
                  <a:pt x="3654136" y="68228"/>
                  <a:pt x="3654136" y="152393"/>
                </a:cubicBezTo>
                <a:lnTo>
                  <a:pt x="3654136" y="2803244"/>
                </a:lnTo>
                <a:cubicBezTo>
                  <a:pt x="3654136" y="2887408"/>
                  <a:pt x="3585908" y="2955636"/>
                  <a:pt x="3501744" y="2955636"/>
                </a:cubicBezTo>
                <a:lnTo>
                  <a:pt x="152393" y="2955636"/>
                </a:lnTo>
                <a:cubicBezTo>
                  <a:pt x="68285" y="2955636"/>
                  <a:pt x="0" y="2887352"/>
                  <a:pt x="0" y="2803244"/>
                </a:cubicBezTo>
                <a:lnTo>
                  <a:pt x="0" y="152393"/>
                </a:lnTo>
                <a:cubicBezTo>
                  <a:pt x="0" y="68285"/>
                  <a:pt x="68285" y="0"/>
                  <a:pt x="15239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9236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2037" y="2142837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14" name="Text 12"/>
          <p:cNvSpPr/>
          <p:nvPr/>
        </p:nvSpPr>
        <p:spPr>
          <a:xfrm>
            <a:off x="4827804" y="2219037"/>
            <a:ext cx="228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92437" y="2219037"/>
            <a:ext cx="1765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Duplicate Check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32037" y="2803237"/>
            <a:ext cx="32385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Query users table for matching email OR username. If found → 409 Conflict immediately.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632037" y="4276437"/>
            <a:ext cx="3136900" cy="304800"/>
          </a:xfrm>
          <a:custGeom>
            <a:avLst/>
            <a:gdLst/>
            <a:ahLst/>
            <a:cxnLst/>
            <a:rect l="l" t="t" r="r" b="b"/>
            <a:pathLst>
              <a:path w="3136900" h="304800">
                <a:moveTo>
                  <a:pt x="50801" y="0"/>
                </a:moveTo>
                <a:lnTo>
                  <a:pt x="3086099" y="0"/>
                </a:lnTo>
                <a:cubicBezTo>
                  <a:pt x="3114156" y="0"/>
                  <a:pt x="3136900" y="22744"/>
                  <a:pt x="3136900" y="50801"/>
                </a:cubicBezTo>
                <a:lnTo>
                  <a:pt x="3136900" y="253999"/>
                </a:lnTo>
                <a:cubicBezTo>
                  <a:pt x="3136900" y="282056"/>
                  <a:pt x="3114156" y="304800"/>
                  <a:pt x="30860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A3A5">
              <a:alpha val="1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632037" y="4276437"/>
            <a:ext cx="32131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8A3A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SELECT * FROM users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34218" y="1884218"/>
            <a:ext cx="3654136" cy="2955636"/>
          </a:xfrm>
          <a:custGeom>
            <a:avLst/>
            <a:gdLst/>
            <a:ahLst/>
            <a:cxnLst/>
            <a:rect l="l" t="t" r="r" b="b"/>
            <a:pathLst>
              <a:path w="3654136" h="2955636">
                <a:moveTo>
                  <a:pt x="152393" y="0"/>
                </a:moveTo>
                <a:lnTo>
                  <a:pt x="3501744" y="0"/>
                </a:lnTo>
                <a:cubicBezTo>
                  <a:pt x="3585908" y="0"/>
                  <a:pt x="3654136" y="68228"/>
                  <a:pt x="3654136" y="152393"/>
                </a:cubicBezTo>
                <a:lnTo>
                  <a:pt x="3654136" y="2803244"/>
                </a:lnTo>
                <a:cubicBezTo>
                  <a:pt x="3654136" y="2887408"/>
                  <a:pt x="3585908" y="2955636"/>
                  <a:pt x="3501744" y="2955636"/>
                </a:cubicBezTo>
                <a:lnTo>
                  <a:pt x="152393" y="2955636"/>
                </a:lnTo>
                <a:cubicBezTo>
                  <a:pt x="68285" y="2955636"/>
                  <a:pt x="0" y="2887352"/>
                  <a:pt x="0" y="2803244"/>
                </a:cubicBezTo>
                <a:lnTo>
                  <a:pt x="0" y="152393"/>
                </a:lnTo>
                <a:cubicBezTo>
                  <a:pt x="0" y="68285"/>
                  <a:pt x="68285" y="0"/>
                  <a:pt x="15239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9236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92837" y="2142837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21" name="Text 19"/>
          <p:cNvSpPr/>
          <p:nvPr/>
        </p:nvSpPr>
        <p:spPr>
          <a:xfrm>
            <a:off x="8685646" y="2219037"/>
            <a:ext cx="241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53237" y="2219037"/>
            <a:ext cx="1663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ECDSA Keypair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92837" y="2803237"/>
            <a:ext cx="32385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KeyManager.generate_keypair() creates P-256 keypair. Private key from OS entropy (/dev/urandom).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492837" y="4276437"/>
            <a:ext cx="3136900" cy="304800"/>
          </a:xfrm>
          <a:custGeom>
            <a:avLst/>
            <a:gdLst/>
            <a:ahLst/>
            <a:cxnLst/>
            <a:rect l="l" t="t" r="r" b="b"/>
            <a:pathLst>
              <a:path w="3136900" h="304800">
                <a:moveTo>
                  <a:pt x="50801" y="0"/>
                </a:moveTo>
                <a:lnTo>
                  <a:pt x="3086099" y="0"/>
                </a:lnTo>
                <a:cubicBezTo>
                  <a:pt x="3114156" y="0"/>
                  <a:pt x="3136900" y="22744"/>
                  <a:pt x="3136900" y="50801"/>
                </a:cubicBezTo>
                <a:lnTo>
                  <a:pt x="3136900" y="253999"/>
                </a:lnTo>
                <a:cubicBezTo>
                  <a:pt x="3136900" y="282056"/>
                  <a:pt x="3114156" y="304800"/>
                  <a:pt x="30860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A3A5">
              <a:alpha val="1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8492837" y="4276437"/>
            <a:ext cx="32131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8A3A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256-bit Private Key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2095018" y="1884218"/>
            <a:ext cx="3654136" cy="2955636"/>
          </a:xfrm>
          <a:custGeom>
            <a:avLst/>
            <a:gdLst/>
            <a:ahLst/>
            <a:cxnLst/>
            <a:rect l="l" t="t" r="r" b="b"/>
            <a:pathLst>
              <a:path w="3654136" h="2955636">
                <a:moveTo>
                  <a:pt x="152393" y="0"/>
                </a:moveTo>
                <a:lnTo>
                  <a:pt x="3501744" y="0"/>
                </a:lnTo>
                <a:cubicBezTo>
                  <a:pt x="3585908" y="0"/>
                  <a:pt x="3654136" y="68228"/>
                  <a:pt x="3654136" y="152393"/>
                </a:cubicBezTo>
                <a:lnTo>
                  <a:pt x="3654136" y="2803244"/>
                </a:lnTo>
                <a:cubicBezTo>
                  <a:pt x="3654136" y="2887408"/>
                  <a:pt x="3585908" y="2955636"/>
                  <a:pt x="3501744" y="2955636"/>
                </a:cubicBezTo>
                <a:lnTo>
                  <a:pt x="152393" y="2955636"/>
                </a:lnTo>
                <a:cubicBezTo>
                  <a:pt x="68285" y="2955636"/>
                  <a:pt x="0" y="2887352"/>
                  <a:pt x="0" y="2803244"/>
                </a:cubicBezTo>
                <a:lnTo>
                  <a:pt x="0" y="152393"/>
                </a:lnTo>
                <a:cubicBezTo>
                  <a:pt x="0" y="68285"/>
                  <a:pt x="68285" y="0"/>
                  <a:pt x="15239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9236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353637" y="2142837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28" name="Text 26"/>
          <p:cNvSpPr/>
          <p:nvPr/>
        </p:nvSpPr>
        <p:spPr>
          <a:xfrm>
            <a:off x="12549549" y="2219037"/>
            <a:ext cx="228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014037" y="2219037"/>
            <a:ext cx="1676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Password Hash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353637" y="2803237"/>
            <a:ext cx="32385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PBKDF2HMAC-SHA256 with 100,000 iterations and 32-byte random salt. For website login only.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2353637" y="4276437"/>
            <a:ext cx="3136900" cy="304800"/>
          </a:xfrm>
          <a:custGeom>
            <a:avLst/>
            <a:gdLst/>
            <a:ahLst/>
            <a:cxnLst/>
            <a:rect l="l" t="t" r="r" b="b"/>
            <a:pathLst>
              <a:path w="3136900" h="304800">
                <a:moveTo>
                  <a:pt x="50801" y="0"/>
                </a:moveTo>
                <a:lnTo>
                  <a:pt x="3086099" y="0"/>
                </a:lnTo>
                <a:cubicBezTo>
                  <a:pt x="3114156" y="0"/>
                  <a:pt x="3136900" y="22744"/>
                  <a:pt x="3136900" y="50801"/>
                </a:cubicBezTo>
                <a:lnTo>
                  <a:pt x="3136900" y="253999"/>
                </a:lnTo>
                <a:cubicBezTo>
                  <a:pt x="3136900" y="282056"/>
                  <a:pt x="3114156" y="304800"/>
                  <a:pt x="30860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A3A5">
              <a:alpha val="10196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2353637" y="4276437"/>
            <a:ext cx="32131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8A3A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100k iterations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12618" y="5052291"/>
            <a:ext cx="3654136" cy="2955636"/>
          </a:xfrm>
          <a:custGeom>
            <a:avLst/>
            <a:gdLst/>
            <a:ahLst/>
            <a:cxnLst/>
            <a:rect l="l" t="t" r="r" b="b"/>
            <a:pathLst>
              <a:path w="3654136" h="2955636">
                <a:moveTo>
                  <a:pt x="152393" y="0"/>
                </a:moveTo>
                <a:lnTo>
                  <a:pt x="3501744" y="0"/>
                </a:lnTo>
                <a:cubicBezTo>
                  <a:pt x="3585908" y="0"/>
                  <a:pt x="3654136" y="68228"/>
                  <a:pt x="3654136" y="152393"/>
                </a:cubicBezTo>
                <a:lnTo>
                  <a:pt x="3654136" y="2803244"/>
                </a:lnTo>
                <a:cubicBezTo>
                  <a:pt x="3654136" y="2887408"/>
                  <a:pt x="3585908" y="2955636"/>
                  <a:pt x="3501744" y="2955636"/>
                </a:cubicBezTo>
                <a:lnTo>
                  <a:pt x="152393" y="2955636"/>
                </a:lnTo>
                <a:cubicBezTo>
                  <a:pt x="68285" y="2955636"/>
                  <a:pt x="0" y="2887352"/>
                  <a:pt x="0" y="2803244"/>
                </a:cubicBezTo>
                <a:lnTo>
                  <a:pt x="0" y="152393"/>
                </a:lnTo>
                <a:cubicBezTo>
                  <a:pt x="0" y="68285"/>
                  <a:pt x="68285" y="0"/>
                  <a:pt x="15239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9236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1236" y="531091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35" name="Text 33"/>
          <p:cNvSpPr/>
          <p:nvPr/>
        </p:nvSpPr>
        <p:spPr>
          <a:xfrm>
            <a:off x="963685" y="5387110"/>
            <a:ext cx="241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431636" y="5387110"/>
            <a:ext cx="1676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 Write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71236" y="5971310"/>
            <a:ext cx="32385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Store public_key_hex, public_key_hash, password_hash, role. Private key NEVER stored.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71236" y="7444510"/>
            <a:ext cx="3136900" cy="304800"/>
          </a:xfrm>
          <a:custGeom>
            <a:avLst/>
            <a:gdLst/>
            <a:ahLst/>
            <a:cxnLst/>
            <a:rect l="l" t="t" r="r" b="b"/>
            <a:pathLst>
              <a:path w="3136900" h="304800">
                <a:moveTo>
                  <a:pt x="50801" y="0"/>
                </a:moveTo>
                <a:lnTo>
                  <a:pt x="3086099" y="0"/>
                </a:lnTo>
                <a:cubicBezTo>
                  <a:pt x="3114156" y="0"/>
                  <a:pt x="3136900" y="22744"/>
                  <a:pt x="3136900" y="50801"/>
                </a:cubicBezTo>
                <a:lnTo>
                  <a:pt x="3136900" y="253999"/>
                </a:lnTo>
                <a:cubicBezTo>
                  <a:pt x="3136900" y="282056"/>
                  <a:pt x="3114156" y="304800"/>
                  <a:pt x="30860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EF4444">
              <a:alpha val="1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771236" y="7444510"/>
            <a:ext cx="32131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F44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Private Key: NOT STORED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373418" y="5052291"/>
            <a:ext cx="3654136" cy="2955636"/>
          </a:xfrm>
          <a:custGeom>
            <a:avLst/>
            <a:gdLst/>
            <a:ahLst/>
            <a:cxnLst/>
            <a:rect l="l" t="t" r="r" b="b"/>
            <a:pathLst>
              <a:path w="3654136" h="2955636">
                <a:moveTo>
                  <a:pt x="152393" y="0"/>
                </a:moveTo>
                <a:lnTo>
                  <a:pt x="3501744" y="0"/>
                </a:lnTo>
                <a:cubicBezTo>
                  <a:pt x="3585908" y="0"/>
                  <a:pt x="3654136" y="68228"/>
                  <a:pt x="3654136" y="152393"/>
                </a:cubicBezTo>
                <a:lnTo>
                  <a:pt x="3654136" y="2803244"/>
                </a:lnTo>
                <a:cubicBezTo>
                  <a:pt x="3654136" y="2887408"/>
                  <a:pt x="3585908" y="2955636"/>
                  <a:pt x="3501744" y="2955636"/>
                </a:cubicBezTo>
                <a:lnTo>
                  <a:pt x="152393" y="2955636"/>
                </a:lnTo>
                <a:cubicBezTo>
                  <a:pt x="68285" y="2955636"/>
                  <a:pt x="0" y="2887352"/>
                  <a:pt x="0" y="2803244"/>
                </a:cubicBezTo>
                <a:lnTo>
                  <a:pt x="0" y="152393"/>
                </a:lnTo>
                <a:cubicBezTo>
                  <a:pt x="0" y="68285"/>
                  <a:pt x="68285" y="0"/>
                  <a:pt x="15239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9236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32037" y="531091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42" name="Text 40"/>
          <p:cNvSpPr/>
          <p:nvPr/>
        </p:nvSpPr>
        <p:spPr>
          <a:xfrm>
            <a:off x="4823042" y="5387110"/>
            <a:ext cx="241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292437" y="5387110"/>
            <a:ext cx="1308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JWT Issued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632037" y="5971310"/>
            <a:ext cx="32385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PyJWT generates HS256 token with user_id, email, iat, exp. Sent in Authorization: Bearer header.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632037" y="7444510"/>
            <a:ext cx="3136900" cy="304800"/>
          </a:xfrm>
          <a:custGeom>
            <a:avLst/>
            <a:gdLst/>
            <a:ahLst/>
            <a:cxnLst/>
            <a:rect l="l" t="t" r="r" b="b"/>
            <a:pathLst>
              <a:path w="3136900" h="304800">
                <a:moveTo>
                  <a:pt x="50801" y="0"/>
                </a:moveTo>
                <a:lnTo>
                  <a:pt x="3086099" y="0"/>
                </a:lnTo>
                <a:cubicBezTo>
                  <a:pt x="3114156" y="0"/>
                  <a:pt x="3136900" y="22744"/>
                  <a:pt x="3136900" y="50801"/>
                </a:cubicBezTo>
                <a:lnTo>
                  <a:pt x="3136900" y="253999"/>
                </a:lnTo>
                <a:cubicBezTo>
                  <a:pt x="3136900" y="282056"/>
                  <a:pt x="3114156" y="304800"/>
                  <a:pt x="30860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A3A5">
              <a:alpha val="10196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4632037" y="7444510"/>
            <a:ext cx="32131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8A3A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HS256 Algorithm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234218" y="5052291"/>
            <a:ext cx="3654136" cy="2955636"/>
          </a:xfrm>
          <a:custGeom>
            <a:avLst/>
            <a:gdLst/>
            <a:ahLst/>
            <a:cxnLst/>
            <a:rect l="l" t="t" r="r" b="b"/>
            <a:pathLst>
              <a:path w="3654136" h="2955636">
                <a:moveTo>
                  <a:pt x="152393" y="0"/>
                </a:moveTo>
                <a:lnTo>
                  <a:pt x="3501744" y="0"/>
                </a:lnTo>
                <a:cubicBezTo>
                  <a:pt x="3585908" y="0"/>
                  <a:pt x="3654136" y="68228"/>
                  <a:pt x="3654136" y="152393"/>
                </a:cubicBezTo>
                <a:lnTo>
                  <a:pt x="3654136" y="2803244"/>
                </a:lnTo>
                <a:cubicBezTo>
                  <a:pt x="3654136" y="2887408"/>
                  <a:pt x="3585908" y="2955636"/>
                  <a:pt x="3501744" y="2955636"/>
                </a:cubicBezTo>
                <a:lnTo>
                  <a:pt x="152393" y="2955636"/>
                </a:lnTo>
                <a:cubicBezTo>
                  <a:pt x="68285" y="2955636"/>
                  <a:pt x="0" y="2887352"/>
                  <a:pt x="0" y="2803244"/>
                </a:cubicBezTo>
                <a:lnTo>
                  <a:pt x="0" y="152393"/>
                </a:lnTo>
                <a:cubicBezTo>
                  <a:pt x="0" y="68285"/>
                  <a:pt x="68285" y="0"/>
                  <a:pt x="15239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9236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492837" y="531091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49" name="Text 47"/>
          <p:cNvSpPr/>
          <p:nvPr/>
        </p:nvSpPr>
        <p:spPr>
          <a:xfrm>
            <a:off x="8694593" y="5387110"/>
            <a:ext cx="215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153237" y="5387110"/>
            <a:ext cx="198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Key Shown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492837" y="5971310"/>
            <a:ext cx="32385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RegisterResponse returns private_key_pem + QR code. Patient MUST save immediately - never shown again.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492837" y="7444510"/>
            <a:ext cx="3136900" cy="304800"/>
          </a:xfrm>
          <a:custGeom>
            <a:avLst/>
            <a:gdLst/>
            <a:ahLst/>
            <a:cxnLst/>
            <a:rect l="l" t="t" r="r" b="b"/>
            <a:pathLst>
              <a:path w="3136900" h="304800">
                <a:moveTo>
                  <a:pt x="50801" y="0"/>
                </a:moveTo>
                <a:lnTo>
                  <a:pt x="3086099" y="0"/>
                </a:lnTo>
                <a:cubicBezTo>
                  <a:pt x="3114156" y="0"/>
                  <a:pt x="3136900" y="22744"/>
                  <a:pt x="3136900" y="50801"/>
                </a:cubicBezTo>
                <a:lnTo>
                  <a:pt x="3136900" y="253999"/>
                </a:lnTo>
                <a:cubicBezTo>
                  <a:pt x="3136900" y="282056"/>
                  <a:pt x="3114156" y="304800"/>
                  <a:pt x="30860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EF4444">
              <a:alpha val="10196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8492837" y="7444510"/>
            <a:ext cx="32131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F44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⚠️ CRITICAL: SAVE NOW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2095018" y="5052291"/>
            <a:ext cx="3654136" cy="2955636"/>
          </a:xfrm>
          <a:custGeom>
            <a:avLst/>
            <a:gdLst/>
            <a:ahLst/>
            <a:cxnLst/>
            <a:rect l="l" t="t" r="r" b="b"/>
            <a:pathLst>
              <a:path w="3654136" h="2955636">
                <a:moveTo>
                  <a:pt x="152393" y="0"/>
                </a:moveTo>
                <a:lnTo>
                  <a:pt x="3501744" y="0"/>
                </a:lnTo>
                <a:cubicBezTo>
                  <a:pt x="3585908" y="0"/>
                  <a:pt x="3654136" y="68228"/>
                  <a:pt x="3654136" y="152393"/>
                </a:cubicBezTo>
                <a:lnTo>
                  <a:pt x="3654136" y="2803244"/>
                </a:lnTo>
                <a:cubicBezTo>
                  <a:pt x="3654136" y="2887408"/>
                  <a:pt x="3585908" y="2955636"/>
                  <a:pt x="3501744" y="2955636"/>
                </a:cubicBezTo>
                <a:lnTo>
                  <a:pt x="152393" y="2955636"/>
                </a:lnTo>
                <a:cubicBezTo>
                  <a:pt x="68285" y="2955636"/>
                  <a:pt x="0" y="2887352"/>
                  <a:pt x="0" y="2803244"/>
                </a:cubicBezTo>
                <a:lnTo>
                  <a:pt x="0" y="152393"/>
                </a:lnTo>
                <a:cubicBezTo>
                  <a:pt x="0" y="68285"/>
                  <a:pt x="68285" y="0"/>
                  <a:pt x="15239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9236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2353637" y="531091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56" name="Text 54"/>
          <p:cNvSpPr/>
          <p:nvPr/>
        </p:nvSpPr>
        <p:spPr>
          <a:xfrm>
            <a:off x="12543848" y="5387110"/>
            <a:ext cx="241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3014037" y="5387110"/>
            <a:ext cx="1092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Audit Log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2353637" y="5971310"/>
            <a:ext cx="32385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Write USER_REGISTERED event with SHA-256 event_hash. Immutable audit trail begins.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12353637" y="7444510"/>
            <a:ext cx="3136900" cy="304800"/>
          </a:xfrm>
          <a:custGeom>
            <a:avLst/>
            <a:gdLst/>
            <a:ahLst/>
            <a:cxnLst/>
            <a:rect l="l" t="t" r="r" b="b"/>
            <a:pathLst>
              <a:path w="3136900" h="304800">
                <a:moveTo>
                  <a:pt x="50801" y="0"/>
                </a:moveTo>
                <a:lnTo>
                  <a:pt x="3086099" y="0"/>
                </a:lnTo>
                <a:cubicBezTo>
                  <a:pt x="3114156" y="0"/>
                  <a:pt x="3136900" y="22744"/>
                  <a:pt x="3136900" y="50801"/>
                </a:cubicBezTo>
                <a:lnTo>
                  <a:pt x="3136900" y="253999"/>
                </a:lnTo>
                <a:cubicBezTo>
                  <a:pt x="3136900" y="282056"/>
                  <a:pt x="3114156" y="304800"/>
                  <a:pt x="30860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A3A5">
              <a:alpha val="10196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12353637" y="7444510"/>
            <a:ext cx="32131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8A3A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SHA-256 Hash Chain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512618" y="8220365"/>
            <a:ext cx="15236536" cy="1126836"/>
          </a:xfrm>
          <a:custGeom>
            <a:avLst/>
            <a:gdLst/>
            <a:ahLst/>
            <a:cxnLst/>
            <a:rect l="l" t="t" r="r" b="b"/>
            <a:pathLst>
              <a:path w="15236536" h="1126836">
                <a:moveTo>
                  <a:pt x="101596" y="0"/>
                </a:moveTo>
                <a:lnTo>
                  <a:pt x="15134941" y="0"/>
                </a:lnTo>
                <a:cubicBezTo>
                  <a:pt x="15191050" y="0"/>
                  <a:pt x="15236536" y="45486"/>
                  <a:pt x="15236536" y="101596"/>
                </a:cubicBezTo>
                <a:lnTo>
                  <a:pt x="15236536" y="1025241"/>
                </a:lnTo>
                <a:cubicBezTo>
                  <a:pt x="15236536" y="1081350"/>
                  <a:pt x="15191050" y="1126836"/>
                  <a:pt x="15134941" y="1126836"/>
                </a:cubicBezTo>
                <a:lnTo>
                  <a:pt x="101596" y="1126836"/>
                </a:lnTo>
                <a:cubicBezTo>
                  <a:pt x="45486" y="1126836"/>
                  <a:pt x="0" y="1081350"/>
                  <a:pt x="0" y="1025241"/>
                </a:cubicBezTo>
                <a:lnTo>
                  <a:pt x="0" y="101596"/>
                </a:lnTo>
                <a:cubicBezTo>
                  <a:pt x="0" y="45523"/>
                  <a:pt x="45523" y="0"/>
                  <a:pt x="101596" y="0"/>
                </a:cubicBezTo>
                <a:close/>
              </a:path>
            </a:pathLst>
          </a:custGeom>
          <a:solidFill>
            <a:srgbClr val="EF4444">
              <a:alpha val="10196"/>
            </a:srgbClr>
          </a:solidFill>
          <a:ln w="9236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58536" y="863138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61151" y="0"/>
                  <a:pt x="169188" y="4822"/>
                  <a:pt x="173355" y="12502"/>
                </a:cubicBezTo>
                <a:lnTo>
                  <a:pt x="301943" y="250627"/>
                </a:lnTo>
                <a:cubicBezTo>
                  <a:pt x="305931" y="258008"/>
                  <a:pt x="305753" y="266938"/>
                  <a:pt x="301466" y="274141"/>
                </a:cubicBezTo>
                <a:cubicBezTo>
                  <a:pt x="297180" y="281345"/>
                  <a:pt x="289381" y="285750"/>
                  <a:pt x="280987" y="285750"/>
                </a:cubicBezTo>
                <a:lnTo>
                  <a:pt x="23813" y="285750"/>
                </a:lnTo>
                <a:cubicBezTo>
                  <a:pt x="15419" y="285750"/>
                  <a:pt x="7680" y="281345"/>
                  <a:pt x="3334" y="274141"/>
                </a:cubicBezTo>
                <a:cubicBezTo>
                  <a:pt x="-1012" y="266938"/>
                  <a:pt x="-1131" y="258008"/>
                  <a:pt x="2858" y="250627"/>
                </a:cubicBezTo>
                <a:lnTo>
                  <a:pt x="131445" y="12502"/>
                </a:lnTo>
                <a:cubicBezTo>
                  <a:pt x="135612" y="4822"/>
                  <a:pt x="143649" y="0"/>
                  <a:pt x="152400" y="0"/>
                </a:cubicBezTo>
                <a:close/>
                <a:moveTo>
                  <a:pt x="152400" y="100013"/>
                </a:moveTo>
                <a:cubicBezTo>
                  <a:pt x="144482" y="100013"/>
                  <a:pt x="138113" y="106382"/>
                  <a:pt x="138113" y="114300"/>
                </a:cubicBezTo>
                <a:lnTo>
                  <a:pt x="138113" y="180975"/>
                </a:lnTo>
                <a:cubicBezTo>
                  <a:pt x="138113" y="188893"/>
                  <a:pt x="144482" y="195263"/>
                  <a:pt x="152400" y="195263"/>
                </a:cubicBezTo>
                <a:cubicBezTo>
                  <a:pt x="160318" y="195263"/>
                  <a:pt x="166688" y="188893"/>
                  <a:pt x="166688" y="180975"/>
                </a:cubicBezTo>
                <a:lnTo>
                  <a:pt x="166688" y="114300"/>
                </a:lnTo>
                <a:cubicBezTo>
                  <a:pt x="166688" y="106382"/>
                  <a:pt x="160318" y="100013"/>
                  <a:pt x="152400" y="100013"/>
                </a:cubicBezTo>
                <a:close/>
                <a:moveTo>
                  <a:pt x="168295" y="228600"/>
                </a:moveTo>
                <a:cubicBezTo>
                  <a:pt x="168656" y="222700"/>
                  <a:pt x="165714" y="217087"/>
                  <a:pt x="160656" y="214027"/>
                </a:cubicBezTo>
                <a:cubicBezTo>
                  <a:pt x="155599" y="210968"/>
                  <a:pt x="149261" y="210968"/>
                  <a:pt x="144203" y="214027"/>
                </a:cubicBezTo>
                <a:cubicBezTo>
                  <a:pt x="139145" y="217087"/>
                  <a:pt x="136203" y="222700"/>
                  <a:pt x="136565" y="228600"/>
                </a:cubicBezTo>
                <a:cubicBezTo>
                  <a:pt x="136203" y="234500"/>
                  <a:pt x="139145" y="240113"/>
                  <a:pt x="144203" y="243173"/>
                </a:cubicBezTo>
                <a:cubicBezTo>
                  <a:pt x="149261" y="246232"/>
                  <a:pt x="155599" y="246232"/>
                  <a:pt x="160656" y="243173"/>
                </a:cubicBezTo>
                <a:cubicBezTo>
                  <a:pt x="165714" y="240113"/>
                  <a:pt x="168656" y="234500"/>
                  <a:pt x="168295" y="22860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63" name="Text 61"/>
          <p:cNvSpPr/>
          <p:nvPr/>
        </p:nvSpPr>
        <p:spPr>
          <a:xfrm>
            <a:off x="1304636" y="8428183"/>
            <a:ext cx="12280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Security Note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304636" y="8834583"/>
            <a:ext cx="12268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patient doesn't save private key, they lose ability to grant access. Server has no copy. Shamir's Secret Sharing is the recovery mechanism.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spc="140" kern="0" dirty="0">
                <a:solidFill>
                  <a:srgbClr val="38A3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Cryptographic Foundation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Generation &amp; Storage Model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240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5" name="Shape 3"/>
          <p:cNvSpPr/>
          <p:nvPr/>
        </p:nvSpPr>
        <p:spPr>
          <a:xfrm>
            <a:off x="512618" y="1833418"/>
            <a:ext cx="8238836" cy="5495636"/>
          </a:xfrm>
          <a:custGeom>
            <a:avLst/>
            <a:gdLst/>
            <a:ahLst/>
            <a:cxnLst/>
            <a:rect l="l" t="t" r="r" b="b"/>
            <a:pathLst>
              <a:path w="8238836" h="5495636">
                <a:moveTo>
                  <a:pt x="152394" y="0"/>
                </a:moveTo>
                <a:lnTo>
                  <a:pt x="8086442" y="0"/>
                </a:lnTo>
                <a:cubicBezTo>
                  <a:pt x="8170607" y="0"/>
                  <a:pt x="8238836" y="68229"/>
                  <a:pt x="8238836" y="152394"/>
                </a:cubicBezTo>
                <a:lnTo>
                  <a:pt x="8238836" y="5343242"/>
                </a:lnTo>
                <a:cubicBezTo>
                  <a:pt x="8238836" y="5427407"/>
                  <a:pt x="8170607" y="5495636"/>
                  <a:pt x="8086442" y="5495636"/>
                </a:cubicBezTo>
                <a:lnTo>
                  <a:pt x="152394" y="5495636"/>
                </a:lnTo>
                <a:cubicBezTo>
                  <a:pt x="68229" y="5495636"/>
                  <a:pt x="0" y="5427407"/>
                  <a:pt x="0" y="5343242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9236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986" y="2142837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66688" y="174625"/>
                </a:moveTo>
                <a:cubicBezTo>
                  <a:pt x="214908" y="174625"/>
                  <a:pt x="254000" y="135533"/>
                  <a:pt x="254000" y="87313"/>
                </a:cubicBezTo>
                <a:cubicBezTo>
                  <a:pt x="254000" y="39092"/>
                  <a:pt x="214908" y="0"/>
                  <a:pt x="166688" y="0"/>
                </a:cubicBezTo>
                <a:cubicBezTo>
                  <a:pt x="118467" y="0"/>
                  <a:pt x="79375" y="39092"/>
                  <a:pt x="79375" y="87313"/>
                </a:cubicBezTo>
                <a:cubicBezTo>
                  <a:pt x="79375" y="96589"/>
                  <a:pt x="80814" y="105569"/>
                  <a:pt x="83493" y="113953"/>
                </a:cubicBezTo>
                <a:lnTo>
                  <a:pt x="3473" y="193973"/>
                </a:lnTo>
                <a:cubicBezTo>
                  <a:pt x="1240" y="196205"/>
                  <a:pt x="0" y="199231"/>
                  <a:pt x="0" y="202406"/>
                </a:cubicBezTo>
                <a:lnTo>
                  <a:pt x="0" y="242094"/>
                </a:lnTo>
                <a:cubicBezTo>
                  <a:pt x="0" y="248692"/>
                  <a:pt x="5308" y="254000"/>
                  <a:pt x="11906" y="254000"/>
                </a:cubicBezTo>
                <a:lnTo>
                  <a:pt x="51594" y="254000"/>
                </a:lnTo>
                <a:cubicBezTo>
                  <a:pt x="58192" y="254000"/>
                  <a:pt x="63500" y="248692"/>
                  <a:pt x="63500" y="242094"/>
                </a:cubicBezTo>
                <a:lnTo>
                  <a:pt x="63500" y="222250"/>
                </a:lnTo>
                <a:lnTo>
                  <a:pt x="83344" y="222250"/>
                </a:lnTo>
                <a:cubicBezTo>
                  <a:pt x="89942" y="222250"/>
                  <a:pt x="95250" y="216942"/>
                  <a:pt x="95250" y="210344"/>
                </a:cubicBezTo>
                <a:lnTo>
                  <a:pt x="95250" y="190500"/>
                </a:lnTo>
                <a:lnTo>
                  <a:pt x="115094" y="190500"/>
                </a:lnTo>
                <a:cubicBezTo>
                  <a:pt x="118269" y="190500"/>
                  <a:pt x="121295" y="189260"/>
                  <a:pt x="123527" y="187027"/>
                </a:cubicBezTo>
                <a:lnTo>
                  <a:pt x="140047" y="170507"/>
                </a:lnTo>
                <a:cubicBezTo>
                  <a:pt x="148431" y="173186"/>
                  <a:pt x="157411" y="174625"/>
                  <a:pt x="166688" y="174625"/>
                </a:cubicBezTo>
                <a:close/>
                <a:moveTo>
                  <a:pt x="186531" y="47625"/>
                </a:moveTo>
                <a:cubicBezTo>
                  <a:pt x="197483" y="47625"/>
                  <a:pt x="206375" y="56517"/>
                  <a:pt x="206375" y="67469"/>
                </a:cubicBezTo>
                <a:cubicBezTo>
                  <a:pt x="206375" y="78421"/>
                  <a:pt x="197483" y="87313"/>
                  <a:pt x="186531" y="87313"/>
                </a:cubicBezTo>
                <a:cubicBezTo>
                  <a:pt x="175579" y="87313"/>
                  <a:pt x="166688" y="78421"/>
                  <a:pt x="166688" y="67469"/>
                </a:cubicBezTo>
                <a:cubicBezTo>
                  <a:pt x="166688" y="56517"/>
                  <a:pt x="175579" y="47625"/>
                  <a:pt x="186531" y="47625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7" name="Text 5"/>
          <p:cNvSpPr/>
          <p:nvPr/>
        </p:nvSpPr>
        <p:spPr>
          <a:xfrm>
            <a:off x="1088736" y="2092037"/>
            <a:ext cx="7531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ECDSA P-256 Keypair Generation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1236" y="2701637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0"/>
                </a:moveTo>
                <a:lnTo>
                  <a:pt x="304800" y="0"/>
                </a:lnTo>
                <a:cubicBezTo>
                  <a:pt x="360875" y="0"/>
                  <a:pt x="406400" y="45525"/>
                  <a:pt x="406400" y="101600"/>
                </a:cubicBezTo>
                <a:lnTo>
                  <a:pt x="406400" y="304800"/>
                </a:lnTo>
                <a:cubicBezTo>
                  <a:pt x="406400" y="360875"/>
                  <a:pt x="360875" y="406400"/>
                  <a:pt x="304800" y="406400"/>
                </a:cubicBezTo>
                <a:lnTo>
                  <a:pt x="101600" y="406400"/>
                </a:lnTo>
                <a:cubicBezTo>
                  <a:pt x="45525" y="406400"/>
                  <a:pt x="0" y="360875"/>
                  <a:pt x="0" y="3048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8A3A5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46222" y="2777837"/>
            <a:ext cx="139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8A3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30036" y="2650837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 256-bit Private Key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30036" y="3006437"/>
            <a:ext cx="725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Using OS entropy from /dev/urandom - cryptographically secure random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71236" y="3463637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0"/>
                </a:moveTo>
                <a:lnTo>
                  <a:pt x="304800" y="0"/>
                </a:lnTo>
                <a:cubicBezTo>
                  <a:pt x="360875" y="0"/>
                  <a:pt x="406400" y="45525"/>
                  <a:pt x="406400" y="101600"/>
                </a:cubicBezTo>
                <a:lnTo>
                  <a:pt x="406400" y="304800"/>
                </a:lnTo>
                <a:cubicBezTo>
                  <a:pt x="406400" y="360875"/>
                  <a:pt x="360875" y="406400"/>
                  <a:pt x="304800" y="406400"/>
                </a:cubicBezTo>
                <a:lnTo>
                  <a:pt x="101600" y="406400"/>
                </a:lnTo>
                <a:cubicBezTo>
                  <a:pt x="45525" y="406400"/>
                  <a:pt x="0" y="360875"/>
                  <a:pt x="0" y="3048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8A3A5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29121" y="3539837"/>
            <a:ext cx="177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8A3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30036" y="3412837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Serialize to PEM String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30036" y="3768437"/>
            <a:ext cx="725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Patient sees/saves this format - human-readable with base64 encoding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71236" y="4225637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0"/>
                </a:moveTo>
                <a:lnTo>
                  <a:pt x="304800" y="0"/>
                </a:lnTo>
                <a:cubicBezTo>
                  <a:pt x="360875" y="0"/>
                  <a:pt x="406400" y="45525"/>
                  <a:pt x="406400" y="101600"/>
                </a:cubicBezTo>
                <a:lnTo>
                  <a:pt x="406400" y="304800"/>
                </a:lnTo>
                <a:cubicBezTo>
                  <a:pt x="406400" y="360875"/>
                  <a:pt x="360875" y="406400"/>
                  <a:pt x="304800" y="406400"/>
                </a:cubicBezTo>
                <a:lnTo>
                  <a:pt x="101600" y="406400"/>
                </a:lnTo>
                <a:cubicBezTo>
                  <a:pt x="45525" y="406400"/>
                  <a:pt x="0" y="360875"/>
                  <a:pt x="0" y="3048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8A3A5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26811" y="4301837"/>
            <a:ext cx="177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8A3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30036" y="4174837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Derive Public Key Mathematically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30036" y="4530437"/>
            <a:ext cx="725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Point multiplication on elliptic curve - P-256 parameters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71236" y="4987637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0"/>
                </a:moveTo>
                <a:lnTo>
                  <a:pt x="304800" y="0"/>
                </a:lnTo>
                <a:cubicBezTo>
                  <a:pt x="360875" y="0"/>
                  <a:pt x="406400" y="45525"/>
                  <a:pt x="406400" y="101600"/>
                </a:cubicBezTo>
                <a:lnTo>
                  <a:pt x="406400" y="304800"/>
                </a:lnTo>
                <a:cubicBezTo>
                  <a:pt x="406400" y="360875"/>
                  <a:pt x="360875" y="406400"/>
                  <a:pt x="304800" y="406400"/>
                </a:cubicBezTo>
                <a:lnTo>
                  <a:pt x="101600" y="406400"/>
                </a:lnTo>
                <a:cubicBezTo>
                  <a:pt x="45525" y="406400"/>
                  <a:pt x="0" y="360875"/>
                  <a:pt x="0" y="3048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8A3A5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29265" y="5063837"/>
            <a:ext cx="177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8A3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30036" y="4936837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Serialize Public Key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30036" y="5292437"/>
            <a:ext cx="725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Uncompressed: 0x04 + X coord + Y coord = 65 bytes total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71236" y="5749637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0"/>
                </a:moveTo>
                <a:lnTo>
                  <a:pt x="304800" y="0"/>
                </a:lnTo>
                <a:cubicBezTo>
                  <a:pt x="360875" y="0"/>
                  <a:pt x="406400" y="45525"/>
                  <a:pt x="406400" y="101600"/>
                </a:cubicBezTo>
                <a:lnTo>
                  <a:pt x="406400" y="304800"/>
                </a:lnTo>
                <a:cubicBezTo>
                  <a:pt x="406400" y="360875"/>
                  <a:pt x="360875" y="406400"/>
                  <a:pt x="304800" y="406400"/>
                </a:cubicBezTo>
                <a:lnTo>
                  <a:pt x="101600" y="406400"/>
                </a:lnTo>
                <a:cubicBezTo>
                  <a:pt x="45525" y="406400"/>
                  <a:pt x="0" y="360875"/>
                  <a:pt x="0" y="3048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8A3A5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26595" y="5825837"/>
            <a:ext cx="19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8A3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30036" y="5698837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Hash with SHA-256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30036" y="6054437"/>
            <a:ext cx="725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key hash becomes user's unique identifier - immutable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71236" y="6511637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0"/>
                </a:moveTo>
                <a:lnTo>
                  <a:pt x="304800" y="0"/>
                </a:lnTo>
                <a:cubicBezTo>
                  <a:pt x="360875" y="0"/>
                  <a:pt x="406400" y="45525"/>
                  <a:pt x="406400" y="101600"/>
                </a:cubicBezTo>
                <a:lnTo>
                  <a:pt x="406400" y="304800"/>
                </a:lnTo>
                <a:cubicBezTo>
                  <a:pt x="406400" y="360875"/>
                  <a:pt x="360875" y="406400"/>
                  <a:pt x="304800" y="406400"/>
                </a:cubicBezTo>
                <a:lnTo>
                  <a:pt x="101600" y="406400"/>
                </a:lnTo>
                <a:cubicBezTo>
                  <a:pt x="45525" y="406400"/>
                  <a:pt x="0" y="360875"/>
                  <a:pt x="0" y="3048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8A3A5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925440" y="6587837"/>
            <a:ext cx="19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8A3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30036" y="6460837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Compress Public Key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330036" y="6816437"/>
            <a:ext cx="725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Keep X coord only + parity prefix (0x02 or 0x03) - 33 bytes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12618" y="7541491"/>
            <a:ext cx="8238836" cy="1533236"/>
          </a:xfrm>
          <a:custGeom>
            <a:avLst/>
            <a:gdLst/>
            <a:ahLst/>
            <a:cxnLst/>
            <a:rect l="l" t="t" r="r" b="b"/>
            <a:pathLst>
              <a:path w="8238836" h="1533236">
                <a:moveTo>
                  <a:pt x="152404" y="0"/>
                </a:moveTo>
                <a:lnTo>
                  <a:pt x="8086433" y="0"/>
                </a:lnTo>
                <a:cubicBezTo>
                  <a:pt x="8170603" y="0"/>
                  <a:pt x="8238836" y="68233"/>
                  <a:pt x="8238836" y="152404"/>
                </a:cubicBezTo>
                <a:lnTo>
                  <a:pt x="8238836" y="1380833"/>
                </a:lnTo>
                <a:cubicBezTo>
                  <a:pt x="8238836" y="1465003"/>
                  <a:pt x="8170603" y="1533236"/>
                  <a:pt x="8086433" y="1533236"/>
                </a:cubicBezTo>
                <a:lnTo>
                  <a:pt x="152404" y="1533236"/>
                </a:lnTo>
                <a:cubicBezTo>
                  <a:pt x="68233" y="1533236"/>
                  <a:pt x="0" y="1465003"/>
                  <a:pt x="0" y="1380833"/>
                </a:cubicBezTo>
                <a:lnTo>
                  <a:pt x="0" y="152404"/>
                </a:lnTo>
                <a:cubicBezTo>
                  <a:pt x="0" y="68290"/>
                  <a:pt x="68290" y="0"/>
                  <a:pt x="152404" y="0"/>
                </a:cubicBezTo>
                <a:close/>
              </a:path>
            </a:pathLst>
          </a:custGeom>
          <a:solidFill>
            <a:srgbClr val="38A3A5">
              <a:alpha val="10196"/>
            </a:srgbClr>
          </a:solidFill>
          <a:ln w="9236">
            <a:solidFill>
              <a:srgbClr val="38A3A5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2186" y="780011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254000"/>
                </a:moveTo>
                <a:cubicBezTo>
                  <a:pt x="197093" y="254000"/>
                  <a:pt x="254000" y="197093"/>
                  <a:pt x="254000" y="127000"/>
                </a:cubicBezTo>
                <a:cubicBezTo>
                  <a:pt x="254000" y="56907"/>
                  <a:pt x="197093" y="0"/>
                  <a:pt x="127000" y="0"/>
                </a:cubicBezTo>
                <a:cubicBezTo>
                  <a:pt x="56907" y="0"/>
                  <a:pt x="0" y="56907"/>
                  <a:pt x="0" y="127000"/>
                </a:cubicBezTo>
                <a:cubicBezTo>
                  <a:pt x="0" y="197093"/>
                  <a:pt x="56907" y="254000"/>
                  <a:pt x="127000" y="254000"/>
                </a:cubicBezTo>
                <a:close/>
                <a:moveTo>
                  <a:pt x="111125" y="79375"/>
                </a:moveTo>
                <a:cubicBezTo>
                  <a:pt x="111125" y="70613"/>
                  <a:pt x="118238" y="63500"/>
                  <a:pt x="127000" y="63500"/>
                </a:cubicBezTo>
                <a:cubicBezTo>
                  <a:pt x="135762" y="63500"/>
                  <a:pt x="142875" y="70613"/>
                  <a:pt x="142875" y="79375"/>
                </a:cubicBezTo>
                <a:cubicBezTo>
                  <a:pt x="142875" y="88137"/>
                  <a:pt x="135762" y="95250"/>
                  <a:pt x="127000" y="95250"/>
                </a:cubicBezTo>
                <a:cubicBezTo>
                  <a:pt x="118238" y="95250"/>
                  <a:pt x="111125" y="88137"/>
                  <a:pt x="111125" y="79375"/>
                </a:cubicBezTo>
                <a:close/>
                <a:moveTo>
                  <a:pt x="107156" y="111125"/>
                </a:moveTo>
                <a:lnTo>
                  <a:pt x="130969" y="111125"/>
                </a:lnTo>
                <a:cubicBezTo>
                  <a:pt x="137567" y="111125"/>
                  <a:pt x="142875" y="116433"/>
                  <a:pt x="142875" y="123031"/>
                </a:cubicBezTo>
                <a:lnTo>
                  <a:pt x="142875" y="166688"/>
                </a:lnTo>
                <a:lnTo>
                  <a:pt x="146844" y="166688"/>
                </a:lnTo>
                <a:cubicBezTo>
                  <a:pt x="153442" y="166688"/>
                  <a:pt x="158750" y="171996"/>
                  <a:pt x="158750" y="178594"/>
                </a:cubicBezTo>
                <a:cubicBezTo>
                  <a:pt x="158750" y="185192"/>
                  <a:pt x="153442" y="190500"/>
                  <a:pt x="146844" y="190500"/>
                </a:cubicBezTo>
                <a:lnTo>
                  <a:pt x="107156" y="190500"/>
                </a:lnTo>
                <a:cubicBezTo>
                  <a:pt x="100558" y="190500"/>
                  <a:pt x="95250" y="185192"/>
                  <a:pt x="95250" y="178594"/>
                </a:cubicBezTo>
                <a:cubicBezTo>
                  <a:pt x="95250" y="171996"/>
                  <a:pt x="100558" y="166688"/>
                  <a:pt x="107156" y="166688"/>
                </a:cubicBezTo>
                <a:lnTo>
                  <a:pt x="119063" y="166688"/>
                </a:lnTo>
                <a:lnTo>
                  <a:pt x="119063" y="134938"/>
                </a:lnTo>
                <a:lnTo>
                  <a:pt x="107156" y="134938"/>
                </a:lnTo>
                <a:cubicBezTo>
                  <a:pt x="100558" y="134938"/>
                  <a:pt x="95250" y="129629"/>
                  <a:pt x="95250" y="123031"/>
                </a:cubicBezTo>
                <a:cubicBezTo>
                  <a:pt x="95250" y="116433"/>
                  <a:pt x="100558" y="111125"/>
                  <a:pt x="107156" y="111125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34" name="Text 32"/>
          <p:cNvSpPr/>
          <p:nvPr/>
        </p:nvSpPr>
        <p:spPr>
          <a:xfrm>
            <a:off x="1190336" y="7749310"/>
            <a:ext cx="1765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 Note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20436" y="8206510"/>
            <a:ext cx="7924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a fully production system, the keypair would be generated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38A3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client-side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(on the patient's device) so the private key never travels over the network at all.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008918" y="1833418"/>
            <a:ext cx="6740236" cy="6257636"/>
          </a:xfrm>
          <a:custGeom>
            <a:avLst/>
            <a:gdLst/>
            <a:ahLst/>
            <a:cxnLst/>
            <a:rect l="l" t="t" r="r" b="b"/>
            <a:pathLst>
              <a:path w="6740236" h="6257636">
                <a:moveTo>
                  <a:pt x="152373" y="0"/>
                </a:moveTo>
                <a:lnTo>
                  <a:pt x="6587863" y="0"/>
                </a:lnTo>
                <a:cubicBezTo>
                  <a:pt x="6672016" y="0"/>
                  <a:pt x="6740236" y="68220"/>
                  <a:pt x="6740236" y="152373"/>
                </a:cubicBezTo>
                <a:lnTo>
                  <a:pt x="6740236" y="6105263"/>
                </a:lnTo>
                <a:cubicBezTo>
                  <a:pt x="6740236" y="6189416"/>
                  <a:pt x="6672016" y="6257636"/>
                  <a:pt x="6587863" y="6257636"/>
                </a:cubicBezTo>
                <a:lnTo>
                  <a:pt x="152373" y="6257636"/>
                </a:lnTo>
                <a:cubicBezTo>
                  <a:pt x="68220" y="6257636"/>
                  <a:pt x="0" y="6189416"/>
                  <a:pt x="0" y="6105263"/>
                </a:cubicBezTo>
                <a:lnTo>
                  <a:pt x="0" y="152373"/>
                </a:lnTo>
                <a:cubicBezTo>
                  <a:pt x="0" y="68276"/>
                  <a:pt x="68276" y="0"/>
                  <a:pt x="15237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9236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315162" y="2142837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222250" y="102096"/>
                </a:moveTo>
                <a:cubicBezTo>
                  <a:pt x="214908" y="106958"/>
                  <a:pt x="206474" y="110877"/>
                  <a:pt x="197693" y="114002"/>
                </a:cubicBezTo>
                <a:cubicBezTo>
                  <a:pt x="174377" y="122337"/>
                  <a:pt x="143768" y="127000"/>
                  <a:pt x="111125" y="127000"/>
                </a:cubicBezTo>
                <a:cubicBezTo>
                  <a:pt x="78482" y="127000"/>
                  <a:pt x="47823" y="122287"/>
                  <a:pt x="24557" y="114002"/>
                </a:cubicBezTo>
                <a:cubicBezTo>
                  <a:pt x="15825" y="110877"/>
                  <a:pt x="7342" y="106958"/>
                  <a:pt x="0" y="102096"/>
                </a:cubicBezTo>
                <a:lnTo>
                  <a:pt x="0" y="142875"/>
                </a:lnTo>
                <a:cubicBezTo>
                  <a:pt x="0" y="164802"/>
                  <a:pt x="49758" y="182563"/>
                  <a:pt x="111125" y="182563"/>
                </a:cubicBezTo>
                <a:cubicBezTo>
                  <a:pt x="172492" y="182563"/>
                  <a:pt x="222250" y="164802"/>
                  <a:pt x="222250" y="142875"/>
                </a:cubicBezTo>
                <a:lnTo>
                  <a:pt x="222250" y="102096"/>
                </a:lnTo>
                <a:close/>
                <a:moveTo>
                  <a:pt x="222250" y="63500"/>
                </a:moveTo>
                <a:lnTo>
                  <a:pt x="222250" y="39688"/>
                </a:lnTo>
                <a:cubicBezTo>
                  <a:pt x="222250" y="17760"/>
                  <a:pt x="172492" y="0"/>
                  <a:pt x="111125" y="0"/>
                </a:cubicBezTo>
                <a:cubicBezTo>
                  <a:pt x="49758" y="0"/>
                  <a:pt x="0" y="17760"/>
                  <a:pt x="0" y="39688"/>
                </a:cubicBezTo>
                <a:lnTo>
                  <a:pt x="0" y="63500"/>
                </a:lnTo>
                <a:cubicBezTo>
                  <a:pt x="0" y="85427"/>
                  <a:pt x="49758" y="103188"/>
                  <a:pt x="111125" y="103188"/>
                </a:cubicBezTo>
                <a:cubicBezTo>
                  <a:pt x="172492" y="103188"/>
                  <a:pt x="222250" y="85427"/>
                  <a:pt x="222250" y="63500"/>
                </a:cubicBezTo>
                <a:close/>
                <a:moveTo>
                  <a:pt x="197693" y="193377"/>
                </a:moveTo>
                <a:cubicBezTo>
                  <a:pt x="174427" y="201662"/>
                  <a:pt x="143818" y="206375"/>
                  <a:pt x="111125" y="206375"/>
                </a:cubicBezTo>
                <a:cubicBezTo>
                  <a:pt x="78432" y="206375"/>
                  <a:pt x="47823" y="201662"/>
                  <a:pt x="24557" y="193377"/>
                </a:cubicBezTo>
                <a:cubicBezTo>
                  <a:pt x="15825" y="190252"/>
                  <a:pt x="7342" y="186333"/>
                  <a:pt x="0" y="181471"/>
                </a:cubicBezTo>
                <a:lnTo>
                  <a:pt x="0" y="214313"/>
                </a:lnTo>
                <a:cubicBezTo>
                  <a:pt x="0" y="236240"/>
                  <a:pt x="49758" y="254000"/>
                  <a:pt x="111125" y="254000"/>
                </a:cubicBezTo>
                <a:cubicBezTo>
                  <a:pt x="172492" y="254000"/>
                  <a:pt x="222250" y="236240"/>
                  <a:pt x="222250" y="214313"/>
                </a:cubicBezTo>
                <a:lnTo>
                  <a:pt x="222250" y="181471"/>
                </a:lnTo>
                <a:cubicBezTo>
                  <a:pt x="214908" y="186333"/>
                  <a:pt x="206474" y="190252"/>
                  <a:pt x="197693" y="193377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38" name="Text 36"/>
          <p:cNvSpPr/>
          <p:nvPr/>
        </p:nvSpPr>
        <p:spPr>
          <a:xfrm>
            <a:off x="9585037" y="2092037"/>
            <a:ext cx="6032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 Storage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292937" y="2650837"/>
            <a:ext cx="6197600" cy="914400"/>
          </a:xfrm>
          <a:custGeom>
            <a:avLst/>
            <a:gdLst/>
            <a:ahLst/>
            <a:cxnLst/>
            <a:rect l="l" t="t" r="r" b="b"/>
            <a:pathLst>
              <a:path w="6197600" h="914400">
                <a:moveTo>
                  <a:pt x="50800" y="0"/>
                </a:moveTo>
                <a:lnTo>
                  <a:pt x="6096001" y="0"/>
                </a:lnTo>
                <a:cubicBezTo>
                  <a:pt x="6152113" y="0"/>
                  <a:pt x="6197600" y="45487"/>
                  <a:pt x="6197600" y="101599"/>
                </a:cubicBezTo>
                <a:lnTo>
                  <a:pt x="6197600" y="812801"/>
                </a:lnTo>
                <a:cubicBezTo>
                  <a:pt x="6197600" y="868913"/>
                  <a:pt x="6152113" y="914400"/>
                  <a:pt x="6096001" y="914400"/>
                </a:cubicBezTo>
                <a:lnTo>
                  <a:pt x="50800" y="914400"/>
                </a:lnTo>
                <a:cubicBezTo>
                  <a:pt x="22763" y="914400"/>
                  <a:pt x="0" y="891637"/>
                  <a:pt x="0" y="863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9292937" y="2650837"/>
            <a:ext cx="50800" cy="914400"/>
          </a:xfrm>
          <a:custGeom>
            <a:avLst/>
            <a:gdLst/>
            <a:ahLst/>
            <a:cxnLst/>
            <a:rect l="l" t="t" r="r" b="b"/>
            <a:pathLst>
              <a:path w="50800" h="914400">
                <a:moveTo>
                  <a:pt x="50800" y="0"/>
                </a:moveTo>
                <a:lnTo>
                  <a:pt x="50800" y="0"/>
                </a:lnTo>
                <a:lnTo>
                  <a:pt x="50800" y="914400"/>
                </a:lnTo>
                <a:lnTo>
                  <a:pt x="50800" y="914400"/>
                </a:lnTo>
                <a:cubicBezTo>
                  <a:pt x="22763" y="914400"/>
                  <a:pt x="0" y="891637"/>
                  <a:pt x="0" y="863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41" name="Text 39"/>
          <p:cNvSpPr/>
          <p:nvPr/>
        </p:nvSpPr>
        <p:spPr>
          <a:xfrm>
            <a:off x="9470737" y="2828637"/>
            <a:ext cx="158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public_key_hex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4571157" y="2803237"/>
            <a:ext cx="762000" cy="304800"/>
          </a:xfrm>
          <a:custGeom>
            <a:avLst/>
            <a:gdLst/>
            <a:ahLst/>
            <a:cxnLst/>
            <a:rect l="l" t="t" r="r" b="b"/>
            <a:pathLst>
              <a:path w="762000" h="304800">
                <a:moveTo>
                  <a:pt x="50801" y="0"/>
                </a:moveTo>
                <a:lnTo>
                  <a:pt x="711199" y="0"/>
                </a:lnTo>
                <a:cubicBezTo>
                  <a:pt x="739256" y="0"/>
                  <a:pt x="762000" y="22744"/>
                  <a:pt x="762000" y="50801"/>
                </a:cubicBezTo>
                <a:lnTo>
                  <a:pt x="762000" y="253999"/>
                </a:lnTo>
                <a:cubicBezTo>
                  <a:pt x="762000" y="282056"/>
                  <a:pt x="739256" y="304800"/>
                  <a:pt x="7111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A3A5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14571157" y="2803237"/>
            <a:ext cx="8382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38A3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STORED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470737" y="3158837"/>
            <a:ext cx="5956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130 hex chars - for signature verification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292937" y="3717637"/>
            <a:ext cx="6197600" cy="914400"/>
          </a:xfrm>
          <a:custGeom>
            <a:avLst/>
            <a:gdLst/>
            <a:ahLst/>
            <a:cxnLst/>
            <a:rect l="l" t="t" r="r" b="b"/>
            <a:pathLst>
              <a:path w="6197600" h="914400">
                <a:moveTo>
                  <a:pt x="50800" y="0"/>
                </a:moveTo>
                <a:lnTo>
                  <a:pt x="6096001" y="0"/>
                </a:lnTo>
                <a:cubicBezTo>
                  <a:pt x="6152113" y="0"/>
                  <a:pt x="6197600" y="45487"/>
                  <a:pt x="6197600" y="101599"/>
                </a:cubicBezTo>
                <a:lnTo>
                  <a:pt x="6197600" y="812801"/>
                </a:lnTo>
                <a:cubicBezTo>
                  <a:pt x="6197600" y="868913"/>
                  <a:pt x="6152113" y="914400"/>
                  <a:pt x="6096001" y="914400"/>
                </a:cubicBezTo>
                <a:lnTo>
                  <a:pt x="50800" y="914400"/>
                </a:lnTo>
                <a:cubicBezTo>
                  <a:pt x="22763" y="914400"/>
                  <a:pt x="0" y="891637"/>
                  <a:pt x="0" y="863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9292937" y="3717637"/>
            <a:ext cx="50800" cy="914400"/>
          </a:xfrm>
          <a:custGeom>
            <a:avLst/>
            <a:gdLst/>
            <a:ahLst/>
            <a:cxnLst/>
            <a:rect l="l" t="t" r="r" b="b"/>
            <a:pathLst>
              <a:path w="50800" h="914400">
                <a:moveTo>
                  <a:pt x="50800" y="0"/>
                </a:moveTo>
                <a:lnTo>
                  <a:pt x="50800" y="0"/>
                </a:lnTo>
                <a:lnTo>
                  <a:pt x="50800" y="914400"/>
                </a:lnTo>
                <a:lnTo>
                  <a:pt x="50800" y="914400"/>
                </a:lnTo>
                <a:cubicBezTo>
                  <a:pt x="22763" y="914400"/>
                  <a:pt x="0" y="891637"/>
                  <a:pt x="0" y="863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47" name="Text 45"/>
          <p:cNvSpPr/>
          <p:nvPr/>
        </p:nvSpPr>
        <p:spPr>
          <a:xfrm>
            <a:off x="9470737" y="3895437"/>
            <a:ext cx="2324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public_key_compressed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4571157" y="3870037"/>
            <a:ext cx="762000" cy="304800"/>
          </a:xfrm>
          <a:custGeom>
            <a:avLst/>
            <a:gdLst/>
            <a:ahLst/>
            <a:cxnLst/>
            <a:rect l="l" t="t" r="r" b="b"/>
            <a:pathLst>
              <a:path w="762000" h="304800">
                <a:moveTo>
                  <a:pt x="50801" y="0"/>
                </a:moveTo>
                <a:lnTo>
                  <a:pt x="711199" y="0"/>
                </a:lnTo>
                <a:cubicBezTo>
                  <a:pt x="739256" y="0"/>
                  <a:pt x="762000" y="22744"/>
                  <a:pt x="762000" y="50801"/>
                </a:cubicBezTo>
                <a:lnTo>
                  <a:pt x="762000" y="253999"/>
                </a:lnTo>
                <a:cubicBezTo>
                  <a:pt x="762000" y="282056"/>
                  <a:pt x="739256" y="304800"/>
                  <a:pt x="7111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A3A5">
              <a:alpha val="2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14571157" y="3870037"/>
            <a:ext cx="8382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38A3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STORED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470737" y="4225637"/>
            <a:ext cx="5956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66 hex chars - compact format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9292937" y="4784437"/>
            <a:ext cx="6197600" cy="914400"/>
          </a:xfrm>
          <a:custGeom>
            <a:avLst/>
            <a:gdLst/>
            <a:ahLst/>
            <a:cxnLst/>
            <a:rect l="l" t="t" r="r" b="b"/>
            <a:pathLst>
              <a:path w="6197600" h="914400">
                <a:moveTo>
                  <a:pt x="50800" y="0"/>
                </a:moveTo>
                <a:lnTo>
                  <a:pt x="6096001" y="0"/>
                </a:lnTo>
                <a:cubicBezTo>
                  <a:pt x="6152113" y="0"/>
                  <a:pt x="6197600" y="45487"/>
                  <a:pt x="6197600" y="101599"/>
                </a:cubicBezTo>
                <a:lnTo>
                  <a:pt x="6197600" y="812801"/>
                </a:lnTo>
                <a:cubicBezTo>
                  <a:pt x="6197600" y="868913"/>
                  <a:pt x="6152113" y="914400"/>
                  <a:pt x="6096001" y="914400"/>
                </a:cubicBezTo>
                <a:lnTo>
                  <a:pt x="50800" y="914400"/>
                </a:lnTo>
                <a:cubicBezTo>
                  <a:pt x="22763" y="914400"/>
                  <a:pt x="0" y="891637"/>
                  <a:pt x="0" y="863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292937" y="4784437"/>
            <a:ext cx="50800" cy="914400"/>
          </a:xfrm>
          <a:custGeom>
            <a:avLst/>
            <a:gdLst/>
            <a:ahLst/>
            <a:cxnLst/>
            <a:rect l="l" t="t" r="r" b="b"/>
            <a:pathLst>
              <a:path w="50800" h="914400">
                <a:moveTo>
                  <a:pt x="50800" y="0"/>
                </a:moveTo>
                <a:lnTo>
                  <a:pt x="50800" y="0"/>
                </a:lnTo>
                <a:lnTo>
                  <a:pt x="50800" y="914400"/>
                </a:lnTo>
                <a:lnTo>
                  <a:pt x="50800" y="914400"/>
                </a:lnTo>
                <a:cubicBezTo>
                  <a:pt x="22763" y="914400"/>
                  <a:pt x="0" y="891637"/>
                  <a:pt x="0" y="863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53" name="Text 51"/>
          <p:cNvSpPr/>
          <p:nvPr/>
        </p:nvSpPr>
        <p:spPr>
          <a:xfrm>
            <a:off x="9470737" y="4962237"/>
            <a:ext cx="1689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public_key_hash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4571157" y="4936837"/>
            <a:ext cx="762000" cy="304800"/>
          </a:xfrm>
          <a:custGeom>
            <a:avLst/>
            <a:gdLst/>
            <a:ahLst/>
            <a:cxnLst/>
            <a:rect l="l" t="t" r="r" b="b"/>
            <a:pathLst>
              <a:path w="762000" h="304800">
                <a:moveTo>
                  <a:pt x="50801" y="0"/>
                </a:moveTo>
                <a:lnTo>
                  <a:pt x="711199" y="0"/>
                </a:lnTo>
                <a:cubicBezTo>
                  <a:pt x="739256" y="0"/>
                  <a:pt x="762000" y="22744"/>
                  <a:pt x="762000" y="50801"/>
                </a:cubicBezTo>
                <a:lnTo>
                  <a:pt x="762000" y="253999"/>
                </a:lnTo>
                <a:cubicBezTo>
                  <a:pt x="762000" y="282056"/>
                  <a:pt x="739256" y="304800"/>
                  <a:pt x="7111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A3A5">
              <a:alpha val="2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14571157" y="4936837"/>
            <a:ext cx="8382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38A3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STORED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9470737" y="5292437"/>
            <a:ext cx="5956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64 hex chars - unique identifier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9292937" y="5851237"/>
            <a:ext cx="6197600" cy="914400"/>
          </a:xfrm>
          <a:custGeom>
            <a:avLst/>
            <a:gdLst/>
            <a:ahLst/>
            <a:cxnLst/>
            <a:rect l="l" t="t" r="r" b="b"/>
            <a:pathLst>
              <a:path w="6197600" h="914400">
                <a:moveTo>
                  <a:pt x="50800" y="0"/>
                </a:moveTo>
                <a:lnTo>
                  <a:pt x="6096001" y="0"/>
                </a:lnTo>
                <a:cubicBezTo>
                  <a:pt x="6152113" y="0"/>
                  <a:pt x="6197600" y="45487"/>
                  <a:pt x="6197600" y="101599"/>
                </a:cubicBezTo>
                <a:lnTo>
                  <a:pt x="6197600" y="812801"/>
                </a:lnTo>
                <a:cubicBezTo>
                  <a:pt x="6197600" y="868913"/>
                  <a:pt x="6152113" y="914400"/>
                  <a:pt x="6096001" y="914400"/>
                </a:cubicBezTo>
                <a:lnTo>
                  <a:pt x="50800" y="914400"/>
                </a:lnTo>
                <a:cubicBezTo>
                  <a:pt x="22763" y="914400"/>
                  <a:pt x="0" y="891637"/>
                  <a:pt x="0" y="863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292937" y="5851237"/>
            <a:ext cx="50800" cy="914400"/>
          </a:xfrm>
          <a:custGeom>
            <a:avLst/>
            <a:gdLst/>
            <a:ahLst/>
            <a:cxnLst/>
            <a:rect l="l" t="t" r="r" b="b"/>
            <a:pathLst>
              <a:path w="50800" h="914400">
                <a:moveTo>
                  <a:pt x="50800" y="0"/>
                </a:moveTo>
                <a:lnTo>
                  <a:pt x="50800" y="0"/>
                </a:lnTo>
                <a:lnTo>
                  <a:pt x="50800" y="914400"/>
                </a:lnTo>
                <a:lnTo>
                  <a:pt x="50800" y="914400"/>
                </a:lnTo>
                <a:cubicBezTo>
                  <a:pt x="22763" y="914400"/>
                  <a:pt x="0" y="891637"/>
                  <a:pt x="0" y="863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59" name="Text 57"/>
          <p:cNvSpPr/>
          <p:nvPr/>
        </p:nvSpPr>
        <p:spPr>
          <a:xfrm>
            <a:off x="9470737" y="6029037"/>
            <a:ext cx="1473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password_hash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14571157" y="6003637"/>
            <a:ext cx="762000" cy="304800"/>
          </a:xfrm>
          <a:custGeom>
            <a:avLst/>
            <a:gdLst/>
            <a:ahLst/>
            <a:cxnLst/>
            <a:rect l="l" t="t" r="r" b="b"/>
            <a:pathLst>
              <a:path w="762000" h="304800">
                <a:moveTo>
                  <a:pt x="50801" y="0"/>
                </a:moveTo>
                <a:lnTo>
                  <a:pt x="711199" y="0"/>
                </a:lnTo>
                <a:cubicBezTo>
                  <a:pt x="739256" y="0"/>
                  <a:pt x="762000" y="22744"/>
                  <a:pt x="762000" y="50801"/>
                </a:cubicBezTo>
                <a:lnTo>
                  <a:pt x="762000" y="253999"/>
                </a:lnTo>
                <a:cubicBezTo>
                  <a:pt x="762000" y="282056"/>
                  <a:pt x="739256" y="304800"/>
                  <a:pt x="7111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A3A5">
              <a:alpha val="20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14571157" y="6003637"/>
            <a:ext cx="8382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38A3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STORED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9470737" y="6359237"/>
            <a:ext cx="5956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PBKDF2 result - for website login only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9292937" y="6918037"/>
            <a:ext cx="6197600" cy="914400"/>
          </a:xfrm>
          <a:custGeom>
            <a:avLst/>
            <a:gdLst/>
            <a:ahLst/>
            <a:cxnLst/>
            <a:rect l="l" t="t" r="r" b="b"/>
            <a:pathLst>
              <a:path w="6197600" h="914400">
                <a:moveTo>
                  <a:pt x="50800" y="0"/>
                </a:moveTo>
                <a:lnTo>
                  <a:pt x="6096001" y="0"/>
                </a:lnTo>
                <a:cubicBezTo>
                  <a:pt x="6152113" y="0"/>
                  <a:pt x="6197600" y="45487"/>
                  <a:pt x="6197600" y="101599"/>
                </a:cubicBezTo>
                <a:lnTo>
                  <a:pt x="6197600" y="812801"/>
                </a:lnTo>
                <a:cubicBezTo>
                  <a:pt x="6197600" y="868913"/>
                  <a:pt x="6152113" y="914400"/>
                  <a:pt x="6096001" y="914400"/>
                </a:cubicBezTo>
                <a:lnTo>
                  <a:pt x="50800" y="914400"/>
                </a:lnTo>
                <a:cubicBezTo>
                  <a:pt x="22763" y="914400"/>
                  <a:pt x="0" y="891637"/>
                  <a:pt x="0" y="863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292937" y="6918037"/>
            <a:ext cx="50800" cy="914400"/>
          </a:xfrm>
          <a:custGeom>
            <a:avLst/>
            <a:gdLst/>
            <a:ahLst/>
            <a:cxnLst/>
            <a:rect l="l" t="t" r="r" b="b"/>
            <a:pathLst>
              <a:path w="50800" h="914400">
                <a:moveTo>
                  <a:pt x="50800" y="0"/>
                </a:moveTo>
                <a:lnTo>
                  <a:pt x="50800" y="0"/>
                </a:lnTo>
                <a:lnTo>
                  <a:pt x="50800" y="914400"/>
                </a:lnTo>
                <a:lnTo>
                  <a:pt x="50800" y="914400"/>
                </a:lnTo>
                <a:cubicBezTo>
                  <a:pt x="22763" y="914400"/>
                  <a:pt x="0" y="891637"/>
                  <a:pt x="0" y="863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65" name="Text 63"/>
          <p:cNvSpPr/>
          <p:nvPr/>
        </p:nvSpPr>
        <p:spPr>
          <a:xfrm>
            <a:off x="9470737" y="7095837"/>
            <a:ext cx="1689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private_key_pem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14078600" y="7070437"/>
            <a:ext cx="1257300" cy="304800"/>
          </a:xfrm>
          <a:custGeom>
            <a:avLst/>
            <a:gdLst/>
            <a:ahLst/>
            <a:cxnLst/>
            <a:rect l="l" t="t" r="r" b="b"/>
            <a:pathLst>
              <a:path w="1257300" h="304800">
                <a:moveTo>
                  <a:pt x="50801" y="0"/>
                </a:moveTo>
                <a:lnTo>
                  <a:pt x="1206499" y="0"/>
                </a:lnTo>
                <a:cubicBezTo>
                  <a:pt x="1234556" y="0"/>
                  <a:pt x="1257300" y="22744"/>
                  <a:pt x="1257300" y="50801"/>
                </a:cubicBezTo>
                <a:lnTo>
                  <a:pt x="1257300" y="253999"/>
                </a:lnTo>
                <a:cubicBezTo>
                  <a:pt x="1257300" y="282056"/>
                  <a:pt x="1234556" y="304800"/>
                  <a:pt x="12064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14078600" y="7070437"/>
            <a:ext cx="13335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NEVER STORED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9470737" y="7426037"/>
            <a:ext cx="5956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Would defeat entire security model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9008918" y="8303491"/>
            <a:ext cx="6740236" cy="1533236"/>
          </a:xfrm>
          <a:custGeom>
            <a:avLst/>
            <a:gdLst/>
            <a:ahLst/>
            <a:cxnLst/>
            <a:rect l="l" t="t" r="r" b="b"/>
            <a:pathLst>
              <a:path w="6740236" h="1533236">
                <a:moveTo>
                  <a:pt x="152404" y="0"/>
                </a:moveTo>
                <a:lnTo>
                  <a:pt x="6587833" y="0"/>
                </a:lnTo>
                <a:cubicBezTo>
                  <a:pt x="6672003" y="0"/>
                  <a:pt x="6740236" y="68233"/>
                  <a:pt x="6740236" y="152404"/>
                </a:cubicBezTo>
                <a:lnTo>
                  <a:pt x="6740236" y="1380833"/>
                </a:lnTo>
                <a:cubicBezTo>
                  <a:pt x="6740236" y="1465003"/>
                  <a:pt x="6672003" y="1533236"/>
                  <a:pt x="6587833" y="1533236"/>
                </a:cubicBezTo>
                <a:lnTo>
                  <a:pt x="152404" y="1533236"/>
                </a:lnTo>
                <a:cubicBezTo>
                  <a:pt x="68233" y="1533236"/>
                  <a:pt x="0" y="1465003"/>
                  <a:pt x="0" y="1380833"/>
                </a:cubicBezTo>
                <a:lnTo>
                  <a:pt x="0" y="152404"/>
                </a:lnTo>
                <a:cubicBezTo>
                  <a:pt x="0" y="68290"/>
                  <a:pt x="68290" y="0"/>
                  <a:pt x="152404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9236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248487" y="856211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29282" y="0"/>
                  <a:pt x="131564" y="496"/>
                  <a:pt x="133648" y="1439"/>
                </a:cubicBezTo>
                <a:lnTo>
                  <a:pt x="227112" y="41077"/>
                </a:lnTo>
                <a:cubicBezTo>
                  <a:pt x="238026" y="45690"/>
                  <a:pt x="246162" y="56455"/>
                  <a:pt x="246112" y="69453"/>
                </a:cubicBezTo>
                <a:cubicBezTo>
                  <a:pt x="245864" y="118666"/>
                  <a:pt x="225623" y="208707"/>
                  <a:pt x="140146" y="249634"/>
                </a:cubicBezTo>
                <a:cubicBezTo>
                  <a:pt x="131862" y="253603"/>
                  <a:pt x="122238" y="253603"/>
                  <a:pt x="113953" y="249634"/>
                </a:cubicBezTo>
                <a:cubicBezTo>
                  <a:pt x="28426" y="208707"/>
                  <a:pt x="8235" y="118666"/>
                  <a:pt x="7987" y="69453"/>
                </a:cubicBezTo>
                <a:cubicBezTo>
                  <a:pt x="7937" y="56455"/>
                  <a:pt x="16073" y="45690"/>
                  <a:pt x="26987" y="41077"/>
                </a:cubicBezTo>
                <a:lnTo>
                  <a:pt x="120402" y="1439"/>
                </a:lnTo>
                <a:cubicBezTo>
                  <a:pt x="122486" y="496"/>
                  <a:pt x="124718" y="0"/>
                  <a:pt x="127000" y="0"/>
                </a:cubicBezTo>
                <a:close/>
                <a:moveTo>
                  <a:pt x="127000" y="33139"/>
                </a:moveTo>
                <a:lnTo>
                  <a:pt x="127000" y="220712"/>
                </a:lnTo>
                <a:cubicBezTo>
                  <a:pt x="195461" y="187573"/>
                  <a:pt x="213866" y="114151"/>
                  <a:pt x="214313" y="70197"/>
                </a:cubicBezTo>
                <a:lnTo>
                  <a:pt x="127000" y="33189"/>
                </a:lnTo>
                <a:lnTo>
                  <a:pt x="127000" y="33189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71" name="Text 69"/>
          <p:cNvSpPr/>
          <p:nvPr/>
        </p:nvSpPr>
        <p:spPr>
          <a:xfrm>
            <a:off x="9686637" y="8511310"/>
            <a:ext cx="2197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Key Handling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9216737" y="8968510"/>
            <a:ext cx="6426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Generated server-side, shown to user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ONCE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RegisterResponse, never stored in database. Patient must save immediately.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spc="140" kern="0" dirty="0">
                <a:solidFill>
                  <a:srgbClr val="38A3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Account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Patient vs Doctor Accounts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240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5" name="Shape 3"/>
          <p:cNvSpPr/>
          <p:nvPr/>
        </p:nvSpPr>
        <p:spPr>
          <a:xfrm>
            <a:off x="512618" y="1833418"/>
            <a:ext cx="15236536" cy="2511136"/>
          </a:xfrm>
          <a:custGeom>
            <a:avLst/>
            <a:gdLst/>
            <a:ahLst/>
            <a:cxnLst/>
            <a:rect l="l" t="t" r="r" b="b"/>
            <a:pathLst>
              <a:path w="15236536" h="2511136">
                <a:moveTo>
                  <a:pt x="152401" y="0"/>
                </a:moveTo>
                <a:lnTo>
                  <a:pt x="15084136" y="0"/>
                </a:lnTo>
                <a:cubicBezTo>
                  <a:pt x="15168304" y="0"/>
                  <a:pt x="15236536" y="68232"/>
                  <a:pt x="15236536" y="152401"/>
                </a:cubicBezTo>
                <a:lnTo>
                  <a:pt x="15236536" y="2358736"/>
                </a:lnTo>
                <a:cubicBezTo>
                  <a:pt x="15236536" y="2442904"/>
                  <a:pt x="15168304" y="2511136"/>
                  <a:pt x="15084136" y="2511136"/>
                </a:cubicBezTo>
                <a:lnTo>
                  <a:pt x="152401" y="2511136"/>
                </a:lnTo>
                <a:cubicBezTo>
                  <a:pt x="68232" y="2511136"/>
                  <a:pt x="0" y="2442904"/>
                  <a:pt x="0" y="2358736"/>
                </a:cubicBezTo>
                <a:lnTo>
                  <a:pt x="0" y="152401"/>
                </a:lnTo>
                <a:cubicBezTo>
                  <a:pt x="0" y="68232"/>
                  <a:pt x="68232" y="0"/>
                  <a:pt x="152401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9236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1236" y="2092037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8A3A5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12536" y="2295237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8" name="Text 6"/>
          <p:cNvSpPr/>
          <p:nvPr/>
        </p:nvSpPr>
        <p:spPr>
          <a:xfrm>
            <a:off x="1685636" y="2117437"/>
            <a:ext cx="723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 for Judges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85636" y="2473037"/>
            <a:ext cx="721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Both patients and doctors use the same registration endpoint with role parameter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96636" y="3006437"/>
            <a:ext cx="14693900" cy="1079500"/>
          </a:xfrm>
          <a:custGeom>
            <a:avLst/>
            <a:gdLst/>
            <a:ahLst/>
            <a:cxnLst/>
            <a:rect l="l" t="t" r="r" b="b"/>
            <a:pathLst>
              <a:path w="14693900" h="1079500">
                <a:moveTo>
                  <a:pt x="50800" y="0"/>
                </a:moveTo>
                <a:lnTo>
                  <a:pt x="14592297" y="0"/>
                </a:lnTo>
                <a:cubicBezTo>
                  <a:pt x="14648411" y="0"/>
                  <a:pt x="14693900" y="45489"/>
                  <a:pt x="14693900" y="101603"/>
                </a:cubicBezTo>
                <a:lnTo>
                  <a:pt x="14693900" y="977897"/>
                </a:lnTo>
                <a:cubicBezTo>
                  <a:pt x="14693900" y="1034011"/>
                  <a:pt x="14648411" y="1079500"/>
                  <a:pt x="14592297" y="1079500"/>
                </a:cubicBezTo>
                <a:lnTo>
                  <a:pt x="50800" y="1079500"/>
                </a:lnTo>
                <a:cubicBezTo>
                  <a:pt x="22763" y="1079500"/>
                  <a:pt x="0" y="1056737"/>
                  <a:pt x="0" y="10287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96636" y="3006437"/>
            <a:ext cx="50800" cy="1079500"/>
          </a:xfrm>
          <a:custGeom>
            <a:avLst/>
            <a:gdLst/>
            <a:ahLst/>
            <a:cxnLst/>
            <a:rect l="l" t="t" r="r" b="b"/>
            <a:pathLst>
              <a:path w="50800" h="1079500">
                <a:moveTo>
                  <a:pt x="50800" y="0"/>
                </a:moveTo>
                <a:lnTo>
                  <a:pt x="50800" y="0"/>
                </a:lnTo>
                <a:lnTo>
                  <a:pt x="50800" y="1079500"/>
                </a:lnTo>
                <a:lnTo>
                  <a:pt x="50800" y="1079500"/>
                </a:lnTo>
                <a:cubicBezTo>
                  <a:pt x="22763" y="1079500"/>
                  <a:pt x="0" y="1056737"/>
                  <a:pt x="0" y="10287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12" name="Text 10"/>
          <p:cNvSpPr/>
          <p:nvPr/>
        </p:nvSpPr>
        <p:spPr>
          <a:xfrm>
            <a:off x="1025236" y="3209637"/>
            <a:ext cx="14363700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Both go through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38A3A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/api/auth/register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The difference is the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 field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Both get an ECDSA keypair. The doctor's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38A3A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public_key_hash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embedded in the patient's permission grant - cryptographically tied to real identity.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2618" y="4558145"/>
            <a:ext cx="7489536" cy="5089236"/>
          </a:xfrm>
          <a:custGeom>
            <a:avLst/>
            <a:gdLst/>
            <a:ahLst/>
            <a:cxnLst/>
            <a:rect l="l" t="t" r="r" b="b"/>
            <a:pathLst>
              <a:path w="7489536" h="5089236">
                <a:moveTo>
                  <a:pt x="152423" y="0"/>
                </a:moveTo>
                <a:lnTo>
                  <a:pt x="7337114" y="0"/>
                </a:lnTo>
                <a:cubicBezTo>
                  <a:pt x="7421238" y="0"/>
                  <a:pt x="7489536" y="68298"/>
                  <a:pt x="7489536" y="152423"/>
                </a:cubicBezTo>
                <a:lnTo>
                  <a:pt x="7489536" y="4936814"/>
                </a:lnTo>
                <a:cubicBezTo>
                  <a:pt x="7489536" y="5020938"/>
                  <a:pt x="7421238" y="5089236"/>
                  <a:pt x="7337114" y="5089236"/>
                </a:cubicBezTo>
                <a:lnTo>
                  <a:pt x="152423" y="5089236"/>
                </a:lnTo>
                <a:cubicBezTo>
                  <a:pt x="68298" y="5089236"/>
                  <a:pt x="0" y="5020938"/>
                  <a:pt x="0" y="4936814"/>
                </a:cubicBezTo>
                <a:lnTo>
                  <a:pt x="0" y="152423"/>
                </a:lnTo>
                <a:cubicBezTo>
                  <a:pt x="0" y="68298"/>
                  <a:pt x="68298" y="0"/>
                  <a:pt x="15242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9236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1236" y="4816766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15" name="Shape 13"/>
          <p:cNvSpPr/>
          <p:nvPr/>
        </p:nvSpPr>
        <p:spPr>
          <a:xfrm>
            <a:off x="993486" y="5019966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44482" y="47625"/>
                </a:moveTo>
                <a:lnTo>
                  <a:pt x="198834" y="47625"/>
                </a:lnTo>
                <a:cubicBezTo>
                  <a:pt x="192465" y="32980"/>
                  <a:pt x="181273" y="20895"/>
                  <a:pt x="167342" y="13335"/>
                </a:cubicBezTo>
                <a:lnTo>
                  <a:pt x="144482" y="47625"/>
                </a:lnTo>
                <a:close/>
                <a:moveTo>
                  <a:pt x="143947" y="5536"/>
                </a:moveTo>
                <a:cubicBezTo>
                  <a:pt x="140494" y="5001"/>
                  <a:pt x="136922" y="4763"/>
                  <a:pt x="133350" y="4763"/>
                </a:cubicBezTo>
                <a:cubicBezTo>
                  <a:pt x="104061" y="4763"/>
                  <a:pt x="78879" y="22384"/>
                  <a:pt x="67866" y="47625"/>
                </a:cubicBezTo>
                <a:lnTo>
                  <a:pt x="115848" y="47625"/>
                </a:lnTo>
                <a:lnTo>
                  <a:pt x="143887" y="5536"/>
                </a:lnTo>
                <a:close/>
                <a:moveTo>
                  <a:pt x="133350" y="147638"/>
                </a:moveTo>
                <a:cubicBezTo>
                  <a:pt x="172819" y="147638"/>
                  <a:pt x="204787" y="115669"/>
                  <a:pt x="204787" y="76200"/>
                </a:cubicBezTo>
                <a:lnTo>
                  <a:pt x="61912" y="76200"/>
                </a:lnTo>
                <a:cubicBezTo>
                  <a:pt x="61912" y="115669"/>
                  <a:pt x="93881" y="147638"/>
                  <a:pt x="133350" y="147638"/>
                </a:cubicBezTo>
                <a:close/>
                <a:moveTo>
                  <a:pt x="58757" y="203478"/>
                </a:moveTo>
                <a:cubicBezTo>
                  <a:pt x="29349" y="220385"/>
                  <a:pt x="9525" y="252115"/>
                  <a:pt x="9525" y="288488"/>
                </a:cubicBezTo>
                <a:cubicBezTo>
                  <a:pt x="9525" y="297478"/>
                  <a:pt x="16847" y="304800"/>
                  <a:pt x="25837" y="304800"/>
                </a:cubicBezTo>
                <a:lnTo>
                  <a:pt x="115729" y="304800"/>
                </a:lnTo>
                <a:lnTo>
                  <a:pt x="58698" y="203478"/>
                </a:lnTo>
                <a:close/>
                <a:moveTo>
                  <a:pt x="85606" y="192941"/>
                </a:moveTo>
                <a:lnTo>
                  <a:pt x="111026" y="238125"/>
                </a:lnTo>
                <a:lnTo>
                  <a:pt x="161925" y="238125"/>
                </a:lnTo>
                <a:cubicBezTo>
                  <a:pt x="188238" y="238125"/>
                  <a:pt x="209550" y="259437"/>
                  <a:pt x="209550" y="285750"/>
                </a:cubicBezTo>
                <a:cubicBezTo>
                  <a:pt x="209550" y="292537"/>
                  <a:pt x="208121" y="298966"/>
                  <a:pt x="205561" y="304800"/>
                </a:cubicBezTo>
                <a:lnTo>
                  <a:pt x="240804" y="304800"/>
                </a:lnTo>
                <a:cubicBezTo>
                  <a:pt x="249793" y="304800"/>
                  <a:pt x="257115" y="297478"/>
                  <a:pt x="257115" y="288488"/>
                </a:cubicBezTo>
                <a:cubicBezTo>
                  <a:pt x="257115" y="234375"/>
                  <a:pt x="213241" y="190500"/>
                  <a:pt x="159127" y="190500"/>
                </a:cubicBezTo>
                <a:lnTo>
                  <a:pt x="107394" y="190500"/>
                </a:lnTo>
                <a:cubicBezTo>
                  <a:pt x="99893" y="190500"/>
                  <a:pt x="92571" y="191333"/>
                  <a:pt x="85546" y="192941"/>
                </a:cubicBezTo>
                <a:close/>
                <a:moveTo>
                  <a:pt x="127099" y="266700"/>
                </a:moveTo>
                <a:lnTo>
                  <a:pt x="148530" y="304800"/>
                </a:lnTo>
                <a:lnTo>
                  <a:pt x="161925" y="304800"/>
                </a:lnTo>
                <a:cubicBezTo>
                  <a:pt x="172462" y="304800"/>
                  <a:pt x="180975" y="296287"/>
                  <a:pt x="180975" y="285750"/>
                </a:cubicBezTo>
                <a:cubicBezTo>
                  <a:pt x="180975" y="275213"/>
                  <a:pt x="172462" y="266700"/>
                  <a:pt x="161925" y="266700"/>
                </a:cubicBezTo>
                <a:lnTo>
                  <a:pt x="127099" y="26670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6" name="Text 14"/>
          <p:cNvSpPr/>
          <p:nvPr/>
        </p:nvSpPr>
        <p:spPr>
          <a:xfrm>
            <a:off x="1685636" y="4969166"/>
            <a:ext cx="11049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Patient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1236" y="5832766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18" name="Text 16"/>
          <p:cNvSpPr/>
          <p:nvPr/>
        </p:nvSpPr>
        <p:spPr>
          <a:xfrm>
            <a:off x="1025236" y="5731166"/>
            <a:ext cx="1866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 in DB: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PATIENT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71236" y="6289966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20" name="Text 18"/>
          <p:cNvSpPr/>
          <p:nvPr/>
        </p:nvSpPr>
        <p:spPr>
          <a:xfrm>
            <a:off x="1025236" y="6188366"/>
            <a:ext cx="2705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Has private key: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Yes - owns it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71236" y="6747166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22" name="Text 20"/>
          <p:cNvSpPr/>
          <p:nvPr/>
        </p:nvSpPr>
        <p:spPr>
          <a:xfrm>
            <a:off x="1025236" y="6645566"/>
            <a:ext cx="3886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 grant permissions: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Yes - signs with key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71236" y="7204366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24" name="Text 22"/>
          <p:cNvSpPr/>
          <p:nvPr/>
        </p:nvSpPr>
        <p:spPr>
          <a:xfrm>
            <a:off x="1025236" y="7102766"/>
            <a:ext cx="3543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 revoke permissions: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Yes - instantly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71236" y="7661566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26" name="Text 24"/>
          <p:cNvSpPr/>
          <p:nvPr/>
        </p:nvSpPr>
        <p:spPr>
          <a:xfrm>
            <a:off x="1025236" y="7559966"/>
            <a:ext cx="2755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Identified by: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public_key_hash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71236" y="8118766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28" name="Text 26"/>
          <p:cNvSpPr/>
          <p:nvPr/>
        </p:nvSpPr>
        <p:spPr>
          <a:xfrm>
            <a:off x="1025236" y="8017166"/>
            <a:ext cx="222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Dashboard: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patient.html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71236" y="8525166"/>
            <a:ext cx="6972300" cy="863600"/>
          </a:xfrm>
          <a:custGeom>
            <a:avLst/>
            <a:gdLst/>
            <a:ahLst/>
            <a:cxnLst/>
            <a:rect l="l" t="t" r="r" b="b"/>
            <a:pathLst>
              <a:path w="6972300" h="863600">
                <a:moveTo>
                  <a:pt x="101603" y="0"/>
                </a:moveTo>
                <a:lnTo>
                  <a:pt x="6870697" y="0"/>
                </a:lnTo>
                <a:cubicBezTo>
                  <a:pt x="6926811" y="0"/>
                  <a:pt x="6972300" y="45489"/>
                  <a:pt x="6972300" y="101603"/>
                </a:cubicBezTo>
                <a:lnTo>
                  <a:pt x="6972300" y="761997"/>
                </a:lnTo>
                <a:cubicBezTo>
                  <a:pt x="6972300" y="818111"/>
                  <a:pt x="6926811" y="863600"/>
                  <a:pt x="68706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38A3A5">
              <a:alpha val="10196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923636" y="8677566"/>
            <a:ext cx="675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8A3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Permission Control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23636" y="8982366"/>
            <a:ext cx="675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cryptographic control over who can access their medical records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259618" y="4558145"/>
            <a:ext cx="7489536" cy="5089236"/>
          </a:xfrm>
          <a:custGeom>
            <a:avLst/>
            <a:gdLst/>
            <a:ahLst/>
            <a:cxnLst/>
            <a:rect l="l" t="t" r="r" b="b"/>
            <a:pathLst>
              <a:path w="7489536" h="5089236">
                <a:moveTo>
                  <a:pt x="152423" y="0"/>
                </a:moveTo>
                <a:lnTo>
                  <a:pt x="7337114" y="0"/>
                </a:lnTo>
                <a:cubicBezTo>
                  <a:pt x="7421238" y="0"/>
                  <a:pt x="7489536" y="68298"/>
                  <a:pt x="7489536" y="152423"/>
                </a:cubicBezTo>
                <a:lnTo>
                  <a:pt x="7489536" y="4936814"/>
                </a:lnTo>
                <a:cubicBezTo>
                  <a:pt x="7489536" y="5020938"/>
                  <a:pt x="7421238" y="5089236"/>
                  <a:pt x="7337114" y="5089236"/>
                </a:cubicBezTo>
                <a:lnTo>
                  <a:pt x="152423" y="5089236"/>
                </a:lnTo>
                <a:cubicBezTo>
                  <a:pt x="68298" y="5089236"/>
                  <a:pt x="0" y="5020938"/>
                  <a:pt x="0" y="4936814"/>
                </a:cubicBezTo>
                <a:lnTo>
                  <a:pt x="0" y="152423"/>
                </a:lnTo>
                <a:cubicBezTo>
                  <a:pt x="0" y="68298"/>
                  <a:pt x="68298" y="0"/>
                  <a:pt x="15242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9236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518237" y="4816766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4" name="Shape 32"/>
          <p:cNvSpPr/>
          <p:nvPr/>
        </p:nvSpPr>
        <p:spPr>
          <a:xfrm>
            <a:off x="8740487" y="5019966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33350" y="4763"/>
                </a:moveTo>
                <a:cubicBezTo>
                  <a:pt x="93923" y="4763"/>
                  <a:pt x="61913" y="36773"/>
                  <a:pt x="61912" y="76200"/>
                </a:cubicBezTo>
                <a:cubicBezTo>
                  <a:pt x="61912" y="115627"/>
                  <a:pt x="93923" y="147638"/>
                  <a:pt x="133350" y="147638"/>
                </a:cubicBezTo>
                <a:cubicBezTo>
                  <a:pt x="172777" y="147638"/>
                  <a:pt x="204787" y="115627"/>
                  <a:pt x="204787" y="76200"/>
                </a:cubicBezTo>
                <a:cubicBezTo>
                  <a:pt x="204787" y="36773"/>
                  <a:pt x="172777" y="4763"/>
                  <a:pt x="133350" y="4763"/>
                </a:cubicBezTo>
                <a:close/>
                <a:moveTo>
                  <a:pt x="169069" y="190976"/>
                </a:moveTo>
                <a:cubicBezTo>
                  <a:pt x="165854" y="190679"/>
                  <a:pt x="162520" y="190500"/>
                  <a:pt x="159187" y="190500"/>
                </a:cubicBezTo>
                <a:lnTo>
                  <a:pt x="107454" y="190500"/>
                </a:lnTo>
                <a:cubicBezTo>
                  <a:pt x="104120" y="190500"/>
                  <a:pt x="100846" y="190679"/>
                  <a:pt x="97572" y="190976"/>
                </a:cubicBezTo>
                <a:lnTo>
                  <a:pt x="97572" y="231160"/>
                </a:lnTo>
                <a:cubicBezTo>
                  <a:pt x="107394" y="235684"/>
                  <a:pt x="114240" y="245626"/>
                  <a:pt x="114240" y="257115"/>
                </a:cubicBezTo>
                <a:cubicBezTo>
                  <a:pt x="114240" y="272891"/>
                  <a:pt x="101441" y="285690"/>
                  <a:pt x="85665" y="285690"/>
                </a:cubicBezTo>
                <a:cubicBezTo>
                  <a:pt x="69890" y="285690"/>
                  <a:pt x="57090" y="272891"/>
                  <a:pt x="57090" y="257115"/>
                </a:cubicBezTo>
                <a:cubicBezTo>
                  <a:pt x="57090" y="245566"/>
                  <a:pt x="63937" y="235625"/>
                  <a:pt x="73759" y="231160"/>
                </a:cubicBezTo>
                <a:lnTo>
                  <a:pt x="73759" y="196394"/>
                </a:lnTo>
                <a:cubicBezTo>
                  <a:pt x="36314" y="210145"/>
                  <a:pt x="9525" y="246221"/>
                  <a:pt x="9525" y="288488"/>
                </a:cubicBezTo>
                <a:cubicBezTo>
                  <a:pt x="9525" y="297478"/>
                  <a:pt x="16847" y="304800"/>
                  <a:pt x="25837" y="304800"/>
                </a:cubicBezTo>
                <a:lnTo>
                  <a:pt x="240804" y="304800"/>
                </a:lnTo>
                <a:cubicBezTo>
                  <a:pt x="249793" y="304800"/>
                  <a:pt x="257115" y="297478"/>
                  <a:pt x="257115" y="288488"/>
                </a:cubicBezTo>
                <a:cubicBezTo>
                  <a:pt x="257115" y="246221"/>
                  <a:pt x="230326" y="210205"/>
                  <a:pt x="192822" y="196453"/>
                </a:cubicBezTo>
                <a:lnTo>
                  <a:pt x="192822" y="218718"/>
                </a:lnTo>
                <a:cubicBezTo>
                  <a:pt x="206692" y="223599"/>
                  <a:pt x="216634" y="236875"/>
                  <a:pt x="216634" y="252413"/>
                </a:cubicBezTo>
                <a:lnTo>
                  <a:pt x="216634" y="271463"/>
                </a:lnTo>
                <a:cubicBezTo>
                  <a:pt x="216634" y="278011"/>
                  <a:pt x="211276" y="283369"/>
                  <a:pt x="204728" y="283369"/>
                </a:cubicBezTo>
                <a:cubicBezTo>
                  <a:pt x="198180" y="283369"/>
                  <a:pt x="192822" y="278011"/>
                  <a:pt x="192822" y="271463"/>
                </a:cubicBezTo>
                <a:lnTo>
                  <a:pt x="192822" y="252413"/>
                </a:lnTo>
                <a:cubicBezTo>
                  <a:pt x="192822" y="245864"/>
                  <a:pt x="187464" y="240506"/>
                  <a:pt x="180915" y="240506"/>
                </a:cubicBezTo>
                <a:cubicBezTo>
                  <a:pt x="174367" y="240506"/>
                  <a:pt x="169009" y="245864"/>
                  <a:pt x="169009" y="252413"/>
                </a:cubicBezTo>
                <a:lnTo>
                  <a:pt x="169009" y="271463"/>
                </a:lnTo>
                <a:cubicBezTo>
                  <a:pt x="169009" y="278011"/>
                  <a:pt x="163651" y="283369"/>
                  <a:pt x="157103" y="283369"/>
                </a:cubicBezTo>
                <a:cubicBezTo>
                  <a:pt x="150555" y="283369"/>
                  <a:pt x="145197" y="278011"/>
                  <a:pt x="145197" y="271463"/>
                </a:cubicBezTo>
                <a:lnTo>
                  <a:pt x="145197" y="252413"/>
                </a:lnTo>
                <a:cubicBezTo>
                  <a:pt x="145197" y="236875"/>
                  <a:pt x="155138" y="223659"/>
                  <a:pt x="169009" y="218718"/>
                </a:cubicBezTo>
                <a:lnTo>
                  <a:pt x="169009" y="190976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5" name="Text 33"/>
          <p:cNvSpPr/>
          <p:nvPr/>
        </p:nvSpPr>
        <p:spPr>
          <a:xfrm>
            <a:off x="9432637" y="4969166"/>
            <a:ext cx="1079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Doctor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518237" y="5832766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7" name="Text 35"/>
          <p:cNvSpPr/>
          <p:nvPr/>
        </p:nvSpPr>
        <p:spPr>
          <a:xfrm>
            <a:off x="8772237" y="5731166"/>
            <a:ext cx="191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 in DB: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DOCTOR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518237" y="6289966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9" name="Text 37"/>
          <p:cNvSpPr/>
          <p:nvPr/>
        </p:nvSpPr>
        <p:spPr>
          <a:xfrm>
            <a:off x="8772237" y="6188366"/>
            <a:ext cx="2578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Has private key: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Has keypair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518237" y="6747166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41" name="Text 39"/>
          <p:cNvSpPr/>
          <p:nvPr/>
        </p:nvSpPr>
        <p:spPr>
          <a:xfrm>
            <a:off x="8772237" y="6645566"/>
            <a:ext cx="2400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 grant permissions: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518237" y="7204366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43" name="Text 41"/>
          <p:cNvSpPr/>
          <p:nvPr/>
        </p:nvSpPr>
        <p:spPr>
          <a:xfrm>
            <a:off x="8772237" y="7102766"/>
            <a:ext cx="2552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 revoke permissions: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518237" y="7661566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45" name="Text 43"/>
          <p:cNvSpPr/>
          <p:nvPr/>
        </p:nvSpPr>
        <p:spPr>
          <a:xfrm>
            <a:off x="8772237" y="7559966"/>
            <a:ext cx="2755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Identified by: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public_key_hash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518237" y="8118766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47" name="Text 45"/>
          <p:cNvSpPr/>
          <p:nvPr/>
        </p:nvSpPr>
        <p:spPr>
          <a:xfrm>
            <a:off x="8772237" y="8017166"/>
            <a:ext cx="222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Dashboard: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Doctor.html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518237" y="8525166"/>
            <a:ext cx="6972300" cy="863600"/>
          </a:xfrm>
          <a:custGeom>
            <a:avLst/>
            <a:gdLst/>
            <a:ahLst/>
            <a:cxnLst/>
            <a:rect l="l" t="t" r="r" b="b"/>
            <a:pathLst>
              <a:path w="6972300" h="863600">
                <a:moveTo>
                  <a:pt x="101603" y="0"/>
                </a:moveTo>
                <a:lnTo>
                  <a:pt x="6870697" y="0"/>
                </a:lnTo>
                <a:cubicBezTo>
                  <a:pt x="6926811" y="0"/>
                  <a:pt x="6972300" y="45489"/>
                  <a:pt x="6972300" y="101603"/>
                </a:cubicBezTo>
                <a:lnTo>
                  <a:pt x="6972300" y="761997"/>
                </a:lnTo>
                <a:cubicBezTo>
                  <a:pt x="6972300" y="818111"/>
                  <a:pt x="6926811" y="863600"/>
                  <a:pt x="68706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8670637" y="8677566"/>
            <a:ext cx="675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 Model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670637" y="8982366"/>
            <a:ext cx="675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 only access records when patients explicitly grant permission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755aebae707bd3a2e0e53e5addc2a8a50cb23dde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12540" b="12540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4A5C6A">
                  <a:alpha val="8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6817519" y="2332185"/>
            <a:ext cx="2625436" cy="669636"/>
          </a:xfrm>
          <a:custGeom>
            <a:avLst/>
            <a:gdLst/>
            <a:ahLst/>
            <a:cxnLst/>
            <a:rect l="l" t="t" r="r" b="b"/>
            <a:pathLst>
              <a:path w="2625436" h="669636">
                <a:moveTo>
                  <a:pt x="152403" y="0"/>
                </a:moveTo>
                <a:lnTo>
                  <a:pt x="2473034" y="0"/>
                </a:lnTo>
                <a:cubicBezTo>
                  <a:pt x="2557203" y="0"/>
                  <a:pt x="2625436" y="68233"/>
                  <a:pt x="2625436" y="152403"/>
                </a:cubicBezTo>
                <a:lnTo>
                  <a:pt x="2625436" y="517234"/>
                </a:lnTo>
                <a:cubicBezTo>
                  <a:pt x="2625436" y="601403"/>
                  <a:pt x="2557203" y="669636"/>
                  <a:pt x="2473034" y="669636"/>
                </a:cubicBezTo>
                <a:lnTo>
                  <a:pt x="152403" y="669636"/>
                </a:lnTo>
                <a:cubicBezTo>
                  <a:pt x="68233" y="669636"/>
                  <a:pt x="0" y="601403"/>
                  <a:pt x="0" y="517234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solidFill>
            <a:srgbClr val="38A3A5">
              <a:alpha val="20000"/>
            </a:srgbClr>
          </a:solidFill>
          <a:ln w="9236">
            <a:solidFill>
              <a:srgbClr val="38A3A5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063437" y="2526147"/>
            <a:ext cx="2129054" cy="281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spc="200" kern="0" dirty="0">
                <a:solidFill>
                  <a:srgbClr val="38A3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Two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080034" y="3412840"/>
            <a:ext cx="20955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96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976957" y="4936840"/>
            <a:ext cx="6299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800" b="1" dirty="0">
                <a:solidFill>
                  <a:srgbClr val="8D99A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Encryption &amp; Security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112000" y="5952840"/>
            <a:ext cx="2032000" cy="50800"/>
          </a:xfrm>
          <a:custGeom>
            <a:avLst/>
            <a:gdLst/>
            <a:ahLst/>
            <a:cxnLst/>
            <a:rect l="l" t="t" r="r" b="b"/>
            <a:pathLst>
              <a:path w="2032000" h="50800">
                <a:moveTo>
                  <a:pt x="0" y="0"/>
                </a:moveTo>
                <a:lnTo>
                  <a:pt x="2032000" y="0"/>
                </a:lnTo>
                <a:lnTo>
                  <a:pt x="2032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9" name="Text 6"/>
          <p:cNvSpPr/>
          <p:nvPr/>
        </p:nvSpPr>
        <p:spPr>
          <a:xfrm>
            <a:off x="3863542" y="6410040"/>
            <a:ext cx="8534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dirty="0">
                <a:solidFill>
                  <a:srgbClr val="EDF2F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medical records are protected with multi-layer encryption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spc="140" kern="0" dirty="0">
                <a:solidFill>
                  <a:srgbClr val="38A3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Encryption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Medical Record Encryption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240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5" name="Shape 3"/>
          <p:cNvSpPr/>
          <p:nvPr/>
        </p:nvSpPr>
        <p:spPr>
          <a:xfrm>
            <a:off x="512618" y="1782618"/>
            <a:ext cx="7489536" cy="7730836"/>
          </a:xfrm>
          <a:custGeom>
            <a:avLst/>
            <a:gdLst/>
            <a:ahLst/>
            <a:cxnLst/>
            <a:rect l="l" t="t" r="r" b="b"/>
            <a:pathLst>
              <a:path w="7489536" h="7730836">
                <a:moveTo>
                  <a:pt x="152412" y="0"/>
                </a:moveTo>
                <a:lnTo>
                  <a:pt x="7337124" y="0"/>
                </a:lnTo>
                <a:cubicBezTo>
                  <a:pt x="7421299" y="0"/>
                  <a:pt x="7489536" y="68237"/>
                  <a:pt x="7489536" y="152412"/>
                </a:cubicBezTo>
                <a:lnTo>
                  <a:pt x="7489536" y="7578424"/>
                </a:lnTo>
                <a:cubicBezTo>
                  <a:pt x="7489536" y="7662599"/>
                  <a:pt x="7421299" y="7730836"/>
                  <a:pt x="7337124" y="7730836"/>
                </a:cubicBezTo>
                <a:lnTo>
                  <a:pt x="152412" y="7730836"/>
                </a:lnTo>
                <a:cubicBezTo>
                  <a:pt x="68237" y="7730836"/>
                  <a:pt x="0" y="7662599"/>
                  <a:pt x="0" y="7578424"/>
                </a:cubicBezTo>
                <a:lnTo>
                  <a:pt x="0" y="152412"/>
                </a:lnTo>
                <a:cubicBezTo>
                  <a:pt x="0" y="68294"/>
                  <a:pt x="68294" y="0"/>
                  <a:pt x="15241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9236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4736" y="209204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63500" y="47625"/>
                </a:moveTo>
                <a:lnTo>
                  <a:pt x="63500" y="79375"/>
                </a:lnTo>
                <a:lnTo>
                  <a:pt x="127000" y="79375"/>
                </a:lnTo>
                <a:lnTo>
                  <a:pt x="127000" y="47625"/>
                </a:lnTo>
                <a:cubicBezTo>
                  <a:pt x="127000" y="30113"/>
                  <a:pt x="112762" y="15875"/>
                  <a:pt x="95250" y="15875"/>
                </a:cubicBezTo>
                <a:cubicBezTo>
                  <a:pt x="77738" y="15875"/>
                  <a:pt x="63500" y="30113"/>
                  <a:pt x="63500" y="47625"/>
                </a:cubicBezTo>
                <a:close/>
                <a:moveTo>
                  <a:pt x="31750" y="79375"/>
                </a:moveTo>
                <a:lnTo>
                  <a:pt x="31750" y="47625"/>
                </a:lnTo>
                <a:cubicBezTo>
                  <a:pt x="31750" y="12551"/>
                  <a:pt x="60176" y="-15875"/>
                  <a:pt x="95250" y="-15875"/>
                </a:cubicBezTo>
                <a:cubicBezTo>
                  <a:pt x="130324" y="-15875"/>
                  <a:pt x="158750" y="12551"/>
                  <a:pt x="158750" y="47625"/>
                </a:cubicBezTo>
                <a:lnTo>
                  <a:pt x="158750" y="79375"/>
                </a:lnTo>
                <a:cubicBezTo>
                  <a:pt x="176262" y="79375"/>
                  <a:pt x="190500" y="93613"/>
                  <a:pt x="190500" y="111125"/>
                </a:cubicBezTo>
                <a:lnTo>
                  <a:pt x="190500" y="222250"/>
                </a:lnTo>
                <a:cubicBezTo>
                  <a:pt x="190500" y="239762"/>
                  <a:pt x="176262" y="254000"/>
                  <a:pt x="158750" y="254000"/>
                </a:cubicBezTo>
                <a:lnTo>
                  <a:pt x="31750" y="254000"/>
                </a:lnTo>
                <a:cubicBezTo>
                  <a:pt x="14238" y="254000"/>
                  <a:pt x="0" y="239762"/>
                  <a:pt x="0" y="222250"/>
                </a:cubicBezTo>
                <a:lnTo>
                  <a:pt x="0" y="111125"/>
                </a:lnTo>
                <a:cubicBezTo>
                  <a:pt x="0" y="93613"/>
                  <a:pt x="14238" y="79375"/>
                  <a:pt x="31750" y="79375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7" name="Text 5"/>
          <p:cNvSpPr/>
          <p:nvPr/>
        </p:nvSpPr>
        <p:spPr>
          <a:xfrm>
            <a:off x="1088736" y="2041240"/>
            <a:ext cx="6781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Designed Flow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1236" y="260004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9" name="Text 7"/>
          <p:cNvSpPr/>
          <p:nvPr/>
        </p:nvSpPr>
        <p:spPr>
          <a:xfrm>
            <a:off x="992981" y="2701640"/>
            <a:ext cx="165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1636" y="2600040"/>
            <a:ext cx="6413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Doctor Uploads File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31636" y="2955640"/>
            <a:ext cx="6400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PDF, image, or structured data hits upload endpoint. Encryption begins immediately - file never written to disk in plaintext.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71236" y="361604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13" name="Text 11"/>
          <p:cNvSpPr/>
          <p:nvPr/>
        </p:nvSpPr>
        <p:spPr>
          <a:xfrm>
            <a:off x="973498" y="3717640"/>
            <a:ext cx="20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31636" y="3616040"/>
            <a:ext cx="6413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 Random DEK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31636" y="3971640"/>
            <a:ext cx="6400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Fresh 256-bit random key generated for this specific file. Symmetric AES key, fresh for every record.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71236" y="463204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17" name="Text 15"/>
          <p:cNvSpPr/>
          <p:nvPr/>
        </p:nvSpPr>
        <p:spPr>
          <a:xfrm>
            <a:off x="970828" y="4733640"/>
            <a:ext cx="215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31636" y="4632040"/>
            <a:ext cx="6413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AES-256-GCM Encryption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1636" y="4987640"/>
            <a:ext cx="6400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Authenticated encryption - encrypts data AND produces authentication tag. Any tampering is detectable.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71236" y="564804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21" name="Text 19"/>
          <p:cNvSpPr/>
          <p:nvPr/>
        </p:nvSpPr>
        <p:spPr>
          <a:xfrm>
            <a:off x="973571" y="5749640"/>
            <a:ext cx="20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31636" y="5648040"/>
            <a:ext cx="6413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ECIES Encrypt DEK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31636" y="6003640"/>
            <a:ext cx="6400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DEK encrypted using patient's ECDSA P-256 public key via ECIES. Only patient can decrypt.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71236" y="666404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25" name="Text 23"/>
          <p:cNvSpPr/>
          <p:nvPr/>
        </p:nvSpPr>
        <p:spPr>
          <a:xfrm>
            <a:off x="970540" y="6765640"/>
            <a:ext cx="215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31636" y="6664040"/>
            <a:ext cx="6413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Write MedicalRecordBlock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31636" y="7019640"/>
            <a:ext cx="6400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Store metadata only - encrypted blob to S3, metadata to DB. Never store plaintext.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71236" y="768004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29" name="Text 27"/>
          <p:cNvSpPr/>
          <p:nvPr/>
        </p:nvSpPr>
        <p:spPr>
          <a:xfrm>
            <a:off x="969241" y="7781640"/>
            <a:ext cx="215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31636" y="7680040"/>
            <a:ext cx="6413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Blockchain Commit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431636" y="8035640"/>
            <a:ext cx="6400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SHA-256 of metadata stored as block_hash with merkle_root and validator_signatures. Provably immutable.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12618" y="9725891"/>
            <a:ext cx="7489536" cy="1863436"/>
          </a:xfrm>
          <a:custGeom>
            <a:avLst/>
            <a:gdLst/>
            <a:ahLst/>
            <a:cxnLst/>
            <a:rect l="l" t="t" r="r" b="b"/>
            <a:pathLst>
              <a:path w="7489536" h="1863436">
                <a:moveTo>
                  <a:pt x="152392" y="0"/>
                </a:moveTo>
                <a:lnTo>
                  <a:pt x="7337145" y="0"/>
                </a:lnTo>
                <a:cubicBezTo>
                  <a:pt x="7421308" y="0"/>
                  <a:pt x="7489536" y="68228"/>
                  <a:pt x="7489536" y="152392"/>
                </a:cubicBezTo>
                <a:lnTo>
                  <a:pt x="7489536" y="1711045"/>
                </a:lnTo>
                <a:cubicBezTo>
                  <a:pt x="7489536" y="1795208"/>
                  <a:pt x="7421308" y="1863436"/>
                  <a:pt x="7337145" y="1863436"/>
                </a:cubicBezTo>
                <a:lnTo>
                  <a:pt x="152392" y="1863436"/>
                </a:lnTo>
                <a:cubicBezTo>
                  <a:pt x="68228" y="1863436"/>
                  <a:pt x="0" y="1795208"/>
                  <a:pt x="0" y="1711045"/>
                </a:cubicBezTo>
                <a:lnTo>
                  <a:pt x="0" y="152392"/>
                </a:lnTo>
                <a:cubicBezTo>
                  <a:pt x="0" y="68228"/>
                  <a:pt x="68228" y="0"/>
                  <a:pt x="152392" y="0"/>
                </a:cubicBezTo>
                <a:close/>
              </a:path>
            </a:pathLst>
          </a:custGeom>
          <a:solidFill>
            <a:srgbClr val="38A3A5">
              <a:alpha val="10196"/>
            </a:srgbClr>
          </a:solidFill>
          <a:ln w="9236">
            <a:solidFill>
              <a:srgbClr val="38A3A5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6311" y="9984513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11125" y="123031"/>
                </a:moveTo>
                <a:cubicBezTo>
                  <a:pt x="143981" y="123031"/>
                  <a:pt x="170656" y="96356"/>
                  <a:pt x="170656" y="63500"/>
                </a:cubicBezTo>
                <a:cubicBezTo>
                  <a:pt x="170656" y="30644"/>
                  <a:pt x="143981" y="3969"/>
                  <a:pt x="111125" y="3969"/>
                </a:cubicBezTo>
                <a:cubicBezTo>
                  <a:pt x="78269" y="3969"/>
                  <a:pt x="51594" y="30644"/>
                  <a:pt x="51594" y="63500"/>
                </a:cubicBezTo>
                <a:cubicBezTo>
                  <a:pt x="51594" y="96356"/>
                  <a:pt x="78269" y="123031"/>
                  <a:pt x="111125" y="123031"/>
                </a:cubicBezTo>
                <a:close/>
                <a:moveTo>
                  <a:pt x="96391" y="150813"/>
                </a:moveTo>
                <a:cubicBezTo>
                  <a:pt x="47526" y="150813"/>
                  <a:pt x="7938" y="190401"/>
                  <a:pt x="7938" y="239266"/>
                </a:cubicBezTo>
                <a:cubicBezTo>
                  <a:pt x="7938" y="247402"/>
                  <a:pt x="14536" y="254000"/>
                  <a:pt x="22671" y="254000"/>
                </a:cubicBezTo>
                <a:lnTo>
                  <a:pt x="147439" y="254000"/>
                </a:lnTo>
                <a:cubicBezTo>
                  <a:pt x="129480" y="232866"/>
                  <a:pt x="119063" y="205631"/>
                  <a:pt x="119063" y="176808"/>
                </a:cubicBezTo>
                <a:lnTo>
                  <a:pt x="119063" y="161379"/>
                </a:lnTo>
                <a:cubicBezTo>
                  <a:pt x="119063" y="157758"/>
                  <a:pt x="119559" y="154186"/>
                  <a:pt x="120501" y="150812"/>
                </a:cubicBezTo>
                <a:lnTo>
                  <a:pt x="96391" y="150812"/>
                </a:lnTo>
                <a:close/>
                <a:moveTo>
                  <a:pt x="220911" y="242342"/>
                </a:moveTo>
                <a:lnTo>
                  <a:pt x="214313" y="245467"/>
                </a:lnTo>
                <a:lnTo>
                  <a:pt x="214313" y="152152"/>
                </a:lnTo>
                <a:lnTo>
                  <a:pt x="261937" y="168027"/>
                </a:lnTo>
                <a:lnTo>
                  <a:pt x="261937" y="177750"/>
                </a:lnTo>
                <a:cubicBezTo>
                  <a:pt x="261937" y="205432"/>
                  <a:pt x="245963" y="230584"/>
                  <a:pt x="220911" y="242391"/>
                </a:cubicBezTo>
                <a:close/>
                <a:moveTo>
                  <a:pt x="209302" y="128736"/>
                </a:moveTo>
                <a:lnTo>
                  <a:pt x="153739" y="147241"/>
                </a:lnTo>
                <a:cubicBezTo>
                  <a:pt x="147241" y="149423"/>
                  <a:pt x="142875" y="155476"/>
                  <a:pt x="142875" y="162322"/>
                </a:cubicBezTo>
                <a:lnTo>
                  <a:pt x="142875" y="177750"/>
                </a:lnTo>
                <a:cubicBezTo>
                  <a:pt x="142875" y="214660"/>
                  <a:pt x="164207" y="248245"/>
                  <a:pt x="197545" y="263922"/>
                </a:cubicBezTo>
                <a:lnTo>
                  <a:pt x="206722" y="268238"/>
                </a:lnTo>
                <a:cubicBezTo>
                  <a:pt x="209104" y="269329"/>
                  <a:pt x="211683" y="269925"/>
                  <a:pt x="214263" y="269925"/>
                </a:cubicBezTo>
                <a:cubicBezTo>
                  <a:pt x="216843" y="269925"/>
                  <a:pt x="219472" y="269329"/>
                  <a:pt x="221804" y="268238"/>
                </a:cubicBezTo>
                <a:lnTo>
                  <a:pt x="230981" y="263922"/>
                </a:lnTo>
                <a:cubicBezTo>
                  <a:pt x="264418" y="248196"/>
                  <a:pt x="285750" y="214610"/>
                  <a:pt x="285750" y="177701"/>
                </a:cubicBezTo>
                <a:lnTo>
                  <a:pt x="285750" y="162272"/>
                </a:lnTo>
                <a:cubicBezTo>
                  <a:pt x="285750" y="155426"/>
                  <a:pt x="281384" y="149374"/>
                  <a:pt x="274886" y="147191"/>
                </a:cubicBezTo>
                <a:lnTo>
                  <a:pt x="219323" y="128687"/>
                </a:lnTo>
                <a:cubicBezTo>
                  <a:pt x="216049" y="127595"/>
                  <a:pt x="212527" y="127595"/>
                  <a:pt x="209302" y="128687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34" name="Text 32"/>
          <p:cNvSpPr/>
          <p:nvPr/>
        </p:nvSpPr>
        <p:spPr>
          <a:xfrm>
            <a:off x="1190336" y="9933713"/>
            <a:ext cx="241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Patient-Centric Design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20436" y="10390913"/>
            <a:ext cx="71755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Doctor can upload record, but after upload,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38A3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only the patient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(with their private key) can decrypt the DEK and therefore decrypt the file. Even the doctor who uploaded it can't access without patient-signed permission.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259618" y="1782618"/>
            <a:ext cx="7489536" cy="7730836"/>
          </a:xfrm>
          <a:custGeom>
            <a:avLst/>
            <a:gdLst/>
            <a:ahLst/>
            <a:cxnLst/>
            <a:rect l="l" t="t" r="r" b="b"/>
            <a:pathLst>
              <a:path w="7489536" h="7730836">
                <a:moveTo>
                  <a:pt x="152412" y="0"/>
                </a:moveTo>
                <a:lnTo>
                  <a:pt x="7337124" y="0"/>
                </a:lnTo>
                <a:cubicBezTo>
                  <a:pt x="7421299" y="0"/>
                  <a:pt x="7489536" y="68237"/>
                  <a:pt x="7489536" y="152412"/>
                </a:cubicBezTo>
                <a:lnTo>
                  <a:pt x="7489536" y="7578424"/>
                </a:lnTo>
                <a:cubicBezTo>
                  <a:pt x="7489536" y="7662599"/>
                  <a:pt x="7421299" y="7730836"/>
                  <a:pt x="7337124" y="7730836"/>
                </a:cubicBezTo>
                <a:lnTo>
                  <a:pt x="152412" y="7730836"/>
                </a:lnTo>
                <a:cubicBezTo>
                  <a:pt x="68237" y="7730836"/>
                  <a:pt x="0" y="7662599"/>
                  <a:pt x="0" y="7578424"/>
                </a:cubicBezTo>
                <a:lnTo>
                  <a:pt x="0" y="152412"/>
                </a:lnTo>
                <a:cubicBezTo>
                  <a:pt x="0" y="68294"/>
                  <a:pt x="68294" y="0"/>
                  <a:pt x="15241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9236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565862" y="209204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222250" y="102096"/>
                </a:moveTo>
                <a:cubicBezTo>
                  <a:pt x="214908" y="106958"/>
                  <a:pt x="206474" y="110877"/>
                  <a:pt x="197693" y="114002"/>
                </a:cubicBezTo>
                <a:cubicBezTo>
                  <a:pt x="174377" y="122337"/>
                  <a:pt x="143768" y="127000"/>
                  <a:pt x="111125" y="127000"/>
                </a:cubicBezTo>
                <a:cubicBezTo>
                  <a:pt x="78482" y="127000"/>
                  <a:pt x="47823" y="122287"/>
                  <a:pt x="24557" y="114002"/>
                </a:cubicBezTo>
                <a:cubicBezTo>
                  <a:pt x="15825" y="110877"/>
                  <a:pt x="7342" y="106958"/>
                  <a:pt x="0" y="102096"/>
                </a:cubicBezTo>
                <a:lnTo>
                  <a:pt x="0" y="142875"/>
                </a:lnTo>
                <a:cubicBezTo>
                  <a:pt x="0" y="164802"/>
                  <a:pt x="49758" y="182563"/>
                  <a:pt x="111125" y="182563"/>
                </a:cubicBezTo>
                <a:cubicBezTo>
                  <a:pt x="172492" y="182563"/>
                  <a:pt x="222250" y="164802"/>
                  <a:pt x="222250" y="142875"/>
                </a:cubicBezTo>
                <a:lnTo>
                  <a:pt x="222250" y="102096"/>
                </a:lnTo>
                <a:close/>
                <a:moveTo>
                  <a:pt x="222250" y="63500"/>
                </a:moveTo>
                <a:lnTo>
                  <a:pt x="222250" y="39688"/>
                </a:lnTo>
                <a:cubicBezTo>
                  <a:pt x="222250" y="17760"/>
                  <a:pt x="172492" y="0"/>
                  <a:pt x="111125" y="0"/>
                </a:cubicBezTo>
                <a:cubicBezTo>
                  <a:pt x="49758" y="0"/>
                  <a:pt x="0" y="17760"/>
                  <a:pt x="0" y="39688"/>
                </a:cubicBezTo>
                <a:lnTo>
                  <a:pt x="0" y="63500"/>
                </a:lnTo>
                <a:cubicBezTo>
                  <a:pt x="0" y="85427"/>
                  <a:pt x="49758" y="103188"/>
                  <a:pt x="111125" y="103188"/>
                </a:cubicBezTo>
                <a:cubicBezTo>
                  <a:pt x="172492" y="103188"/>
                  <a:pt x="222250" y="85427"/>
                  <a:pt x="222250" y="63500"/>
                </a:cubicBezTo>
                <a:close/>
                <a:moveTo>
                  <a:pt x="197693" y="193377"/>
                </a:moveTo>
                <a:cubicBezTo>
                  <a:pt x="174427" y="201662"/>
                  <a:pt x="143818" y="206375"/>
                  <a:pt x="111125" y="206375"/>
                </a:cubicBezTo>
                <a:cubicBezTo>
                  <a:pt x="78432" y="206375"/>
                  <a:pt x="47823" y="201662"/>
                  <a:pt x="24557" y="193377"/>
                </a:cubicBezTo>
                <a:cubicBezTo>
                  <a:pt x="15825" y="190252"/>
                  <a:pt x="7342" y="186333"/>
                  <a:pt x="0" y="181471"/>
                </a:cubicBezTo>
                <a:lnTo>
                  <a:pt x="0" y="214313"/>
                </a:lnTo>
                <a:cubicBezTo>
                  <a:pt x="0" y="236240"/>
                  <a:pt x="49758" y="254000"/>
                  <a:pt x="111125" y="254000"/>
                </a:cubicBezTo>
                <a:cubicBezTo>
                  <a:pt x="172492" y="254000"/>
                  <a:pt x="222250" y="236240"/>
                  <a:pt x="222250" y="214313"/>
                </a:cubicBezTo>
                <a:lnTo>
                  <a:pt x="222250" y="181471"/>
                </a:lnTo>
                <a:cubicBezTo>
                  <a:pt x="214908" y="186333"/>
                  <a:pt x="206474" y="190252"/>
                  <a:pt x="197693" y="193377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38" name="Text 36"/>
          <p:cNvSpPr/>
          <p:nvPr/>
        </p:nvSpPr>
        <p:spPr>
          <a:xfrm>
            <a:off x="8835737" y="2041240"/>
            <a:ext cx="6781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MedicalRecordBlock Schema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543637" y="2600040"/>
            <a:ext cx="6946900" cy="863600"/>
          </a:xfrm>
          <a:custGeom>
            <a:avLst/>
            <a:gdLst/>
            <a:ahLst/>
            <a:cxnLst/>
            <a:rect l="l" t="t" r="r" b="b"/>
            <a:pathLst>
              <a:path w="6946900" h="863600">
                <a:moveTo>
                  <a:pt x="50800" y="0"/>
                </a:moveTo>
                <a:lnTo>
                  <a:pt x="6845297" y="0"/>
                </a:lnTo>
                <a:cubicBezTo>
                  <a:pt x="6901411" y="0"/>
                  <a:pt x="6946900" y="45489"/>
                  <a:pt x="6946900" y="101603"/>
                </a:cubicBezTo>
                <a:lnTo>
                  <a:pt x="6946900" y="761997"/>
                </a:lnTo>
                <a:cubicBezTo>
                  <a:pt x="6946900" y="818111"/>
                  <a:pt x="6901411" y="863600"/>
                  <a:pt x="6845297" y="863600"/>
                </a:cubicBezTo>
                <a:lnTo>
                  <a:pt x="50800" y="863600"/>
                </a:lnTo>
                <a:cubicBezTo>
                  <a:pt x="22763" y="863600"/>
                  <a:pt x="0" y="840837"/>
                  <a:pt x="0" y="81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543637" y="2600040"/>
            <a:ext cx="50800" cy="863600"/>
          </a:xfrm>
          <a:custGeom>
            <a:avLst/>
            <a:gdLst/>
            <a:ahLst/>
            <a:cxnLst/>
            <a:rect l="l" t="t" r="r" b="b"/>
            <a:pathLst>
              <a:path w="50800" h="863600">
                <a:moveTo>
                  <a:pt x="50800" y="0"/>
                </a:moveTo>
                <a:lnTo>
                  <a:pt x="50800" y="0"/>
                </a:lnTo>
                <a:lnTo>
                  <a:pt x="50800" y="863600"/>
                </a:lnTo>
                <a:lnTo>
                  <a:pt x="50800" y="863600"/>
                </a:lnTo>
                <a:cubicBezTo>
                  <a:pt x="22763" y="863600"/>
                  <a:pt x="0" y="840837"/>
                  <a:pt x="0" y="81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41" name="Text 39"/>
          <p:cNvSpPr/>
          <p:nvPr/>
        </p:nvSpPr>
        <p:spPr>
          <a:xfrm>
            <a:off x="8721437" y="2752440"/>
            <a:ext cx="1054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record_id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3949724" y="2777840"/>
            <a:ext cx="1460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8A3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SHA-256 of plaintext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721437" y="3057240"/>
            <a:ext cx="670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Integrity verification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543637" y="3565240"/>
            <a:ext cx="6946900" cy="863600"/>
          </a:xfrm>
          <a:custGeom>
            <a:avLst/>
            <a:gdLst/>
            <a:ahLst/>
            <a:cxnLst/>
            <a:rect l="l" t="t" r="r" b="b"/>
            <a:pathLst>
              <a:path w="6946900" h="863600">
                <a:moveTo>
                  <a:pt x="50800" y="0"/>
                </a:moveTo>
                <a:lnTo>
                  <a:pt x="6845297" y="0"/>
                </a:lnTo>
                <a:cubicBezTo>
                  <a:pt x="6901411" y="0"/>
                  <a:pt x="6946900" y="45489"/>
                  <a:pt x="6946900" y="101603"/>
                </a:cubicBezTo>
                <a:lnTo>
                  <a:pt x="6946900" y="761997"/>
                </a:lnTo>
                <a:cubicBezTo>
                  <a:pt x="6946900" y="818111"/>
                  <a:pt x="6901411" y="863600"/>
                  <a:pt x="6845297" y="863600"/>
                </a:cubicBezTo>
                <a:lnTo>
                  <a:pt x="50800" y="863600"/>
                </a:lnTo>
                <a:cubicBezTo>
                  <a:pt x="22763" y="863600"/>
                  <a:pt x="0" y="840837"/>
                  <a:pt x="0" y="81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543637" y="3565240"/>
            <a:ext cx="50800" cy="863600"/>
          </a:xfrm>
          <a:custGeom>
            <a:avLst/>
            <a:gdLst/>
            <a:ahLst/>
            <a:cxnLst/>
            <a:rect l="l" t="t" r="r" b="b"/>
            <a:pathLst>
              <a:path w="50800" h="863600">
                <a:moveTo>
                  <a:pt x="50800" y="0"/>
                </a:moveTo>
                <a:lnTo>
                  <a:pt x="50800" y="0"/>
                </a:lnTo>
                <a:lnTo>
                  <a:pt x="50800" y="863600"/>
                </a:lnTo>
                <a:lnTo>
                  <a:pt x="50800" y="863600"/>
                </a:lnTo>
                <a:cubicBezTo>
                  <a:pt x="22763" y="863600"/>
                  <a:pt x="0" y="840837"/>
                  <a:pt x="0" y="81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46" name="Text 44"/>
          <p:cNvSpPr/>
          <p:nvPr/>
        </p:nvSpPr>
        <p:spPr>
          <a:xfrm>
            <a:off x="8721437" y="3717640"/>
            <a:ext cx="1371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content_hash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3949724" y="3743040"/>
            <a:ext cx="1460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8A3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SHA-256 of plaintext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721437" y="4022440"/>
            <a:ext cx="670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Proves no tampering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543637" y="4530440"/>
            <a:ext cx="6946900" cy="863600"/>
          </a:xfrm>
          <a:custGeom>
            <a:avLst/>
            <a:gdLst/>
            <a:ahLst/>
            <a:cxnLst/>
            <a:rect l="l" t="t" r="r" b="b"/>
            <a:pathLst>
              <a:path w="6946900" h="863600">
                <a:moveTo>
                  <a:pt x="50800" y="0"/>
                </a:moveTo>
                <a:lnTo>
                  <a:pt x="6845297" y="0"/>
                </a:lnTo>
                <a:cubicBezTo>
                  <a:pt x="6901411" y="0"/>
                  <a:pt x="6946900" y="45489"/>
                  <a:pt x="6946900" y="101603"/>
                </a:cubicBezTo>
                <a:lnTo>
                  <a:pt x="6946900" y="761997"/>
                </a:lnTo>
                <a:cubicBezTo>
                  <a:pt x="6946900" y="818111"/>
                  <a:pt x="6901411" y="863600"/>
                  <a:pt x="6845297" y="863600"/>
                </a:cubicBezTo>
                <a:lnTo>
                  <a:pt x="50800" y="863600"/>
                </a:lnTo>
                <a:cubicBezTo>
                  <a:pt x="22763" y="863600"/>
                  <a:pt x="0" y="840837"/>
                  <a:pt x="0" y="81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543637" y="4530440"/>
            <a:ext cx="50800" cy="863600"/>
          </a:xfrm>
          <a:custGeom>
            <a:avLst/>
            <a:gdLst/>
            <a:ahLst/>
            <a:cxnLst/>
            <a:rect l="l" t="t" r="r" b="b"/>
            <a:pathLst>
              <a:path w="50800" h="863600">
                <a:moveTo>
                  <a:pt x="50800" y="0"/>
                </a:moveTo>
                <a:lnTo>
                  <a:pt x="50800" y="0"/>
                </a:lnTo>
                <a:lnTo>
                  <a:pt x="50800" y="863600"/>
                </a:lnTo>
                <a:lnTo>
                  <a:pt x="50800" y="863600"/>
                </a:lnTo>
                <a:cubicBezTo>
                  <a:pt x="22763" y="863600"/>
                  <a:pt x="0" y="840837"/>
                  <a:pt x="0" y="81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51" name="Text 49"/>
          <p:cNvSpPr/>
          <p:nvPr/>
        </p:nvSpPr>
        <p:spPr>
          <a:xfrm>
            <a:off x="8721437" y="468284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encrypted_dek_hex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4239154" y="4708240"/>
            <a:ext cx="1168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8A3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ECIES encrypted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721437" y="4987640"/>
            <a:ext cx="670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DEK encrypted with patient public key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543637" y="5495640"/>
            <a:ext cx="6946900" cy="863600"/>
          </a:xfrm>
          <a:custGeom>
            <a:avLst/>
            <a:gdLst/>
            <a:ahLst/>
            <a:cxnLst/>
            <a:rect l="l" t="t" r="r" b="b"/>
            <a:pathLst>
              <a:path w="6946900" h="863600">
                <a:moveTo>
                  <a:pt x="50800" y="0"/>
                </a:moveTo>
                <a:lnTo>
                  <a:pt x="6845297" y="0"/>
                </a:lnTo>
                <a:cubicBezTo>
                  <a:pt x="6901411" y="0"/>
                  <a:pt x="6946900" y="45489"/>
                  <a:pt x="6946900" y="101603"/>
                </a:cubicBezTo>
                <a:lnTo>
                  <a:pt x="6946900" y="761997"/>
                </a:lnTo>
                <a:cubicBezTo>
                  <a:pt x="6946900" y="818111"/>
                  <a:pt x="6901411" y="863600"/>
                  <a:pt x="6845297" y="863600"/>
                </a:cubicBezTo>
                <a:lnTo>
                  <a:pt x="50800" y="863600"/>
                </a:lnTo>
                <a:cubicBezTo>
                  <a:pt x="22763" y="863600"/>
                  <a:pt x="0" y="840837"/>
                  <a:pt x="0" y="81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543637" y="5495640"/>
            <a:ext cx="50800" cy="863600"/>
          </a:xfrm>
          <a:custGeom>
            <a:avLst/>
            <a:gdLst/>
            <a:ahLst/>
            <a:cxnLst/>
            <a:rect l="l" t="t" r="r" b="b"/>
            <a:pathLst>
              <a:path w="50800" h="863600">
                <a:moveTo>
                  <a:pt x="50800" y="0"/>
                </a:moveTo>
                <a:lnTo>
                  <a:pt x="50800" y="0"/>
                </a:lnTo>
                <a:lnTo>
                  <a:pt x="50800" y="863600"/>
                </a:lnTo>
                <a:lnTo>
                  <a:pt x="50800" y="863600"/>
                </a:lnTo>
                <a:cubicBezTo>
                  <a:pt x="22763" y="863600"/>
                  <a:pt x="0" y="840837"/>
                  <a:pt x="0" y="81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56" name="Text 54"/>
          <p:cNvSpPr/>
          <p:nvPr/>
        </p:nvSpPr>
        <p:spPr>
          <a:xfrm>
            <a:off x="8721437" y="5648040"/>
            <a:ext cx="939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dek_salt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4514224" y="5673440"/>
            <a:ext cx="889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8A3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salt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721437" y="5952840"/>
            <a:ext cx="670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Used in key derivation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543637" y="6460840"/>
            <a:ext cx="6946900" cy="863600"/>
          </a:xfrm>
          <a:custGeom>
            <a:avLst/>
            <a:gdLst/>
            <a:ahLst/>
            <a:cxnLst/>
            <a:rect l="l" t="t" r="r" b="b"/>
            <a:pathLst>
              <a:path w="6946900" h="863600">
                <a:moveTo>
                  <a:pt x="50800" y="0"/>
                </a:moveTo>
                <a:lnTo>
                  <a:pt x="6845297" y="0"/>
                </a:lnTo>
                <a:cubicBezTo>
                  <a:pt x="6901411" y="0"/>
                  <a:pt x="6946900" y="45489"/>
                  <a:pt x="6946900" y="101603"/>
                </a:cubicBezTo>
                <a:lnTo>
                  <a:pt x="6946900" y="761997"/>
                </a:lnTo>
                <a:cubicBezTo>
                  <a:pt x="6946900" y="818111"/>
                  <a:pt x="6901411" y="863600"/>
                  <a:pt x="6845297" y="863600"/>
                </a:cubicBezTo>
                <a:lnTo>
                  <a:pt x="50800" y="863600"/>
                </a:lnTo>
                <a:cubicBezTo>
                  <a:pt x="22763" y="863600"/>
                  <a:pt x="0" y="840837"/>
                  <a:pt x="0" y="81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543637" y="6460840"/>
            <a:ext cx="50800" cy="863600"/>
          </a:xfrm>
          <a:custGeom>
            <a:avLst/>
            <a:gdLst/>
            <a:ahLst/>
            <a:cxnLst/>
            <a:rect l="l" t="t" r="r" b="b"/>
            <a:pathLst>
              <a:path w="50800" h="863600">
                <a:moveTo>
                  <a:pt x="50800" y="0"/>
                </a:moveTo>
                <a:lnTo>
                  <a:pt x="50800" y="0"/>
                </a:lnTo>
                <a:lnTo>
                  <a:pt x="50800" y="863600"/>
                </a:lnTo>
                <a:lnTo>
                  <a:pt x="50800" y="863600"/>
                </a:lnTo>
                <a:cubicBezTo>
                  <a:pt x="22763" y="863600"/>
                  <a:pt x="0" y="840837"/>
                  <a:pt x="0" y="81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61" name="Text 59"/>
          <p:cNvSpPr/>
          <p:nvPr/>
        </p:nvSpPr>
        <p:spPr>
          <a:xfrm>
            <a:off x="8721437" y="6613240"/>
            <a:ext cx="1257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storage_cid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4672903" y="6638640"/>
            <a:ext cx="736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8A3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S3 or IPFS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721437" y="6918040"/>
            <a:ext cx="670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Where encrypted blob lives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543637" y="7426040"/>
            <a:ext cx="6946900" cy="863600"/>
          </a:xfrm>
          <a:custGeom>
            <a:avLst/>
            <a:gdLst/>
            <a:ahLst/>
            <a:cxnLst/>
            <a:rect l="l" t="t" r="r" b="b"/>
            <a:pathLst>
              <a:path w="6946900" h="863600">
                <a:moveTo>
                  <a:pt x="50800" y="0"/>
                </a:moveTo>
                <a:lnTo>
                  <a:pt x="6845297" y="0"/>
                </a:lnTo>
                <a:cubicBezTo>
                  <a:pt x="6901411" y="0"/>
                  <a:pt x="6946900" y="45489"/>
                  <a:pt x="6946900" y="101603"/>
                </a:cubicBezTo>
                <a:lnTo>
                  <a:pt x="6946900" y="761997"/>
                </a:lnTo>
                <a:cubicBezTo>
                  <a:pt x="6946900" y="818111"/>
                  <a:pt x="6901411" y="863600"/>
                  <a:pt x="6845297" y="863600"/>
                </a:cubicBezTo>
                <a:lnTo>
                  <a:pt x="50800" y="863600"/>
                </a:lnTo>
                <a:cubicBezTo>
                  <a:pt x="22763" y="863600"/>
                  <a:pt x="0" y="840837"/>
                  <a:pt x="0" y="81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543637" y="7426040"/>
            <a:ext cx="50800" cy="863600"/>
          </a:xfrm>
          <a:custGeom>
            <a:avLst/>
            <a:gdLst/>
            <a:ahLst/>
            <a:cxnLst/>
            <a:rect l="l" t="t" r="r" b="b"/>
            <a:pathLst>
              <a:path w="50800" h="863600">
                <a:moveTo>
                  <a:pt x="50800" y="0"/>
                </a:moveTo>
                <a:lnTo>
                  <a:pt x="50800" y="0"/>
                </a:lnTo>
                <a:lnTo>
                  <a:pt x="50800" y="863600"/>
                </a:lnTo>
                <a:lnTo>
                  <a:pt x="50800" y="863600"/>
                </a:lnTo>
                <a:cubicBezTo>
                  <a:pt x="22763" y="863600"/>
                  <a:pt x="0" y="840837"/>
                  <a:pt x="0" y="81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66" name="Text 64"/>
          <p:cNvSpPr/>
          <p:nvPr/>
        </p:nvSpPr>
        <p:spPr>
          <a:xfrm>
            <a:off x="8721437" y="7578440"/>
            <a:ext cx="2222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encryption_algorithm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4350567" y="7603840"/>
            <a:ext cx="1054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8A3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AES-256-GCM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721437" y="7883240"/>
            <a:ext cx="670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Authenticated encryption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543637" y="8391240"/>
            <a:ext cx="6946900" cy="863600"/>
          </a:xfrm>
          <a:custGeom>
            <a:avLst/>
            <a:gdLst/>
            <a:ahLst/>
            <a:cxnLst/>
            <a:rect l="l" t="t" r="r" b="b"/>
            <a:pathLst>
              <a:path w="6946900" h="863600">
                <a:moveTo>
                  <a:pt x="50800" y="0"/>
                </a:moveTo>
                <a:lnTo>
                  <a:pt x="6845297" y="0"/>
                </a:lnTo>
                <a:cubicBezTo>
                  <a:pt x="6901411" y="0"/>
                  <a:pt x="6946900" y="45489"/>
                  <a:pt x="6946900" y="101603"/>
                </a:cubicBezTo>
                <a:lnTo>
                  <a:pt x="6946900" y="761997"/>
                </a:lnTo>
                <a:cubicBezTo>
                  <a:pt x="6946900" y="818111"/>
                  <a:pt x="6901411" y="863600"/>
                  <a:pt x="6845297" y="863600"/>
                </a:cubicBezTo>
                <a:lnTo>
                  <a:pt x="50800" y="863600"/>
                </a:lnTo>
                <a:cubicBezTo>
                  <a:pt x="22763" y="863600"/>
                  <a:pt x="0" y="840837"/>
                  <a:pt x="0" y="81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8543637" y="8391240"/>
            <a:ext cx="50800" cy="863600"/>
          </a:xfrm>
          <a:custGeom>
            <a:avLst/>
            <a:gdLst/>
            <a:ahLst/>
            <a:cxnLst/>
            <a:rect l="l" t="t" r="r" b="b"/>
            <a:pathLst>
              <a:path w="50800" h="863600">
                <a:moveTo>
                  <a:pt x="50800" y="0"/>
                </a:moveTo>
                <a:lnTo>
                  <a:pt x="50800" y="0"/>
                </a:lnTo>
                <a:lnTo>
                  <a:pt x="50800" y="863600"/>
                </a:lnTo>
                <a:lnTo>
                  <a:pt x="50800" y="863600"/>
                </a:lnTo>
                <a:cubicBezTo>
                  <a:pt x="22763" y="863600"/>
                  <a:pt x="0" y="840837"/>
                  <a:pt x="0" y="81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71" name="Text 69"/>
          <p:cNvSpPr/>
          <p:nvPr/>
        </p:nvSpPr>
        <p:spPr>
          <a:xfrm>
            <a:off x="8721437" y="8543640"/>
            <a:ext cx="2654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dek_encryption_algorithm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14551603" y="8569040"/>
            <a:ext cx="850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8A3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ECIES-P256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8721437" y="8848440"/>
            <a:ext cx="670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Elliptic Curve Integrated Encryption Scheme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8259618" y="9725891"/>
            <a:ext cx="7489536" cy="1863436"/>
          </a:xfrm>
          <a:custGeom>
            <a:avLst/>
            <a:gdLst/>
            <a:ahLst/>
            <a:cxnLst/>
            <a:rect l="l" t="t" r="r" b="b"/>
            <a:pathLst>
              <a:path w="7489536" h="1863436">
                <a:moveTo>
                  <a:pt x="152392" y="0"/>
                </a:moveTo>
                <a:lnTo>
                  <a:pt x="7337145" y="0"/>
                </a:lnTo>
                <a:cubicBezTo>
                  <a:pt x="7421308" y="0"/>
                  <a:pt x="7489536" y="68228"/>
                  <a:pt x="7489536" y="152392"/>
                </a:cubicBezTo>
                <a:lnTo>
                  <a:pt x="7489536" y="1711045"/>
                </a:lnTo>
                <a:cubicBezTo>
                  <a:pt x="7489536" y="1795208"/>
                  <a:pt x="7421308" y="1863436"/>
                  <a:pt x="7337145" y="1863436"/>
                </a:cubicBezTo>
                <a:lnTo>
                  <a:pt x="152392" y="1863436"/>
                </a:lnTo>
                <a:cubicBezTo>
                  <a:pt x="68228" y="1863436"/>
                  <a:pt x="0" y="1795208"/>
                  <a:pt x="0" y="1711045"/>
                </a:cubicBezTo>
                <a:lnTo>
                  <a:pt x="0" y="152392"/>
                </a:lnTo>
                <a:cubicBezTo>
                  <a:pt x="0" y="68228"/>
                  <a:pt x="68228" y="0"/>
                  <a:pt x="15239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9236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499187" y="998451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254000"/>
                </a:moveTo>
                <a:cubicBezTo>
                  <a:pt x="197093" y="254000"/>
                  <a:pt x="254000" y="197093"/>
                  <a:pt x="254000" y="127000"/>
                </a:cubicBezTo>
                <a:cubicBezTo>
                  <a:pt x="254000" y="56907"/>
                  <a:pt x="197093" y="0"/>
                  <a:pt x="127000" y="0"/>
                </a:cubicBezTo>
                <a:cubicBezTo>
                  <a:pt x="56907" y="0"/>
                  <a:pt x="0" y="56907"/>
                  <a:pt x="0" y="127000"/>
                </a:cubicBezTo>
                <a:cubicBezTo>
                  <a:pt x="0" y="197093"/>
                  <a:pt x="56907" y="254000"/>
                  <a:pt x="127000" y="254000"/>
                </a:cubicBezTo>
                <a:close/>
                <a:moveTo>
                  <a:pt x="111125" y="79375"/>
                </a:moveTo>
                <a:cubicBezTo>
                  <a:pt x="111125" y="70613"/>
                  <a:pt x="118238" y="63500"/>
                  <a:pt x="127000" y="63500"/>
                </a:cubicBezTo>
                <a:cubicBezTo>
                  <a:pt x="135762" y="63500"/>
                  <a:pt x="142875" y="70613"/>
                  <a:pt x="142875" y="79375"/>
                </a:cubicBezTo>
                <a:cubicBezTo>
                  <a:pt x="142875" y="88137"/>
                  <a:pt x="135762" y="95250"/>
                  <a:pt x="127000" y="95250"/>
                </a:cubicBezTo>
                <a:cubicBezTo>
                  <a:pt x="118238" y="95250"/>
                  <a:pt x="111125" y="88137"/>
                  <a:pt x="111125" y="79375"/>
                </a:cubicBezTo>
                <a:close/>
                <a:moveTo>
                  <a:pt x="107156" y="111125"/>
                </a:moveTo>
                <a:lnTo>
                  <a:pt x="130969" y="111125"/>
                </a:lnTo>
                <a:cubicBezTo>
                  <a:pt x="137567" y="111125"/>
                  <a:pt x="142875" y="116433"/>
                  <a:pt x="142875" y="123031"/>
                </a:cubicBezTo>
                <a:lnTo>
                  <a:pt x="142875" y="166688"/>
                </a:lnTo>
                <a:lnTo>
                  <a:pt x="146844" y="166688"/>
                </a:lnTo>
                <a:cubicBezTo>
                  <a:pt x="153442" y="166688"/>
                  <a:pt x="158750" y="171996"/>
                  <a:pt x="158750" y="178594"/>
                </a:cubicBezTo>
                <a:cubicBezTo>
                  <a:pt x="158750" y="185192"/>
                  <a:pt x="153442" y="190500"/>
                  <a:pt x="146844" y="190500"/>
                </a:cubicBezTo>
                <a:lnTo>
                  <a:pt x="107156" y="190500"/>
                </a:lnTo>
                <a:cubicBezTo>
                  <a:pt x="100558" y="190500"/>
                  <a:pt x="95250" y="185192"/>
                  <a:pt x="95250" y="178594"/>
                </a:cubicBezTo>
                <a:cubicBezTo>
                  <a:pt x="95250" y="171996"/>
                  <a:pt x="100558" y="166688"/>
                  <a:pt x="107156" y="166688"/>
                </a:cubicBezTo>
                <a:lnTo>
                  <a:pt x="119063" y="166688"/>
                </a:lnTo>
                <a:lnTo>
                  <a:pt x="119063" y="134938"/>
                </a:lnTo>
                <a:lnTo>
                  <a:pt x="107156" y="134938"/>
                </a:lnTo>
                <a:cubicBezTo>
                  <a:pt x="100558" y="134938"/>
                  <a:pt x="95250" y="129629"/>
                  <a:pt x="95250" y="123031"/>
                </a:cubicBezTo>
                <a:cubicBezTo>
                  <a:pt x="95250" y="116433"/>
                  <a:pt x="100558" y="111125"/>
                  <a:pt x="107156" y="111125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76" name="Text 74"/>
          <p:cNvSpPr/>
          <p:nvPr/>
        </p:nvSpPr>
        <p:spPr>
          <a:xfrm>
            <a:off x="8937337" y="9933713"/>
            <a:ext cx="2387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 Status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8467437" y="10390913"/>
            <a:ext cx="71755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Encryption model is fully designed and DB schema is complete. AES-256-GCM implementation and S3 upload are Phase 2. Crypto primitives are already built - just need to be wired to file upload flow.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spc="140" kern="0" dirty="0">
                <a:solidFill>
                  <a:srgbClr val="38A3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 Control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Decryption: How Doctors Access Records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240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5" name="Shape 3"/>
          <p:cNvSpPr/>
          <p:nvPr/>
        </p:nvSpPr>
        <p:spPr>
          <a:xfrm>
            <a:off x="512618" y="1833418"/>
            <a:ext cx="15236536" cy="847436"/>
          </a:xfrm>
          <a:custGeom>
            <a:avLst/>
            <a:gdLst/>
            <a:ahLst/>
            <a:cxnLst/>
            <a:rect l="l" t="t" r="r" b="b"/>
            <a:pathLst>
              <a:path w="15236536" h="847436">
                <a:moveTo>
                  <a:pt x="152403" y="0"/>
                </a:moveTo>
                <a:lnTo>
                  <a:pt x="15084133" y="0"/>
                </a:lnTo>
                <a:cubicBezTo>
                  <a:pt x="15168303" y="0"/>
                  <a:pt x="15236536" y="68233"/>
                  <a:pt x="15236536" y="152403"/>
                </a:cubicBezTo>
                <a:lnTo>
                  <a:pt x="15236536" y="695033"/>
                </a:lnTo>
                <a:cubicBezTo>
                  <a:pt x="15236536" y="779203"/>
                  <a:pt x="15168303" y="847436"/>
                  <a:pt x="15084133" y="847436"/>
                </a:cubicBezTo>
                <a:lnTo>
                  <a:pt x="152403" y="847436"/>
                </a:lnTo>
                <a:cubicBezTo>
                  <a:pt x="68233" y="847436"/>
                  <a:pt x="0" y="779203"/>
                  <a:pt x="0" y="695033"/>
                </a:cubicBezTo>
                <a:lnTo>
                  <a:pt x="0" y="152403"/>
                </a:lnTo>
                <a:cubicBezTo>
                  <a:pt x="0" y="68233"/>
                  <a:pt x="68233" y="0"/>
                  <a:pt x="15240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9236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1236" y="2092040"/>
            <a:ext cx="148209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is the full chain that runs when Dr. Smith tries to access Alice's record after she grants permission: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12618" y="2893291"/>
            <a:ext cx="2879436" cy="4327236"/>
          </a:xfrm>
          <a:custGeom>
            <a:avLst/>
            <a:gdLst/>
            <a:ahLst/>
            <a:cxnLst/>
            <a:rect l="l" t="t" r="r" b="b"/>
            <a:pathLst>
              <a:path w="2879436" h="4327236">
                <a:moveTo>
                  <a:pt x="152409" y="0"/>
                </a:moveTo>
                <a:lnTo>
                  <a:pt x="2727028" y="0"/>
                </a:lnTo>
                <a:cubicBezTo>
                  <a:pt x="2811201" y="0"/>
                  <a:pt x="2879436" y="68236"/>
                  <a:pt x="2879436" y="152409"/>
                </a:cubicBezTo>
                <a:lnTo>
                  <a:pt x="2879436" y="4174828"/>
                </a:lnTo>
                <a:cubicBezTo>
                  <a:pt x="2879436" y="4259001"/>
                  <a:pt x="2811201" y="4327236"/>
                  <a:pt x="2727028" y="4327236"/>
                </a:cubicBezTo>
                <a:lnTo>
                  <a:pt x="152409" y="4327236"/>
                </a:lnTo>
                <a:cubicBezTo>
                  <a:pt x="68236" y="4327236"/>
                  <a:pt x="0" y="4259001"/>
                  <a:pt x="0" y="4174828"/>
                </a:cubicBezTo>
                <a:lnTo>
                  <a:pt x="0" y="152409"/>
                </a:lnTo>
                <a:cubicBezTo>
                  <a:pt x="0" y="68236"/>
                  <a:pt x="68236" y="0"/>
                  <a:pt x="152409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9236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1236" y="320271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9" name="Text 7"/>
          <p:cNvSpPr/>
          <p:nvPr/>
        </p:nvSpPr>
        <p:spPr>
          <a:xfrm>
            <a:off x="1035772" y="3329713"/>
            <a:ext cx="203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33236" y="3151913"/>
            <a:ext cx="17145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Permission Check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1236" y="4015513"/>
            <a:ext cx="2463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PermissionService.verify_permission() runs first: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77586" y="4993413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118209" y="73863"/>
                </a:moveTo>
                <a:lnTo>
                  <a:pt x="90428" y="118313"/>
                </a:lnTo>
                <a:cubicBezTo>
                  <a:pt x="88969" y="120640"/>
                  <a:pt x="86469" y="122099"/>
                  <a:pt x="83726" y="122238"/>
                </a:cubicBezTo>
                <a:cubicBezTo>
                  <a:pt x="80982" y="122376"/>
                  <a:pt x="78343" y="121126"/>
                  <a:pt x="76711" y="118904"/>
                </a:cubicBezTo>
                <a:lnTo>
                  <a:pt x="60042" y="96679"/>
                </a:lnTo>
                <a:cubicBezTo>
                  <a:pt x="57264" y="92998"/>
                  <a:pt x="58028" y="87789"/>
                  <a:pt x="61709" y="85011"/>
                </a:cubicBezTo>
                <a:cubicBezTo>
                  <a:pt x="65390" y="82233"/>
                  <a:pt x="70599" y="82996"/>
                  <a:pt x="73377" y="86678"/>
                </a:cubicBezTo>
                <a:lnTo>
                  <a:pt x="82753" y="99179"/>
                </a:lnTo>
                <a:lnTo>
                  <a:pt x="104076" y="65043"/>
                </a:lnTo>
                <a:cubicBezTo>
                  <a:pt x="106506" y="61153"/>
                  <a:pt x="111646" y="59938"/>
                  <a:pt x="115570" y="62404"/>
                </a:cubicBezTo>
                <a:cubicBezTo>
                  <a:pt x="119494" y="64869"/>
                  <a:pt x="120675" y="69974"/>
                  <a:pt x="118209" y="73898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13" name="Text 11"/>
          <p:cNvSpPr/>
          <p:nvPr/>
        </p:nvSpPr>
        <p:spPr>
          <a:xfrm>
            <a:off x="1058790" y="4828313"/>
            <a:ext cx="2159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Non-revoked permission exists?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83936" y="5603013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118209" y="73863"/>
                </a:moveTo>
                <a:lnTo>
                  <a:pt x="90428" y="118313"/>
                </a:lnTo>
                <a:cubicBezTo>
                  <a:pt x="88969" y="120640"/>
                  <a:pt x="86469" y="122099"/>
                  <a:pt x="83726" y="122238"/>
                </a:cubicBezTo>
                <a:cubicBezTo>
                  <a:pt x="80982" y="122376"/>
                  <a:pt x="78343" y="121126"/>
                  <a:pt x="76711" y="118904"/>
                </a:cubicBezTo>
                <a:lnTo>
                  <a:pt x="60042" y="96679"/>
                </a:lnTo>
                <a:cubicBezTo>
                  <a:pt x="57264" y="92998"/>
                  <a:pt x="58028" y="87789"/>
                  <a:pt x="61709" y="85011"/>
                </a:cubicBezTo>
                <a:cubicBezTo>
                  <a:pt x="65390" y="82233"/>
                  <a:pt x="70599" y="82996"/>
                  <a:pt x="73377" y="86678"/>
                </a:cubicBezTo>
                <a:lnTo>
                  <a:pt x="82753" y="99179"/>
                </a:lnTo>
                <a:lnTo>
                  <a:pt x="104076" y="65043"/>
                </a:lnTo>
                <a:cubicBezTo>
                  <a:pt x="106506" y="61153"/>
                  <a:pt x="111646" y="59938"/>
                  <a:pt x="115570" y="62404"/>
                </a:cubicBezTo>
                <a:cubicBezTo>
                  <a:pt x="119494" y="64869"/>
                  <a:pt x="120675" y="69974"/>
                  <a:pt x="118209" y="73898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15" name="Text 13"/>
          <p:cNvSpPr/>
          <p:nvPr/>
        </p:nvSpPr>
        <p:spPr>
          <a:xfrm>
            <a:off x="1071346" y="5437913"/>
            <a:ext cx="2146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time in valid window?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96636" y="6085613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118209" y="73863"/>
                </a:moveTo>
                <a:lnTo>
                  <a:pt x="90428" y="118313"/>
                </a:lnTo>
                <a:cubicBezTo>
                  <a:pt x="88969" y="120640"/>
                  <a:pt x="86469" y="122099"/>
                  <a:pt x="83726" y="122238"/>
                </a:cubicBezTo>
                <a:cubicBezTo>
                  <a:pt x="80982" y="122376"/>
                  <a:pt x="78343" y="121126"/>
                  <a:pt x="76711" y="118904"/>
                </a:cubicBezTo>
                <a:lnTo>
                  <a:pt x="60042" y="96679"/>
                </a:lnTo>
                <a:cubicBezTo>
                  <a:pt x="57264" y="92998"/>
                  <a:pt x="58028" y="87789"/>
                  <a:pt x="61709" y="85011"/>
                </a:cubicBezTo>
                <a:cubicBezTo>
                  <a:pt x="65390" y="82233"/>
                  <a:pt x="70599" y="82996"/>
                  <a:pt x="73377" y="86678"/>
                </a:cubicBezTo>
                <a:lnTo>
                  <a:pt x="82753" y="99179"/>
                </a:lnTo>
                <a:lnTo>
                  <a:pt x="104076" y="65043"/>
                </a:lnTo>
                <a:cubicBezTo>
                  <a:pt x="106506" y="61153"/>
                  <a:pt x="111646" y="59938"/>
                  <a:pt x="115570" y="62404"/>
                </a:cubicBezTo>
                <a:cubicBezTo>
                  <a:pt x="119494" y="64869"/>
                  <a:pt x="120675" y="69974"/>
                  <a:pt x="118209" y="73898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17" name="Text 15"/>
          <p:cNvSpPr/>
          <p:nvPr/>
        </p:nvSpPr>
        <p:spPr>
          <a:xfrm>
            <a:off x="1095086" y="6047513"/>
            <a:ext cx="186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ECDSA signature valid?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71236" y="6453913"/>
            <a:ext cx="2362200" cy="508000"/>
          </a:xfrm>
          <a:custGeom>
            <a:avLst/>
            <a:gdLst/>
            <a:ahLst/>
            <a:cxnLst/>
            <a:rect l="l" t="t" r="r" b="b"/>
            <a:pathLst>
              <a:path w="2362200" h="508000">
                <a:moveTo>
                  <a:pt x="50800" y="0"/>
                </a:moveTo>
                <a:lnTo>
                  <a:pt x="2311400" y="0"/>
                </a:lnTo>
                <a:cubicBezTo>
                  <a:pt x="2339437" y="0"/>
                  <a:pt x="2362200" y="22763"/>
                  <a:pt x="2362200" y="50800"/>
                </a:cubicBezTo>
                <a:lnTo>
                  <a:pt x="2362200" y="457200"/>
                </a:lnTo>
                <a:cubicBezTo>
                  <a:pt x="2362200" y="485237"/>
                  <a:pt x="2339437" y="508000"/>
                  <a:pt x="23114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F4444">
              <a:alpha val="1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33136" y="6453913"/>
            <a:ext cx="2438400" cy="5080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F44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 any fails → ACCESS DENIED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01244" y="2893291"/>
            <a:ext cx="2879436" cy="4327236"/>
          </a:xfrm>
          <a:custGeom>
            <a:avLst/>
            <a:gdLst/>
            <a:ahLst/>
            <a:cxnLst/>
            <a:rect l="l" t="t" r="r" b="b"/>
            <a:pathLst>
              <a:path w="2879436" h="4327236">
                <a:moveTo>
                  <a:pt x="152409" y="0"/>
                </a:moveTo>
                <a:lnTo>
                  <a:pt x="2727028" y="0"/>
                </a:lnTo>
                <a:cubicBezTo>
                  <a:pt x="2811201" y="0"/>
                  <a:pt x="2879436" y="68236"/>
                  <a:pt x="2879436" y="152409"/>
                </a:cubicBezTo>
                <a:lnTo>
                  <a:pt x="2879436" y="4174828"/>
                </a:lnTo>
                <a:cubicBezTo>
                  <a:pt x="2879436" y="4259001"/>
                  <a:pt x="2811201" y="4327236"/>
                  <a:pt x="2727028" y="4327236"/>
                </a:cubicBezTo>
                <a:lnTo>
                  <a:pt x="152409" y="4327236"/>
                </a:lnTo>
                <a:cubicBezTo>
                  <a:pt x="68236" y="4327236"/>
                  <a:pt x="0" y="4259001"/>
                  <a:pt x="0" y="4174828"/>
                </a:cubicBezTo>
                <a:lnTo>
                  <a:pt x="0" y="152409"/>
                </a:lnTo>
                <a:cubicBezTo>
                  <a:pt x="0" y="68236"/>
                  <a:pt x="68236" y="0"/>
                  <a:pt x="152409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9236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59862" y="315191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22" name="Text 20"/>
          <p:cNvSpPr/>
          <p:nvPr/>
        </p:nvSpPr>
        <p:spPr>
          <a:xfrm>
            <a:off x="4100007" y="3278913"/>
            <a:ext cx="25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21862" y="3278913"/>
            <a:ext cx="1092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Fetch File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859862" y="3913913"/>
            <a:ext cx="2463800" cy="259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 retrieves encrypted blob from S3 (or local storage) using storage_cid from MedicalRecordBlock row.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59862" y="6657113"/>
            <a:ext cx="2362200" cy="304800"/>
          </a:xfrm>
          <a:custGeom>
            <a:avLst/>
            <a:gdLst/>
            <a:ahLst/>
            <a:cxnLst/>
            <a:rect l="l" t="t" r="r" b="b"/>
            <a:pathLst>
              <a:path w="2362200" h="304800">
                <a:moveTo>
                  <a:pt x="50801" y="0"/>
                </a:moveTo>
                <a:lnTo>
                  <a:pt x="2311399" y="0"/>
                </a:lnTo>
                <a:cubicBezTo>
                  <a:pt x="2339456" y="0"/>
                  <a:pt x="2362200" y="22744"/>
                  <a:pt x="2362200" y="50801"/>
                </a:cubicBezTo>
                <a:lnTo>
                  <a:pt x="2362200" y="253999"/>
                </a:lnTo>
                <a:cubicBezTo>
                  <a:pt x="2362200" y="282056"/>
                  <a:pt x="2339456" y="304800"/>
                  <a:pt x="23113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A3A5">
              <a:alpha val="1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821762" y="6657113"/>
            <a:ext cx="24384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8A3A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S3 / IPFS Retrieval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689870" y="2893291"/>
            <a:ext cx="2879436" cy="4327236"/>
          </a:xfrm>
          <a:custGeom>
            <a:avLst/>
            <a:gdLst/>
            <a:ahLst/>
            <a:cxnLst/>
            <a:rect l="l" t="t" r="r" b="b"/>
            <a:pathLst>
              <a:path w="2879436" h="4327236">
                <a:moveTo>
                  <a:pt x="152409" y="0"/>
                </a:moveTo>
                <a:lnTo>
                  <a:pt x="2727028" y="0"/>
                </a:lnTo>
                <a:cubicBezTo>
                  <a:pt x="2811201" y="0"/>
                  <a:pt x="2879436" y="68236"/>
                  <a:pt x="2879436" y="152409"/>
                </a:cubicBezTo>
                <a:lnTo>
                  <a:pt x="2879436" y="4174828"/>
                </a:lnTo>
                <a:cubicBezTo>
                  <a:pt x="2879436" y="4259001"/>
                  <a:pt x="2811201" y="4327236"/>
                  <a:pt x="2727028" y="4327236"/>
                </a:cubicBezTo>
                <a:lnTo>
                  <a:pt x="152409" y="4327236"/>
                </a:lnTo>
                <a:cubicBezTo>
                  <a:pt x="68236" y="4327236"/>
                  <a:pt x="0" y="4259001"/>
                  <a:pt x="0" y="4174828"/>
                </a:cubicBezTo>
                <a:lnTo>
                  <a:pt x="0" y="152409"/>
                </a:lnTo>
                <a:cubicBezTo>
                  <a:pt x="0" y="68236"/>
                  <a:pt x="68236" y="0"/>
                  <a:pt x="152409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9236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48488" y="315191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29" name="Text 27"/>
          <p:cNvSpPr/>
          <p:nvPr/>
        </p:nvSpPr>
        <p:spPr>
          <a:xfrm>
            <a:off x="7185314" y="3278913"/>
            <a:ext cx="266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710487" y="3278913"/>
            <a:ext cx="139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Decrypt DEK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948488" y="3913913"/>
            <a:ext cx="2463800" cy="248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Patient's private key (provided during session - NOT stored server-side) reverses ECIES encryption on encrypted_dek_hex.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948488" y="6555513"/>
            <a:ext cx="2362200" cy="406400"/>
          </a:xfrm>
          <a:custGeom>
            <a:avLst/>
            <a:gdLst/>
            <a:ahLst/>
            <a:cxnLst/>
            <a:rect l="l" t="t" r="r" b="b"/>
            <a:pathLst>
              <a:path w="2362200" h="406400">
                <a:moveTo>
                  <a:pt x="101600" y="0"/>
                </a:moveTo>
                <a:lnTo>
                  <a:pt x="2260600" y="0"/>
                </a:lnTo>
                <a:cubicBezTo>
                  <a:pt x="2316675" y="0"/>
                  <a:pt x="2362200" y="45525"/>
                  <a:pt x="2362200" y="101600"/>
                </a:cubicBezTo>
                <a:lnTo>
                  <a:pt x="2362200" y="304800"/>
                </a:lnTo>
                <a:cubicBezTo>
                  <a:pt x="2362200" y="360875"/>
                  <a:pt x="2316675" y="406400"/>
                  <a:pt x="2260600" y="406400"/>
                </a:cubicBezTo>
                <a:lnTo>
                  <a:pt x="101600" y="406400"/>
                </a:lnTo>
                <a:cubicBezTo>
                  <a:pt x="45525" y="406400"/>
                  <a:pt x="0" y="360875"/>
                  <a:pt x="0" y="3048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8A3A5">
              <a:alpha val="1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7050088" y="6657113"/>
            <a:ext cx="2235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38A3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Yields original 32-byte DEK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778495" y="2893291"/>
            <a:ext cx="2879436" cy="4327236"/>
          </a:xfrm>
          <a:custGeom>
            <a:avLst/>
            <a:gdLst/>
            <a:ahLst/>
            <a:cxnLst/>
            <a:rect l="l" t="t" r="r" b="b"/>
            <a:pathLst>
              <a:path w="2879436" h="4327236">
                <a:moveTo>
                  <a:pt x="152409" y="0"/>
                </a:moveTo>
                <a:lnTo>
                  <a:pt x="2727028" y="0"/>
                </a:lnTo>
                <a:cubicBezTo>
                  <a:pt x="2811201" y="0"/>
                  <a:pt x="2879436" y="68236"/>
                  <a:pt x="2879436" y="152409"/>
                </a:cubicBezTo>
                <a:lnTo>
                  <a:pt x="2879436" y="4174828"/>
                </a:lnTo>
                <a:cubicBezTo>
                  <a:pt x="2879436" y="4259001"/>
                  <a:pt x="2811201" y="4327236"/>
                  <a:pt x="2727028" y="4327236"/>
                </a:cubicBezTo>
                <a:lnTo>
                  <a:pt x="152409" y="4327236"/>
                </a:lnTo>
                <a:cubicBezTo>
                  <a:pt x="68236" y="4327236"/>
                  <a:pt x="0" y="4259001"/>
                  <a:pt x="0" y="4174828"/>
                </a:cubicBezTo>
                <a:lnTo>
                  <a:pt x="0" y="152409"/>
                </a:lnTo>
                <a:cubicBezTo>
                  <a:pt x="0" y="68236"/>
                  <a:pt x="68236" y="0"/>
                  <a:pt x="152409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9236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037114" y="315191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36" name="Text 34"/>
          <p:cNvSpPr/>
          <p:nvPr/>
        </p:nvSpPr>
        <p:spPr>
          <a:xfrm>
            <a:off x="10277331" y="3278913"/>
            <a:ext cx="25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799114" y="3278913"/>
            <a:ext cx="1689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Decrypt Record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037114" y="3913913"/>
            <a:ext cx="2463800" cy="238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Using recovered DEK + stored IV, AES-GCM decryption runs. Authentication tag verified automatically.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0037114" y="6453913"/>
            <a:ext cx="2362200" cy="508000"/>
          </a:xfrm>
          <a:custGeom>
            <a:avLst/>
            <a:gdLst/>
            <a:ahLst/>
            <a:cxnLst/>
            <a:rect l="l" t="t" r="r" b="b"/>
            <a:pathLst>
              <a:path w="2362200" h="508000">
                <a:moveTo>
                  <a:pt x="50800" y="0"/>
                </a:moveTo>
                <a:lnTo>
                  <a:pt x="2311400" y="0"/>
                </a:lnTo>
                <a:cubicBezTo>
                  <a:pt x="2339437" y="0"/>
                  <a:pt x="2362200" y="22763"/>
                  <a:pt x="2362200" y="50800"/>
                </a:cubicBezTo>
                <a:lnTo>
                  <a:pt x="2362200" y="457200"/>
                </a:lnTo>
                <a:cubicBezTo>
                  <a:pt x="2362200" y="485237"/>
                  <a:pt x="2339437" y="508000"/>
                  <a:pt x="23114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F4444">
              <a:alpha val="10196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9999014" y="6453913"/>
            <a:ext cx="2438400" cy="5080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F44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Tampering → Decryption Fails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2867121" y="2893291"/>
            <a:ext cx="2879436" cy="4327236"/>
          </a:xfrm>
          <a:custGeom>
            <a:avLst/>
            <a:gdLst/>
            <a:ahLst/>
            <a:cxnLst/>
            <a:rect l="l" t="t" r="r" b="b"/>
            <a:pathLst>
              <a:path w="2879436" h="4327236">
                <a:moveTo>
                  <a:pt x="152409" y="0"/>
                </a:moveTo>
                <a:lnTo>
                  <a:pt x="2727028" y="0"/>
                </a:lnTo>
                <a:cubicBezTo>
                  <a:pt x="2811201" y="0"/>
                  <a:pt x="2879436" y="68236"/>
                  <a:pt x="2879436" y="152409"/>
                </a:cubicBezTo>
                <a:lnTo>
                  <a:pt x="2879436" y="4174828"/>
                </a:lnTo>
                <a:cubicBezTo>
                  <a:pt x="2879436" y="4259001"/>
                  <a:pt x="2811201" y="4327236"/>
                  <a:pt x="2727028" y="4327236"/>
                </a:cubicBezTo>
                <a:lnTo>
                  <a:pt x="152409" y="4327236"/>
                </a:lnTo>
                <a:cubicBezTo>
                  <a:pt x="68236" y="4327236"/>
                  <a:pt x="0" y="4259001"/>
                  <a:pt x="0" y="4174828"/>
                </a:cubicBezTo>
                <a:lnTo>
                  <a:pt x="0" y="152409"/>
                </a:lnTo>
                <a:cubicBezTo>
                  <a:pt x="0" y="68236"/>
                  <a:pt x="68236" y="0"/>
                  <a:pt x="152409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9236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125738" y="315191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43" name="Text 41"/>
          <p:cNvSpPr/>
          <p:nvPr/>
        </p:nvSpPr>
        <p:spPr>
          <a:xfrm>
            <a:off x="13362205" y="3278913"/>
            <a:ext cx="266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3887738" y="3278913"/>
            <a:ext cx="1346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 &amp; Serve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3125738" y="3913913"/>
            <a:ext cx="2463800" cy="208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RECORD_ACCESSED entry written to audit_logs with doctor_id, record_id, timestamp, event_hash.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3125738" y="6149113"/>
            <a:ext cx="2362200" cy="812800"/>
          </a:xfrm>
          <a:custGeom>
            <a:avLst/>
            <a:gdLst/>
            <a:ahLst/>
            <a:cxnLst/>
            <a:rect l="l" t="t" r="r" b="b"/>
            <a:pathLst>
              <a:path w="2362200" h="812800">
                <a:moveTo>
                  <a:pt x="101600" y="0"/>
                </a:moveTo>
                <a:lnTo>
                  <a:pt x="2260600" y="0"/>
                </a:lnTo>
                <a:cubicBezTo>
                  <a:pt x="2316675" y="0"/>
                  <a:pt x="2362200" y="45525"/>
                  <a:pt x="2362200" y="101600"/>
                </a:cubicBezTo>
                <a:lnTo>
                  <a:pt x="2362200" y="711200"/>
                </a:lnTo>
                <a:cubicBezTo>
                  <a:pt x="2362200" y="767275"/>
                  <a:pt x="2316675" y="812800"/>
                  <a:pt x="22606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8A3A5">
              <a:alpha val="1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13227338" y="6250713"/>
            <a:ext cx="2235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38A3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Decrypted file served in memory only - never persisted as plaintext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12618" y="7432965"/>
            <a:ext cx="15236536" cy="1634836"/>
          </a:xfrm>
          <a:custGeom>
            <a:avLst/>
            <a:gdLst/>
            <a:ahLst/>
            <a:cxnLst/>
            <a:rect l="l" t="t" r="r" b="b"/>
            <a:pathLst>
              <a:path w="15236536" h="1634836">
                <a:moveTo>
                  <a:pt x="152399" y="0"/>
                </a:moveTo>
                <a:lnTo>
                  <a:pt x="15084137" y="0"/>
                </a:lnTo>
                <a:cubicBezTo>
                  <a:pt x="15168305" y="0"/>
                  <a:pt x="15236536" y="68232"/>
                  <a:pt x="15236536" y="152399"/>
                </a:cubicBezTo>
                <a:lnTo>
                  <a:pt x="15236536" y="1482437"/>
                </a:lnTo>
                <a:cubicBezTo>
                  <a:pt x="15236536" y="1566605"/>
                  <a:pt x="15168305" y="1634836"/>
                  <a:pt x="15084137" y="1634836"/>
                </a:cubicBezTo>
                <a:lnTo>
                  <a:pt x="152399" y="1634836"/>
                </a:lnTo>
                <a:cubicBezTo>
                  <a:pt x="68232" y="1634836"/>
                  <a:pt x="0" y="1566605"/>
                  <a:pt x="0" y="1482437"/>
                </a:cubicBezTo>
                <a:lnTo>
                  <a:pt x="0" y="152399"/>
                </a:lnTo>
                <a:cubicBezTo>
                  <a:pt x="0" y="68288"/>
                  <a:pt x="68288" y="0"/>
                  <a:pt x="152399" y="0"/>
                </a:cubicBezTo>
                <a:close/>
              </a:path>
            </a:pathLst>
          </a:custGeom>
          <a:solidFill>
            <a:srgbClr val="38A3A5">
              <a:alpha val="10196"/>
            </a:srgbClr>
          </a:solidFill>
          <a:ln w="9236">
            <a:solidFill>
              <a:srgbClr val="38A3A5">
                <a:alpha val="4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71236" y="7691586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8A3A5">
              <a:alpha val="2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74436" y="7894786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55138" y="0"/>
                  <a:pt x="157877" y="595"/>
                  <a:pt x="160377" y="1726"/>
                </a:cubicBezTo>
                <a:lnTo>
                  <a:pt x="272534" y="49292"/>
                </a:lnTo>
                <a:cubicBezTo>
                  <a:pt x="285631" y="54828"/>
                  <a:pt x="295394" y="67747"/>
                  <a:pt x="295335" y="83344"/>
                </a:cubicBezTo>
                <a:cubicBezTo>
                  <a:pt x="295037" y="142399"/>
                  <a:pt x="270748" y="250448"/>
                  <a:pt x="168176" y="299561"/>
                </a:cubicBezTo>
                <a:cubicBezTo>
                  <a:pt x="158234" y="304324"/>
                  <a:pt x="146685" y="304324"/>
                  <a:pt x="136743" y="299561"/>
                </a:cubicBezTo>
                <a:cubicBezTo>
                  <a:pt x="34111" y="250448"/>
                  <a:pt x="9882" y="142399"/>
                  <a:pt x="9585" y="83344"/>
                </a:cubicBezTo>
                <a:cubicBezTo>
                  <a:pt x="9525" y="67747"/>
                  <a:pt x="19288" y="54828"/>
                  <a:pt x="32385" y="49292"/>
                </a:cubicBezTo>
                <a:lnTo>
                  <a:pt x="144482" y="1726"/>
                </a:lnTo>
                <a:cubicBezTo>
                  <a:pt x="146983" y="595"/>
                  <a:pt x="149662" y="0"/>
                  <a:pt x="152400" y="0"/>
                </a:cubicBezTo>
                <a:close/>
                <a:moveTo>
                  <a:pt x="152400" y="39767"/>
                </a:moveTo>
                <a:lnTo>
                  <a:pt x="152400" y="264855"/>
                </a:lnTo>
                <a:cubicBezTo>
                  <a:pt x="234553" y="225088"/>
                  <a:pt x="256639" y="136981"/>
                  <a:pt x="257175" y="84237"/>
                </a:cubicBezTo>
                <a:lnTo>
                  <a:pt x="152400" y="39826"/>
                </a:lnTo>
                <a:lnTo>
                  <a:pt x="152400" y="39826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51" name="Text 49"/>
          <p:cNvSpPr/>
          <p:nvPr/>
        </p:nvSpPr>
        <p:spPr>
          <a:xfrm>
            <a:off x="1685636" y="7691586"/>
            <a:ext cx="13931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the Private Key Matters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685636" y="8148786"/>
            <a:ext cx="139065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is why the private key matters at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38A3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 time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not just registration. The patient must have their private key to enable decryption of their records. This is the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38A3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"you own your data"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guarantee.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spc="140" kern="0" dirty="0">
                <a:solidFill>
                  <a:srgbClr val="38A3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Defense in Depth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Mechanisms &amp; Audit Trail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240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5" name="Shape 3"/>
          <p:cNvSpPr/>
          <p:nvPr/>
        </p:nvSpPr>
        <p:spPr>
          <a:xfrm>
            <a:off x="512618" y="1833418"/>
            <a:ext cx="4898736" cy="5165436"/>
          </a:xfrm>
          <a:custGeom>
            <a:avLst/>
            <a:gdLst/>
            <a:ahLst/>
            <a:cxnLst/>
            <a:rect l="l" t="t" r="r" b="b"/>
            <a:pathLst>
              <a:path w="4898736" h="5165436">
                <a:moveTo>
                  <a:pt x="152400" y="0"/>
                </a:moveTo>
                <a:lnTo>
                  <a:pt x="4746337" y="0"/>
                </a:lnTo>
                <a:cubicBezTo>
                  <a:pt x="4830505" y="0"/>
                  <a:pt x="4898736" y="68232"/>
                  <a:pt x="4898736" y="152400"/>
                </a:cubicBezTo>
                <a:lnTo>
                  <a:pt x="4898736" y="5013037"/>
                </a:lnTo>
                <a:cubicBezTo>
                  <a:pt x="4898736" y="5097205"/>
                  <a:pt x="4830505" y="5165436"/>
                  <a:pt x="4746337" y="5165436"/>
                </a:cubicBezTo>
                <a:lnTo>
                  <a:pt x="152400" y="5165436"/>
                </a:lnTo>
                <a:cubicBezTo>
                  <a:pt x="68232" y="5165436"/>
                  <a:pt x="0" y="5097205"/>
                  <a:pt x="0" y="5013037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9236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1236" y="209204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8A3A5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49036" y="226984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66688" y="174625"/>
                </a:moveTo>
                <a:cubicBezTo>
                  <a:pt x="214908" y="174625"/>
                  <a:pt x="254000" y="135533"/>
                  <a:pt x="254000" y="87313"/>
                </a:cubicBezTo>
                <a:cubicBezTo>
                  <a:pt x="254000" y="39092"/>
                  <a:pt x="214908" y="0"/>
                  <a:pt x="166688" y="0"/>
                </a:cubicBezTo>
                <a:cubicBezTo>
                  <a:pt x="118467" y="0"/>
                  <a:pt x="79375" y="39092"/>
                  <a:pt x="79375" y="87313"/>
                </a:cubicBezTo>
                <a:cubicBezTo>
                  <a:pt x="79375" y="96589"/>
                  <a:pt x="80814" y="105569"/>
                  <a:pt x="83493" y="113953"/>
                </a:cubicBezTo>
                <a:lnTo>
                  <a:pt x="3473" y="193973"/>
                </a:lnTo>
                <a:cubicBezTo>
                  <a:pt x="1240" y="196205"/>
                  <a:pt x="0" y="199231"/>
                  <a:pt x="0" y="202406"/>
                </a:cubicBezTo>
                <a:lnTo>
                  <a:pt x="0" y="242094"/>
                </a:lnTo>
                <a:cubicBezTo>
                  <a:pt x="0" y="248692"/>
                  <a:pt x="5308" y="254000"/>
                  <a:pt x="11906" y="254000"/>
                </a:cubicBezTo>
                <a:lnTo>
                  <a:pt x="51594" y="254000"/>
                </a:lnTo>
                <a:cubicBezTo>
                  <a:pt x="58192" y="254000"/>
                  <a:pt x="63500" y="248692"/>
                  <a:pt x="63500" y="242094"/>
                </a:cubicBezTo>
                <a:lnTo>
                  <a:pt x="63500" y="222250"/>
                </a:lnTo>
                <a:lnTo>
                  <a:pt x="83344" y="222250"/>
                </a:lnTo>
                <a:cubicBezTo>
                  <a:pt x="89942" y="222250"/>
                  <a:pt x="95250" y="216942"/>
                  <a:pt x="95250" y="210344"/>
                </a:cubicBezTo>
                <a:lnTo>
                  <a:pt x="95250" y="190500"/>
                </a:lnTo>
                <a:lnTo>
                  <a:pt x="115094" y="190500"/>
                </a:lnTo>
                <a:cubicBezTo>
                  <a:pt x="118269" y="190500"/>
                  <a:pt x="121295" y="189260"/>
                  <a:pt x="123527" y="187027"/>
                </a:cubicBezTo>
                <a:lnTo>
                  <a:pt x="140047" y="170507"/>
                </a:lnTo>
                <a:cubicBezTo>
                  <a:pt x="148431" y="173186"/>
                  <a:pt x="157411" y="174625"/>
                  <a:pt x="166688" y="174625"/>
                </a:cubicBezTo>
                <a:close/>
                <a:moveTo>
                  <a:pt x="186531" y="47625"/>
                </a:moveTo>
                <a:cubicBezTo>
                  <a:pt x="197483" y="47625"/>
                  <a:pt x="206375" y="56517"/>
                  <a:pt x="206375" y="67469"/>
                </a:cubicBezTo>
                <a:cubicBezTo>
                  <a:pt x="206375" y="78421"/>
                  <a:pt x="197483" y="87313"/>
                  <a:pt x="186531" y="87313"/>
                </a:cubicBezTo>
                <a:cubicBezTo>
                  <a:pt x="175579" y="87313"/>
                  <a:pt x="166688" y="78421"/>
                  <a:pt x="166688" y="67469"/>
                </a:cubicBezTo>
                <a:cubicBezTo>
                  <a:pt x="166688" y="56517"/>
                  <a:pt x="175579" y="47625"/>
                  <a:pt x="186531" y="47625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8" name="Text 6"/>
          <p:cNvSpPr/>
          <p:nvPr/>
        </p:nvSpPr>
        <p:spPr>
          <a:xfrm>
            <a:off x="1533236" y="2219040"/>
            <a:ext cx="3187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PBKDF2 Password Hashing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1236" y="2904840"/>
            <a:ext cx="4381500" cy="914400"/>
          </a:xfrm>
          <a:custGeom>
            <a:avLst/>
            <a:gdLst/>
            <a:ahLst/>
            <a:cxnLst/>
            <a:rect l="l" t="t" r="r" b="b"/>
            <a:pathLst>
              <a:path w="4381500" h="914400">
                <a:moveTo>
                  <a:pt x="101599" y="0"/>
                </a:moveTo>
                <a:lnTo>
                  <a:pt x="4279901" y="0"/>
                </a:lnTo>
                <a:cubicBezTo>
                  <a:pt x="4336013" y="0"/>
                  <a:pt x="4381500" y="45487"/>
                  <a:pt x="4381500" y="101599"/>
                </a:cubicBezTo>
                <a:lnTo>
                  <a:pt x="4381500" y="812801"/>
                </a:lnTo>
                <a:cubicBezTo>
                  <a:pt x="4381500" y="868913"/>
                  <a:pt x="4336013" y="914400"/>
                  <a:pt x="42799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23636" y="3057240"/>
            <a:ext cx="416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8A3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Algorithm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23636" y="3362040"/>
            <a:ext cx="417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PBKDF2HMAC-SHA256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71236" y="3971640"/>
            <a:ext cx="4381500" cy="914400"/>
          </a:xfrm>
          <a:custGeom>
            <a:avLst/>
            <a:gdLst/>
            <a:ahLst/>
            <a:cxnLst/>
            <a:rect l="l" t="t" r="r" b="b"/>
            <a:pathLst>
              <a:path w="4381500" h="914400">
                <a:moveTo>
                  <a:pt x="101599" y="0"/>
                </a:moveTo>
                <a:lnTo>
                  <a:pt x="4279901" y="0"/>
                </a:lnTo>
                <a:cubicBezTo>
                  <a:pt x="4336013" y="0"/>
                  <a:pt x="4381500" y="45487"/>
                  <a:pt x="4381500" y="101599"/>
                </a:cubicBezTo>
                <a:lnTo>
                  <a:pt x="4381500" y="812801"/>
                </a:lnTo>
                <a:cubicBezTo>
                  <a:pt x="4381500" y="868913"/>
                  <a:pt x="4336013" y="914400"/>
                  <a:pt x="42799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23636" y="4124040"/>
            <a:ext cx="416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8A3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Iterations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23636" y="4428840"/>
            <a:ext cx="417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100,000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71236" y="5038440"/>
            <a:ext cx="4381500" cy="914400"/>
          </a:xfrm>
          <a:custGeom>
            <a:avLst/>
            <a:gdLst/>
            <a:ahLst/>
            <a:cxnLst/>
            <a:rect l="l" t="t" r="r" b="b"/>
            <a:pathLst>
              <a:path w="4381500" h="914400">
                <a:moveTo>
                  <a:pt x="101599" y="0"/>
                </a:moveTo>
                <a:lnTo>
                  <a:pt x="4279901" y="0"/>
                </a:lnTo>
                <a:cubicBezTo>
                  <a:pt x="4336013" y="0"/>
                  <a:pt x="4381500" y="45487"/>
                  <a:pt x="4381500" y="101599"/>
                </a:cubicBezTo>
                <a:lnTo>
                  <a:pt x="4381500" y="812801"/>
                </a:lnTo>
                <a:cubicBezTo>
                  <a:pt x="4381500" y="868913"/>
                  <a:pt x="4336013" y="914400"/>
                  <a:pt x="42799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23636" y="5190840"/>
            <a:ext cx="416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8A3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Salt Size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23636" y="5495640"/>
            <a:ext cx="417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32 bytes (random)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1236" y="6156040"/>
            <a:ext cx="44704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Purpose: Website login only. Has nothing to do with private key or record encryption.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12618" y="7204941"/>
            <a:ext cx="4898736" cy="2269836"/>
          </a:xfrm>
          <a:custGeom>
            <a:avLst/>
            <a:gdLst/>
            <a:ahLst/>
            <a:cxnLst/>
            <a:rect l="l" t="t" r="r" b="b"/>
            <a:pathLst>
              <a:path w="4898736" h="2269836">
                <a:moveTo>
                  <a:pt x="152397" y="0"/>
                </a:moveTo>
                <a:lnTo>
                  <a:pt x="4746340" y="0"/>
                </a:lnTo>
                <a:cubicBezTo>
                  <a:pt x="4830506" y="0"/>
                  <a:pt x="4898736" y="68230"/>
                  <a:pt x="4898736" y="152397"/>
                </a:cubicBezTo>
                <a:lnTo>
                  <a:pt x="4898736" y="2117440"/>
                </a:lnTo>
                <a:cubicBezTo>
                  <a:pt x="4898736" y="2201606"/>
                  <a:pt x="4830506" y="2269836"/>
                  <a:pt x="4746340" y="2269836"/>
                </a:cubicBezTo>
                <a:lnTo>
                  <a:pt x="152397" y="2269836"/>
                </a:lnTo>
                <a:cubicBezTo>
                  <a:pt x="68230" y="2269836"/>
                  <a:pt x="0" y="2201606"/>
                  <a:pt x="0" y="2117440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9236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1236" y="746356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8A3A5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80786" y="7641363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63500" y="47625"/>
                </a:moveTo>
                <a:lnTo>
                  <a:pt x="63500" y="79375"/>
                </a:lnTo>
                <a:lnTo>
                  <a:pt x="127000" y="79375"/>
                </a:lnTo>
                <a:lnTo>
                  <a:pt x="127000" y="47625"/>
                </a:lnTo>
                <a:cubicBezTo>
                  <a:pt x="127000" y="30113"/>
                  <a:pt x="112762" y="15875"/>
                  <a:pt x="95250" y="15875"/>
                </a:cubicBezTo>
                <a:cubicBezTo>
                  <a:pt x="77738" y="15875"/>
                  <a:pt x="63500" y="30113"/>
                  <a:pt x="63500" y="47625"/>
                </a:cubicBezTo>
                <a:close/>
                <a:moveTo>
                  <a:pt x="31750" y="79375"/>
                </a:moveTo>
                <a:lnTo>
                  <a:pt x="31750" y="47625"/>
                </a:lnTo>
                <a:cubicBezTo>
                  <a:pt x="31750" y="12551"/>
                  <a:pt x="60176" y="-15875"/>
                  <a:pt x="95250" y="-15875"/>
                </a:cubicBezTo>
                <a:cubicBezTo>
                  <a:pt x="130324" y="-15875"/>
                  <a:pt x="158750" y="12551"/>
                  <a:pt x="158750" y="47625"/>
                </a:cubicBezTo>
                <a:lnTo>
                  <a:pt x="158750" y="79375"/>
                </a:lnTo>
                <a:cubicBezTo>
                  <a:pt x="176262" y="79375"/>
                  <a:pt x="190500" y="93613"/>
                  <a:pt x="190500" y="111125"/>
                </a:cubicBezTo>
                <a:lnTo>
                  <a:pt x="190500" y="222250"/>
                </a:lnTo>
                <a:cubicBezTo>
                  <a:pt x="190500" y="239762"/>
                  <a:pt x="176262" y="254000"/>
                  <a:pt x="158750" y="254000"/>
                </a:cubicBezTo>
                <a:lnTo>
                  <a:pt x="31750" y="254000"/>
                </a:lnTo>
                <a:cubicBezTo>
                  <a:pt x="14238" y="254000"/>
                  <a:pt x="0" y="239762"/>
                  <a:pt x="0" y="222250"/>
                </a:cubicBezTo>
                <a:lnTo>
                  <a:pt x="0" y="111125"/>
                </a:lnTo>
                <a:cubicBezTo>
                  <a:pt x="0" y="93613"/>
                  <a:pt x="14238" y="79375"/>
                  <a:pt x="31750" y="79375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22" name="Text 20"/>
          <p:cNvSpPr/>
          <p:nvPr/>
        </p:nvSpPr>
        <p:spPr>
          <a:xfrm>
            <a:off x="1533236" y="7590563"/>
            <a:ext cx="2146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Tamper Detection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1236" y="8225563"/>
            <a:ext cx="44831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AES-GCM authentication tag verifies ciphertext integrity. If even one byte changed, decryption fails immediately.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677261" y="1833418"/>
            <a:ext cx="4898736" cy="5495636"/>
          </a:xfrm>
          <a:custGeom>
            <a:avLst/>
            <a:gdLst/>
            <a:ahLst/>
            <a:cxnLst/>
            <a:rect l="l" t="t" r="r" b="b"/>
            <a:pathLst>
              <a:path w="4898736" h="5495636">
                <a:moveTo>
                  <a:pt x="152400" y="0"/>
                </a:moveTo>
                <a:lnTo>
                  <a:pt x="4746337" y="0"/>
                </a:lnTo>
                <a:cubicBezTo>
                  <a:pt x="4830505" y="0"/>
                  <a:pt x="4898736" y="68232"/>
                  <a:pt x="4898736" y="152400"/>
                </a:cubicBezTo>
                <a:lnTo>
                  <a:pt x="4898736" y="5343237"/>
                </a:lnTo>
                <a:cubicBezTo>
                  <a:pt x="4898736" y="5427405"/>
                  <a:pt x="4830505" y="5495636"/>
                  <a:pt x="4746337" y="5495636"/>
                </a:cubicBezTo>
                <a:lnTo>
                  <a:pt x="152400" y="5495636"/>
                </a:lnTo>
                <a:cubicBezTo>
                  <a:pt x="68232" y="5495636"/>
                  <a:pt x="0" y="5427405"/>
                  <a:pt x="0" y="5343237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9236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35879" y="209204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8A3A5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097804" y="226984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0" y="63500"/>
                </a:moveTo>
                <a:cubicBezTo>
                  <a:pt x="0" y="45988"/>
                  <a:pt x="14238" y="31750"/>
                  <a:pt x="31750" y="31750"/>
                </a:cubicBezTo>
                <a:lnTo>
                  <a:pt x="254000" y="31750"/>
                </a:lnTo>
                <a:cubicBezTo>
                  <a:pt x="271512" y="31750"/>
                  <a:pt x="285750" y="45988"/>
                  <a:pt x="285750" y="63500"/>
                </a:cubicBezTo>
                <a:lnTo>
                  <a:pt x="285750" y="95250"/>
                </a:lnTo>
                <a:cubicBezTo>
                  <a:pt x="285750" y="99616"/>
                  <a:pt x="282079" y="103039"/>
                  <a:pt x="277961" y="104477"/>
                </a:cubicBezTo>
                <a:cubicBezTo>
                  <a:pt x="268635" y="107702"/>
                  <a:pt x="261937" y="116582"/>
                  <a:pt x="261937" y="127000"/>
                </a:cubicBezTo>
                <a:cubicBezTo>
                  <a:pt x="261937" y="137418"/>
                  <a:pt x="268635" y="146298"/>
                  <a:pt x="277961" y="149523"/>
                </a:cubicBezTo>
                <a:cubicBezTo>
                  <a:pt x="282079" y="150961"/>
                  <a:pt x="285750" y="154384"/>
                  <a:pt x="285750" y="158750"/>
                </a:cubicBezTo>
                <a:lnTo>
                  <a:pt x="285750" y="190500"/>
                </a:lnTo>
                <a:cubicBezTo>
                  <a:pt x="285750" y="208012"/>
                  <a:pt x="271512" y="222250"/>
                  <a:pt x="254000" y="222250"/>
                </a:cubicBezTo>
                <a:lnTo>
                  <a:pt x="31750" y="222250"/>
                </a:lnTo>
                <a:cubicBezTo>
                  <a:pt x="14238" y="222250"/>
                  <a:pt x="0" y="208012"/>
                  <a:pt x="0" y="190500"/>
                </a:cubicBezTo>
                <a:lnTo>
                  <a:pt x="0" y="158750"/>
                </a:lnTo>
                <a:cubicBezTo>
                  <a:pt x="0" y="154384"/>
                  <a:pt x="3671" y="150961"/>
                  <a:pt x="7789" y="149523"/>
                </a:cubicBezTo>
                <a:cubicBezTo>
                  <a:pt x="17115" y="146298"/>
                  <a:pt x="23812" y="137418"/>
                  <a:pt x="23812" y="127000"/>
                </a:cubicBezTo>
                <a:cubicBezTo>
                  <a:pt x="23812" y="116582"/>
                  <a:pt x="17115" y="107702"/>
                  <a:pt x="7789" y="104477"/>
                </a:cubicBezTo>
                <a:cubicBezTo>
                  <a:pt x="3671" y="103039"/>
                  <a:pt x="0" y="99616"/>
                  <a:pt x="0" y="95250"/>
                </a:cubicBezTo>
                <a:lnTo>
                  <a:pt x="0" y="63500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27" name="Text 25"/>
          <p:cNvSpPr/>
          <p:nvPr/>
        </p:nvSpPr>
        <p:spPr>
          <a:xfrm>
            <a:off x="6697880" y="2219040"/>
            <a:ext cx="2362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JWT Authentication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935879" y="2904840"/>
            <a:ext cx="4381500" cy="914400"/>
          </a:xfrm>
          <a:custGeom>
            <a:avLst/>
            <a:gdLst/>
            <a:ahLst/>
            <a:cxnLst/>
            <a:rect l="l" t="t" r="r" b="b"/>
            <a:pathLst>
              <a:path w="4381500" h="914400">
                <a:moveTo>
                  <a:pt x="101599" y="0"/>
                </a:moveTo>
                <a:lnTo>
                  <a:pt x="4279901" y="0"/>
                </a:lnTo>
                <a:cubicBezTo>
                  <a:pt x="4336013" y="0"/>
                  <a:pt x="4381500" y="45487"/>
                  <a:pt x="4381500" y="101599"/>
                </a:cubicBezTo>
                <a:lnTo>
                  <a:pt x="4381500" y="812801"/>
                </a:lnTo>
                <a:cubicBezTo>
                  <a:pt x="4381500" y="868913"/>
                  <a:pt x="4336013" y="914400"/>
                  <a:pt x="42799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088279" y="3057240"/>
            <a:ext cx="416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8A3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Library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088279" y="3362040"/>
            <a:ext cx="417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PyJWT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935879" y="3971640"/>
            <a:ext cx="4381500" cy="914400"/>
          </a:xfrm>
          <a:custGeom>
            <a:avLst/>
            <a:gdLst/>
            <a:ahLst/>
            <a:cxnLst/>
            <a:rect l="l" t="t" r="r" b="b"/>
            <a:pathLst>
              <a:path w="4381500" h="914400">
                <a:moveTo>
                  <a:pt x="101599" y="0"/>
                </a:moveTo>
                <a:lnTo>
                  <a:pt x="4279901" y="0"/>
                </a:lnTo>
                <a:cubicBezTo>
                  <a:pt x="4336013" y="0"/>
                  <a:pt x="4381500" y="45487"/>
                  <a:pt x="4381500" y="101599"/>
                </a:cubicBezTo>
                <a:lnTo>
                  <a:pt x="4381500" y="812801"/>
                </a:lnTo>
                <a:cubicBezTo>
                  <a:pt x="4381500" y="868913"/>
                  <a:pt x="4336013" y="914400"/>
                  <a:pt x="42799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088279" y="4124040"/>
            <a:ext cx="416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8A3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Algorithm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088279" y="4428840"/>
            <a:ext cx="417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HS256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935879" y="5038440"/>
            <a:ext cx="4381500" cy="863600"/>
          </a:xfrm>
          <a:custGeom>
            <a:avLst/>
            <a:gdLst/>
            <a:ahLst/>
            <a:cxnLst/>
            <a:rect l="l" t="t" r="r" b="b"/>
            <a:pathLst>
              <a:path w="4381500" h="863600">
                <a:moveTo>
                  <a:pt x="101603" y="0"/>
                </a:moveTo>
                <a:lnTo>
                  <a:pt x="4279897" y="0"/>
                </a:lnTo>
                <a:cubicBezTo>
                  <a:pt x="4336011" y="0"/>
                  <a:pt x="4381500" y="45489"/>
                  <a:pt x="4381500" y="101603"/>
                </a:cubicBezTo>
                <a:lnTo>
                  <a:pt x="4381500" y="761997"/>
                </a:lnTo>
                <a:cubicBezTo>
                  <a:pt x="4381500" y="818111"/>
                  <a:pt x="4336011" y="863600"/>
                  <a:pt x="42798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088279" y="5190840"/>
            <a:ext cx="416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8A3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Claims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088279" y="5495640"/>
            <a:ext cx="416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user_id, email, iat, exp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935879" y="6105240"/>
            <a:ext cx="44704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Token sent in Authorization: Bearer header for all subsequent API calls.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677261" y="7535141"/>
            <a:ext cx="4898736" cy="1939636"/>
          </a:xfrm>
          <a:custGeom>
            <a:avLst/>
            <a:gdLst/>
            <a:ahLst/>
            <a:cxnLst/>
            <a:rect l="l" t="t" r="r" b="b"/>
            <a:pathLst>
              <a:path w="4898736" h="1939636">
                <a:moveTo>
                  <a:pt x="152397" y="0"/>
                </a:moveTo>
                <a:lnTo>
                  <a:pt x="4746339" y="0"/>
                </a:lnTo>
                <a:cubicBezTo>
                  <a:pt x="4830506" y="0"/>
                  <a:pt x="4898736" y="68231"/>
                  <a:pt x="4898736" y="152397"/>
                </a:cubicBezTo>
                <a:lnTo>
                  <a:pt x="4898736" y="1787239"/>
                </a:lnTo>
                <a:cubicBezTo>
                  <a:pt x="4898736" y="1871406"/>
                  <a:pt x="4830506" y="1939636"/>
                  <a:pt x="4746339" y="1939636"/>
                </a:cubicBezTo>
                <a:lnTo>
                  <a:pt x="152397" y="1939636"/>
                </a:lnTo>
                <a:cubicBezTo>
                  <a:pt x="68231" y="1939636"/>
                  <a:pt x="0" y="1871406"/>
                  <a:pt x="0" y="1787239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9236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35879" y="779376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8A3A5">
              <a:alpha val="2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081929" y="7971563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67469" y="63500"/>
                </a:moveTo>
                <a:cubicBezTo>
                  <a:pt x="67469" y="30644"/>
                  <a:pt x="94144" y="3969"/>
                  <a:pt x="127000" y="3969"/>
                </a:cubicBezTo>
                <a:cubicBezTo>
                  <a:pt x="159856" y="3969"/>
                  <a:pt x="186531" y="30644"/>
                  <a:pt x="186531" y="63500"/>
                </a:cubicBezTo>
                <a:cubicBezTo>
                  <a:pt x="186531" y="96356"/>
                  <a:pt x="159856" y="123031"/>
                  <a:pt x="127000" y="123031"/>
                </a:cubicBezTo>
                <a:cubicBezTo>
                  <a:pt x="94144" y="123031"/>
                  <a:pt x="67469" y="96356"/>
                  <a:pt x="67469" y="63500"/>
                </a:cubicBezTo>
                <a:close/>
                <a:moveTo>
                  <a:pt x="23812" y="239266"/>
                </a:moveTo>
                <a:cubicBezTo>
                  <a:pt x="23812" y="190401"/>
                  <a:pt x="63401" y="150813"/>
                  <a:pt x="112266" y="150813"/>
                </a:cubicBezTo>
                <a:lnTo>
                  <a:pt x="141734" y="150813"/>
                </a:lnTo>
                <a:cubicBezTo>
                  <a:pt x="190599" y="150813"/>
                  <a:pt x="230188" y="190401"/>
                  <a:pt x="230188" y="239266"/>
                </a:cubicBezTo>
                <a:cubicBezTo>
                  <a:pt x="230188" y="247402"/>
                  <a:pt x="223589" y="254000"/>
                  <a:pt x="215454" y="254000"/>
                </a:cubicBezTo>
                <a:lnTo>
                  <a:pt x="38546" y="254000"/>
                </a:lnTo>
                <a:cubicBezTo>
                  <a:pt x="30411" y="254000"/>
                  <a:pt x="23812" y="247402"/>
                  <a:pt x="23812" y="239266"/>
                </a:cubicBezTo>
                <a:close/>
                <a:moveTo>
                  <a:pt x="303808" y="65832"/>
                </a:moveTo>
                <a:lnTo>
                  <a:pt x="264120" y="129332"/>
                </a:lnTo>
                <a:cubicBezTo>
                  <a:pt x="262037" y="132655"/>
                  <a:pt x="258465" y="134739"/>
                  <a:pt x="254546" y="134938"/>
                </a:cubicBezTo>
                <a:cubicBezTo>
                  <a:pt x="250627" y="135136"/>
                  <a:pt x="246856" y="133350"/>
                  <a:pt x="244525" y="130175"/>
                </a:cubicBezTo>
                <a:lnTo>
                  <a:pt x="220712" y="98425"/>
                </a:lnTo>
                <a:cubicBezTo>
                  <a:pt x="216743" y="93166"/>
                  <a:pt x="217835" y="85725"/>
                  <a:pt x="223093" y="81756"/>
                </a:cubicBezTo>
                <a:cubicBezTo>
                  <a:pt x="228352" y="77787"/>
                  <a:pt x="235793" y="78879"/>
                  <a:pt x="239762" y="84138"/>
                </a:cubicBezTo>
                <a:lnTo>
                  <a:pt x="253157" y="101997"/>
                </a:lnTo>
                <a:lnTo>
                  <a:pt x="283617" y="53231"/>
                </a:lnTo>
                <a:cubicBezTo>
                  <a:pt x="287089" y="47675"/>
                  <a:pt x="294432" y="45938"/>
                  <a:pt x="300038" y="49461"/>
                </a:cubicBezTo>
                <a:cubicBezTo>
                  <a:pt x="305643" y="52983"/>
                  <a:pt x="307330" y="60275"/>
                  <a:pt x="303808" y="65881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41" name="Text 39"/>
          <p:cNvSpPr/>
          <p:nvPr/>
        </p:nvSpPr>
        <p:spPr>
          <a:xfrm>
            <a:off x="6697880" y="7920763"/>
            <a:ext cx="224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Permission Control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935879" y="8555763"/>
            <a:ext cx="44831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Time-based access windows with cryptographic signatures. Patients can revoke instantly.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0841904" y="1833418"/>
            <a:ext cx="4898736" cy="7641936"/>
          </a:xfrm>
          <a:custGeom>
            <a:avLst/>
            <a:gdLst/>
            <a:ahLst/>
            <a:cxnLst/>
            <a:rect l="l" t="t" r="r" b="b"/>
            <a:pathLst>
              <a:path w="4898736" h="7641936">
                <a:moveTo>
                  <a:pt x="152400" y="0"/>
                </a:moveTo>
                <a:lnTo>
                  <a:pt x="4746337" y="0"/>
                </a:lnTo>
                <a:cubicBezTo>
                  <a:pt x="4830505" y="0"/>
                  <a:pt x="4898736" y="68232"/>
                  <a:pt x="4898736" y="152400"/>
                </a:cubicBezTo>
                <a:lnTo>
                  <a:pt x="4898736" y="7489537"/>
                </a:lnTo>
                <a:cubicBezTo>
                  <a:pt x="4898736" y="7573705"/>
                  <a:pt x="4830505" y="7641936"/>
                  <a:pt x="4746337" y="7641936"/>
                </a:cubicBezTo>
                <a:lnTo>
                  <a:pt x="152400" y="7641936"/>
                </a:lnTo>
                <a:cubicBezTo>
                  <a:pt x="68232" y="7641936"/>
                  <a:pt x="0" y="7573705"/>
                  <a:pt x="0" y="7489537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9236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100522" y="209204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8A3A5">
              <a:alpha val="2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1278322" y="226984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31750"/>
                </a:moveTo>
                <a:cubicBezTo>
                  <a:pt x="14238" y="31750"/>
                  <a:pt x="0" y="45988"/>
                  <a:pt x="0" y="63500"/>
                </a:cubicBezTo>
                <a:lnTo>
                  <a:pt x="0" y="190500"/>
                </a:lnTo>
                <a:cubicBezTo>
                  <a:pt x="0" y="208012"/>
                  <a:pt x="14238" y="222250"/>
                  <a:pt x="31750" y="222250"/>
                </a:cubicBezTo>
                <a:lnTo>
                  <a:pt x="222250" y="222250"/>
                </a:lnTo>
                <a:cubicBezTo>
                  <a:pt x="239762" y="222250"/>
                  <a:pt x="254000" y="208012"/>
                  <a:pt x="254000" y="190500"/>
                </a:cubicBezTo>
                <a:lnTo>
                  <a:pt x="254000" y="63500"/>
                </a:lnTo>
                <a:cubicBezTo>
                  <a:pt x="254000" y="45988"/>
                  <a:pt x="239762" y="31750"/>
                  <a:pt x="222250" y="31750"/>
                </a:cubicBezTo>
                <a:lnTo>
                  <a:pt x="31750" y="31750"/>
                </a:lnTo>
                <a:close/>
                <a:moveTo>
                  <a:pt x="79375" y="158750"/>
                </a:moveTo>
                <a:cubicBezTo>
                  <a:pt x="79375" y="167512"/>
                  <a:pt x="72262" y="174625"/>
                  <a:pt x="63500" y="174625"/>
                </a:cubicBezTo>
                <a:cubicBezTo>
                  <a:pt x="54738" y="174625"/>
                  <a:pt x="47625" y="167512"/>
                  <a:pt x="47625" y="158750"/>
                </a:cubicBezTo>
                <a:cubicBezTo>
                  <a:pt x="47625" y="149988"/>
                  <a:pt x="54738" y="142875"/>
                  <a:pt x="63500" y="142875"/>
                </a:cubicBezTo>
                <a:cubicBezTo>
                  <a:pt x="72262" y="142875"/>
                  <a:pt x="79375" y="149988"/>
                  <a:pt x="79375" y="158750"/>
                </a:cubicBezTo>
                <a:close/>
                <a:moveTo>
                  <a:pt x="63500" y="111125"/>
                </a:moveTo>
                <a:cubicBezTo>
                  <a:pt x="54738" y="111125"/>
                  <a:pt x="47625" y="104012"/>
                  <a:pt x="47625" y="95250"/>
                </a:cubicBezTo>
                <a:cubicBezTo>
                  <a:pt x="47625" y="86488"/>
                  <a:pt x="54738" y="79375"/>
                  <a:pt x="63500" y="79375"/>
                </a:cubicBezTo>
                <a:cubicBezTo>
                  <a:pt x="72262" y="79375"/>
                  <a:pt x="79375" y="86488"/>
                  <a:pt x="79375" y="95250"/>
                </a:cubicBezTo>
                <a:cubicBezTo>
                  <a:pt x="79375" y="104012"/>
                  <a:pt x="72262" y="111125"/>
                  <a:pt x="63500" y="111125"/>
                </a:cubicBezTo>
                <a:close/>
                <a:moveTo>
                  <a:pt x="123031" y="83344"/>
                </a:moveTo>
                <a:lnTo>
                  <a:pt x="194469" y="83344"/>
                </a:lnTo>
                <a:cubicBezTo>
                  <a:pt x="201067" y="83344"/>
                  <a:pt x="206375" y="88652"/>
                  <a:pt x="206375" y="95250"/>
                </a:cubicBezTo>
                <a:cubicBezTo>
                  <a:pt x="206375" y="101848"/>
                  <a:pt x="201067" y="107156"/>
                  <a:pt x="194469" y="107156"/>
                </a:cubicBezTo>
                <a:lnTo>
                  <a:pt x="123031" y="107156"/>
                </a:lnTo>
                <a:cubicBezTo>
                  <a:pt x="116433" y="107156"/>
                  <a:pt x="111125" y="101848"/>
                  <a:pt x="111125" y="95250"/>
                </a:cubicBezTo>
                <a:cubicBezTo>
                  <a:pt x="111125" y="88652"/>
                  <a:pt x="116433" y="83344"/>
                  <a:pt x="123031" y="83344"/>
                </a:cubicBezTo>
                <a:close/>
                <a:moveTo>
                  <a:pt x="123031" y="146844"/>
                </a:moveTo>
                <a:lnTo>
                  <a:pt x="194469" y="146844"/>
                </a:lnTo>
                <a:cubicBezTo>
                  <a:pt x="201067" y="146844"/>
                  <a:pt x="206375" y="152152"/>
                  <a:pt x="206375" y="158750"/>
                </a:cubicBezTo>
                <a:cubicBezTo>
                  <a:pt x="206375" y="165348"/>
                  <a:pt x="201067" y="170656"/>
                  <a:pt x="194469" y="170656"/>
                </a:cubicBezTo>
                <a:lnTo>
                  <a:pt x="123031" y="170656"/>
                </a:lnTo>
                <a:cubicBezTo>
                  <a:pt x="116433" y="170656"/>
                  <a:pt x="111125" y="165348"/>
                  <a:pt x="111125" y="158750"/>
                </a:cubicBezTo>
                <a:cubicBezTo>
                  <a:pt x="111125" y="152152"/>
                  <a:pt x="116433" y="146844"/>
                  <a:pt x="123031" y="146844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46" name="Text 44"/>
          <p:cNvSpPr/>
          <p:nvPr/>
        </p:nvSpPr>
        <p:spPr>
          <a:xfrm>
            <a:off x="11862522" y="2219040"/>
            <a:ext cx="2514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Immutable Audit Trail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1125922" y="2904840"/>
            <a:ext cx="4356100" cy="914400"/>
          </a:xfrm>
          <a:custGeom>
            <a:avLst/>
            <a:gdLst/>
            <a:ahLst/>
            <a:cxnLst/>
            <a:rect l="l" t="t" r="r" b="b"/>
            <a:pathLst>
              <a:path w="4356100" h="914400">
                <a:moveTo>
                  <a:pt x="50800" y="0"/>
                </a:moveTo>
                <a:lnTo>
                  <a:pt x="4254501" y="0"/>
                </a:lnTo>
                <a:cubicBezTo>
                  <a:pt x="4310613" y="0"/>
                  <a:pt x="4356100" y="45487"/>
                  <a:pt x="4356100" y="101599"/>
                </a:cubicBezTo>
                <a:lnTo>
                  <a:pt x="4356100" y="812801"/>
                </a:lnTo>
                <a:cubicBezTo>
                  <a:pt x="4356100" y="868913"/>
                  <a:pt x="4310613" y="914400"/>
                  <a:pt x="4254501" y="914400"/>
                </a:cubicBezTo>
                <a:lnTo>
                  <a:pt x="50800" y="914400"/>
                </a:lnTo>
                <a:cubicBezTo>
                  <a:pt x="22763" y="914400"/>
                  <a:pt x="0" y="891637"/>
                  <a:pt x="0" y="863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1125922" y="2904840"/>
            <a:ext cx="50800" cy="914400"/>
          </a:xfrm>
          <a:custGeom>
            <a:avLst/>
            <a:gdLst/>
            <a:ahLst/>
            <a:cxnLst/>
            <a:rect l="l" t="t" r="r" b="b"/>
            <a:pathLst>
              <a:path w="50800" h="914400">
                <a:moveTo>
                  <a:pt x="50800" y="0"/>
                </a:moveTo>
                <a:lnTo>
                  <a:pt x="50800" y="0"/>
                </a:lnTo>
                <a:lnTo>
                  <a:pt x="50800" y="914400"/>
                </a:lnTo>
                <a:lnTo>
                  <a:pt x="50800" y="914400"/>
                </a:lnTo>
                <a:cubicBezTo>
                  <a:pt x="22763" y="914400"/>
                  <a:pt x="0" y="891637"/>
                  <a:pt x="0" y="863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49" name="Text 47"/>
          <p:cNvSpPr/>
          <p:nvPr/>
        </p:nvSpPr>
        <p:spPr>
          <a:xfrm>
            <a:off x="11303722" y="3057240"/>
            <a:ext cx="412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USER_REGISTERED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1303722" y="3412840"/>
            <a:ext cx="4114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account created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1125922" y="3971640"/>
            <a:ext cx="4356100" cy="914400"/>
          </a:xfrm>
          <a:custGeom>
            <a:avLst/>
            <a:gdLst/>
            <a:ahLst/>
            <a:cxnLst/>
            <a:rect l="l" t="t" r="r" b="b"/>
            <a:pathLst>
              <a:path w="4356100" h="914400">
                <a:moveTo>
                  <a:pt x="50800" y="0"/>
                </a:moveTo>
                <a:lnTo>
                  <a:pt x="4254501" y="0"/>
                </a:lnTo>
                <a:cubicBezTo>
                  <a:pt x="4310613" y="0"/>
                  <a:pt x="4356100" y="45487"/>
                  <a:pt x="4356100" y="101599"/>
                </a:cubicBezTo>
                <a:lnTo>
                  <a:pt x="4356100" y="812801"/>
                </a:lnTo>
                <a:cubicBezTo>
                  <a:pt x="4356100" y="868913"/>
                  <a:pt x="4310613" y="914400"/>
                  <a:pt x="4254501" y="914400"/>
                </a:cubicBezTo>
                <a:lnTo>
                  <a:pt x="50800" y="914400"/>
                </a:lnTo>
                <a:cubicBezTo>
                  <a:pt x="22763" y="914400"/>
                  <a:pt x="0" y="891637"/>
                  <a:pt x="0" y="863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1125922" y="3971640"/>
            <a:ext cx="50800" cy="914400"/>
          </a:xfrm>
          <a:custGeom>
            <a:avLst/>
            <a:gdLst/>
            <a:ahLst/>
            <a:cxnLst/>
            <a:rect l="l" t="t" r="r" b="b"/>
            <a:pathLst>
              <a:path w="50800" h="914400">
                <a:moveTo>
                  <a:pt x="50800" y="0"/>
                </a:moveTo>
                <a:lnTo>
                  <a:pt x="50800" y="0"/>
                </a:lnTo>
                <a:lnTo>
                  <a:pt x="50800" y="914400"/>
                </a:lnTo>
                <a:lnTo>
                  <a:pt x="50800" y="914400"/>
                </a:lnTo>
                <a:cubicBezTo>
                  <a:pt x="22763" y="914400"/>
                  <a:pt x="0" y="891637"/>
                  <a:pt x="0" y="863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53" name="Text 51"/>
          <p:cNvSpPr/>
          <p:nvPr/>
        </p:nvSpPr>
        <p:spPr>
          <a:xfrm>
            <a:off x="11303722" y="4124040"/>
            <a:ext cx="412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PERMISSION_GRANTED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1303722" y="4479640"/>
            <a:ext cx="4114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patient allows access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11125922" y="5038440"/>
            <a:ext cx="4356100" cy="914400"/>
          </a:xfrm>
          <a:custGeom>
            <a:avLst/>
            <a:gdLst/>
            <a:ahLst/>
            <a:cxnLst/>
            <a:rect l="l" t="t" r="r" b="b"/>
            <a:pathLst>
              <a:path w="4356100" h="914400">
                <a:moveTo>
                  <a:pt x="50800" y="0"/>
                </a:moveTo>
                <a:lnTo>
                  <a:pt x="4254501" y="0"/>
                </a:lnTo>
                <a:cubicBezTo>
                  <a:pt x="4310613" y="0"/>
                  <a:pt x="4356100" y="45487"/>
                  <a:pt x="4356100" y="101599"/>
                </a:cubicBezTo>
                <a:lnTo>
                  <a:pt x="4356100" y="812801"/>
                </a:lnTo>
                <a:cubicBezTo>
                  <a:pt x="4356100" y="868913"/>
                  <a:pt x="4310613" y="914400"/>
                  <a:pt x="4254501" y="914400"/>
                </a:cubicBezTo>
                <a:lnTo>
                  <a:pt x="50800" y="914400"/>
                </a:lnTo>
                <a:cubicBezTo>
                  <a:pt x="22763" y="914400"/>
                  <a:pt x="0" y="891637"/>
                  <a:pt x="0" y="863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1125922" y="5038440"/>
            <a:ext cx="50800" cy="914400"/>
          </a:xfrm>
          <a:custGeom>
            <a:avLst/>
            <a:gdLst/>
            <a:ahLst/>
            <a:cxnLst/>
            <a:rect l="l" t="t" r="r" b="b"/>
            <a:pathLst>
              <a:path w="50800" h="914400">
                <a:moveTo>
                  <a:pt x="50800" y="0"/>
                </a:moveTo>
                <a:lnTo>
                  <a:pt x="50800" y="0"/>
                </a:lnTo>
                <a:lnTo>
                  <a:pt x="50800" y="914400"/>
                </a:lnTo>
                <a:lnTo>
                  <a:pt x="50800" y="914400"/>
                </a:lnTo>
                <a:cubicBezTo>
                  <a:pt x="22763" y="914400"/>
                  <a:pt x="0" y="891637"/>
                  <a:pt x="0" y="863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57" name="Text 55"/>
          <p:cNvSpPr/>
          <p:nvPr/>
        </p:nvSpPr>
        <p:spPr>
          <a:xfrm>
            <a:off x="11303722" y="5190840"/>
            <a:ext cx="412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PERMISSION_REVOKED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1303722" y="5546440"/>
            <a:ext cx="4114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access removed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11125922" y="6105240"/>
            <a:ext cx="4356100" cy="914400"/>
          </a:xfrm>
          <a:custGeom>
            <a:avLst/>
            <a:gdLst/>
            <a:ahLst/>
            <a:cxnLst/>
            <a:rect l="l" t="t" r="r" b="b"/>
            <a:pathLst>
              <a:path w="4356100" h="914400">
                <a:moveTo>
                  <a:pt x="50800" y="0"/>
                </a:moveTo>
                <a:lnTo>
                  <a:pt x="4254501" y="0"/>
                </a:lnTo>
                <a:cubicBezTo>
                  <a:pt x="4310613" y="0"/>
                  <a:pt x="4356100" y="45487"/>
                  <a:pt x="4356100" y="101599"/>
                </a:cubicBezTo>
                <a:lnTo>
                  <a:pt x="4356100" y="812801"/>
                </a:lnTo>
                <a:cubicBezTo>
                  <a:pt x="4356100" y="868913"/>
                  <a:pt x="4310613" y="914400"/>
                  <a:pt x="4254501" y="914400"/>
                </a:cubicBezTo>
                <a:lnTo>
                  <a:pt x="50800" y="914400"/>
                </a:lnTo>
                <a:cubicBezTo>
                  <a:pt x="22763" y="914400"/>
                  <a:pt x="0" y="891637"/>
                  <a:pt x="0" y="863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1125922" y="6105240"/>
            <a:ext cx="50800" cy="914400"/>
          </a:xfrm>
          <a:custGeom>
            <a:avLst/>
            <a:gdLst/>
            <a:ahLst/>
            <a:cxnLst/>
            <a:rect l="l" t="t" r="r" b="b"/>
            <a:pathLst>
              <a:path w="50800" h="914400">
                <a:moveTo>
                  <a:pt x="50800" y="0"/>
                </a:moveTo>
                <a:lnTo>
                  <a:pt x="50800" y="0"/>
                </a:lnTo>
                <a:lnTo>
                  <a:pt x="50800" y="914400"/>
                </a:lnTo>
                <a:lnTo>
                  <a:pt x="50800" y="914400"/>
                </a:lnTo>
                <a:cubicBezTo>
                  <a:pt x="22763" y="914400"/>
                  <a:pt x="0" y="891637"/>
                  <a:pt x="0" y="863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61" name="Text 59"/>
          <p:cNvSpPr/>
          <p:nvPr/>
        </p:nvSpPr>
        <p:spPr>
          <a:xfrm>
            <a:off x="11303722" y="6257640"/>
            <a:ext cx="412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RECORD_ACCESSED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1303722" y="6613240"/>
            <a:ext cx="4114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doctor views record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11100522" y="7222840"/>
            <a:ext cx="4381500" cy="1117600"/>
          </a:xfrm>
          <a:custGeom>
            <a:avLst/>
            <a:gdLst/>
            <a:ahLst/>
            <a:cxnLst/>
            <a:rect l="l" t="t" r="r" b="b"/>
            <a:pathLst>
              <a:path w="4381500" h="1117600">
                <a:moveTo>
                  <a:pt x="101601" y="0"/>
                </a:moveTo>
                <a:lnTo>
                  <a:pt x="4279899" y="0"/>
                </a:lnTo>
                <a:cubicBezTo>
                  <a:pt x="4336012" y="0"/>
                  <a:pt x="4381500" y="45488"/>
                  <a:pt x="4381500" y="101601"/>
                </a:cubicBezTo>
                <a:lnTo>
                  <a:pt x="4381500" y="1015999"/>
                </a:lnTo>
                <a:cubicBezTo>
                  <a:pt x="4381500" y="1072112"/>
                  <a:pt x="4336012" y="1117600"/>
                  <a:pt x="4279899" y="1117600"/>
                </a:cubicBezTo>
                <a:lnTo>
                  <a:pt x="101601" y="1117600"/>
                </a:lnTo>
                <a:cubicBezTo>
                  <a:pt x="45488" y="1117600"/>
                  <a:pt x="0" y="1072112"/>
                  <a:pt x="0" y="10159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38A3A5">
              <a:alpha val="10196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11252922" y="7375240"/>
            <a:ext cx="416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8A3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Event Hash Chain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11252922" y="7680040"/>
            <a:ext cx="4165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SHA-256 event_hash links events. Immutable from patient/doctor perspective.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spc="140" kern="0" dirty="0">
                <a:solidFill>
                  <a:srgbClr val="38A3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Tools &amp; Libraries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240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5" name="Shape 3"/>
          <p:cNvSpPr/>
          <p:nvPr/>
        </p:nvSpPr>
        <p:spPr>
          <a:xfrm>
            <a:off x="512618" y="1833418"/>
            <a:ext cx="3616036" cy="3565236"/>
          </a:xfrm>
          <a:custGeom>
            <a:avLst/>
            <a:gdLst/>
            <a:ahLst/>
            <a:cxnLst/>
            <a:rect l="l" t="t" r="r" b="b"/>
            <a:pathLst>
              <a:path w="3616036" h="3565236">
                <a:moveTo>
                  <a:pt x="152414" y="0"/>
                </a:moveTo>
                <a:lnTo>
                  <a:pt x="3463623" y="0"/>
                </a:lnTo>
                <a:cubicBezTo>
                  <a:pt x="3547798" y="0"/>
                  <a:pt x="3616036" y="68238"/>
                  <a:pt x="3616036" y="152414"/>
                </a:cubicBezTo>
                <a:lnTo>
                  <a:pt x="3616036" y="3412823"/>
                </a:lnTo>
                <a:cubicBezTo>
                  <a:pt x="3616036" y="3496998"/>
                  <a:pt x="3547798" y="3565236"/>
                  <a:pt x="3463623" y="3565236"/>
                </a:cubicBezTo>
                <a:lnTo>
                  <a:pt x="152414" y="3565236"/>
                </a:lnTo>
                <a:cubicBezTo>
                  <a:pt x="68238" y="3565236"/>
                  <a:pt x="0" y="3496998"/>
                  <a:pt x="0" y="3412823"/>
                </a:cubicBezTo>
                <a:lnTo>
                  <a:pt x="0" y="152414"/>
                </a:lnTo>
                <a:cubicBezTo>
                  <a:pt x="0" y="68294"/>
                  <a:pt x="68294" y="0"/>
                  <a:pt x="152414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9236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1236" y="209204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8A3A5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49036" y="226984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29282" y="0"/>
                  <a:pt x="131564" y="496"/>
                  <a:pt x="133648" y="1439"/>
                </a:cubicBezTo>
                <a:lnTo>
                  <a:pt x="227112" y="41077"/>
                </a:lnTo>
                <a:cubicBezTo>
                  <a:pt x="238026" y="45690"/>
                  <a:pt x="246162" y="56455"/>
                  <a:pt x="246112" y="69453"/>
                </a:cubicBezTo>
                <a:cubicBezTo>
                  <a:pt x="245864" y="118666"/>
                  <a:pt x="225623" y="208707"/>
                  <a:pt x="140146" y="249634"/>
                </a:cubicBezTo>
                <a:cubicBezTo>
                  <a:pt x="131862" y="253603"/>
                  <a:pt x="122238" y="253603"/>
                  <a:pt x="113953" y="249634"/>
                </a:cubicBezTo>
                <a:cubicBezTo>
                  <a:pt x="28426" y="208707"/>
                  <a:pt x="8235" y="118666"/>
                  <a:pt x="7987" y="69453"/>
                </a:cubicBezTo>
                <a:cubicBezTo>
                  <a:pt x="7937" y="56455"/>
                  <a:pt x="16073" y="45690"/>
                  <a:pt x="26987" y="41077"/>
                </a:cubicBezTo>
                <a:lnTo>
                  <a:pt x="120402" y="1439"/>
                </a:lnTo>
                <a:cubicBezTo>
                  <a:pt x="122486" y="496"/>
                  <a:pt x="124718" y="0"/>
                  <a:pt x="127000" y="0"/>
                </a:cubicBezTo>
                <a:close/>
                <a:moveTo>
                  <a:pt x="127000" y="33139"/>
                </a:moveTo>
                <a:lnTo>
                  <a:pt x="127000" y="220712"/>
                </a:lnTo>
                <a:cubicBezTo>
                  <a:pt x="195461" y="187573"/>
                  <a:pt x="213866" y="114151"/>
                  <a:pt x="214313" y="70197"/>
                </a:cubicBezTo>
                <a:lnTo>
                  <a:pt x="127000" y="33189"/>
                </a:lnTo>
                <a:lnTo>
                  <a:pt x="127000" y="33189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8" name="Text 6"/>
          <p:cNvSpPr/>
          <p:nvPr/>
        </p:nvSpPr>
        <p:spPr>
          <a:xfrm>
            <a:off x="1533236" y="2219040"/>
            <a:ext cx="163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cryptography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1236" y="2904840"/>
            <a:ext cx="3187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PyCA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7749" y="334934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11" name="Text 9"/>
          <p:cNvSpPr/>
          <p:nvPr/>
        </p:nvSpPr>
        <p:spPr>
          <a:xfrm>
            <a:off x="1095086" y="3311240"/>
            <a:ext cx="146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ECDSA signatures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7749" y="370494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13" name="Text 11"/>
          <p:cNvSpPr/>
          <p:nvPr/>
        </p:nvSpPr>
        <p:spPr>
          <a:xfrm>
            <a:off x="1095086" y="3666840"/>
            <a:ext cx="1739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AES-GCM encryption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7749" y="406054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15" name="Text 13"/>
          <p:cNvSpPr/>
          <p:nvPr/>
        </p:nvSpPr>
        <p:spPr>
          <a:xfrm>
            <a:off x="1095086" y="4022440"/>
            <a:ext cx="1816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PBKDF2 key derivation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7749" y="441614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17" name="Text 15"/>
          <p:cNvSpPr/>
          <p:nvPr/>
        </p:nvSpPr>
        <p:spPr>
          <a:xfrm>
            <a:off x="1095086" y="4378040"/>
            <a:ext cx="162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ECIES key wrapping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71236" y="4835240"/>
            <a:ext cx="3098800" cy="304800"/>
          </a:xfrm>
          <a:custGeom>
            <a:avLst/>
            <a:gdLst/>
            <a:ahLst/>
            <a:cxnLst/>
            <a:rect l="l" t="t" r="r" b="b"/>
            <a:pathLst>
              <a:path w="3098800" h="304800">
                <a:moveTo>
                  <a:pt x="50801" y="0"/>
                </a:moveTo>
                <a:lnTo>
                  <a:pt x="3047999" y="0"/>
                </a:lnTo>
                <a:cubicBezTo>
                  <a:pt x="3076056" y="0"/>
                  <a:pt x="3098800" y="22744"/>
                  <a:pt x="3098800" y="50801"/>
                </a:cubicBezTo>
                <a:lnTo>
                  <a:pt x="3098800" y="253999"/>
                </a:lnTo>
                <a:cubicBezTo>
                  <a:pt x="3098800" y="282056"/>
                  <a:pt x="3076056" y="304800"/>
                  <a:pt x="3047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A3A5">
              <a:alpha val="1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33136" y="4835240"/>
            <a:ext cx="31750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8A3A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Core crypto library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386118" y="1833418"/>
            <a:ext cx="3616036" cy="3565236"/>
          </a:xfrm>
          <a:custGeom>
            <a:avLst/>
            <a:gdLst/>
            <a:ahLst/>
            <a:cxnLst/>
            <a:rect l="l" t="t" r="r" b="b"/>
            <a:pathLst>
              <a:path w="3616036" h="3565236">
                <a:moveTo>
                  <a:pt x="152414" y="0"/>
                </a:moveTo>
                <a:lnTo>
                  <a:pt x="3463623" y="0"/>
                </a:lnTo>
                <a:cubicBezTo>
                  <a:pt x="3547798" y="0"/>
                  <a:pt x="3616036" y="68238"/>
                  <a:pt x="3616036" y="152414"/>
                </a:cubicBezTo>
                <a:lnTo>
                  <a:pt x="3616036" y="3412823"/>
                </a:lnTo>
                <a:cubicBezTo>
                  <a:pt x="3616036" y="3496998"/>
                  <a:pt x="3547798" y="3565236"/>
                  <a:pt x="3463623" y="3565236"/>
                </a:cubicBezTo>
                <a:lnTo>
                  <a:pt x="152414" y="3565236"/>
                </a:lnTo>
                <a:cubicBezTo>
                  <a:pt x="68238" y="3565236"/>
                  <a:pt x="0" y="3496998"/>
                  <a:pt x="0" y="3412823"/>
                </a:cubicBezTo>
                <a:lnTo>
                  <a:pt x="0" y="152414"/>
                </a:lnTo>
                <a:cubicBezTo>
                  <a:pt x="0" y="68294"/>
                  <a:pt x="68294" y="0"/>
                  <a:pt x="152414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9236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44737" y="209204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8A3A5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806662" y="226984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0" y="63500"/>
                </a:moveTo>
                <a:cubicBezTo>
                  <a:pt x="0" y="45988"/>
                  <a:pt x="14238" y="31750"/>
                  <a:pt x="31750" y="31750"/>
                </a:cubicBezTo>
                <a:lnTo>
                  <a:pt x="254000" y="31750"/>
                </a:lnTo>
                <a:cubicBezTo>
                  <a:pt x="271512" y="31750"/>
                  <a:pt x="285750" y="45988"/>
                  <a:pt x="285750" y="63500"/>
                </a:cubicBezTo>
                <a:lnTo>
                  <a:pt x="285750" y="95250"/>
                </a:lnTo>
                <a:cubicBezTo>
                  <a:pt x="285750" y="99616"/>
                  <a:pt x="282079" y="103039"/>
                  <a:pt x="277961" y="104477"/>
                </a:cubicBezTo>
                <a:cubicBezTo>
                  <a:pt x="268635" y="107702"/>
                  <a:pt x="261937" y="116582"/>
                  <a:pt x="261937" y="127000"/>
                </a:cubicBezTo>
                <a:cubicBezTo>
                  <a:pt x="261937" y="137418"/>
                  <a:pt x="268635" y="146298"/>
                  <a:pt x="277961" y="149523"/>
                </a:cubicBezTo>
                <a:cubicBezTo>
                  <a:pt x="282079" y="150961"/>
                  <a:pt x="285750" y="154384"/>
                  <a:pt x="285750" y="158750"/>
                </a:cubicBezTo>
                <a:lnTo>
                  <a:pt x="285750" y="190500"/>
                </a:lnTo>
                <a:cubicBezTo>
                  <a:pt x="285750" y="208012"/>
                  <a:pt x="271512" y="222250"/>
                  <a:pt x="254000" y="222250"/>
                </a:cubicBezTo>
                <a:lnTo>
                  <a:pt x="31750" y="222250"/>
                </a:lnTo>
                <a:cubicBezTo>
                  <a:pt x="14238" y="222250"/>
                  <a:pt x="0" y="208012"/>
                  <a:pt x="0" y="190500"/>
                </a:cubicBezTo>
                <a:lnTo>
                  <a:pt x="0" y="158750"/>
                </a:lnTo>
                <a:cubicBezTo>
                  <a:pt x="0" y="154384"/>
                  <a:pt x="3671" y="150961"/>
                  <a:pt x="7789" y="149523"/>
                </a:cubicBezTo>
                <a:cubicBezTo>
                  <a:pt x="17115" y="146298"/>
                  <a:pt x="23812" y="137418"/>
                  <a:pt x="23812" y="127000"/>
                </a:cubicBezTo>
                <a:cubicBezTo>
                  <a:pt x="23812" y="116582"/>
                  <a:pt x="17115" y="107702"/>
                  <a:pt x="7789" y="104477"/>
                </a:cubicBezTo>
                <a:cubicBezTo>
                  <a:pt x="3671" y="103039"/>
                  <a:pt x="0" y="99616"/>
                  <a:pt x="0" y="95250"/>
                </a:cubicBezTo>
                <a:lnTo>
                  <a:pt x="0" y="63500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23" name="Text 21"/>
          <p:cNvSpPr/>
          <p:nvPr/>
        </p:nvSpPr>
        <p:spPr>
          <a:xfrm>
            <a:off x="5406737" y="2219040"/>
            <a:ext cx="952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PyJWT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644737" y="2904840"/>
            <a:ext cx="3187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Token Management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681249" y="334934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26" name="Text 24"/>
          <p:cNvSpPr/>
          <p:nvPr/>
        </p:nvSpPr>
        <p:spPr>
          <a:xfrm>
            <a:off x="4968587" y="3311240"/>
            <a:ext cx="1282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JWT generation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681249" y="370494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28" name="Text 26"/>
          <p:cNvSpPr/>
          <p:nvPr/>
        </p:nvSpPr>
        <p:spPr>
          <a:xfrm>
            <a:off x="4968587" y="3666840"/>
            <a:ext cx="1447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Token verification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681249" y="406054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30" name="Text 28"/>
          <p:cNvSpPr/>
          <p:nvPr/>
        </p:nvSpPr>
        <p:spPr>
          <a:xfrm>
            <a:off x="4968587" y="4022440"/>
            <a:ext cx="1371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HS256 algorithm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681249" y="441614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32" name="Text 30"/>
          <p:cNvSpPr/>
          <p:nvPr/>
        </p:nvSpPr>
        <p:spPr>
          <a:xfrm>
            <a:off x="4968587" y="4378040"/>
            <a:ext cx="1320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Claim validation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644737" y="4835240"/>
            <a:ext cx="3098800" cy="304800"/>
          </a:xfrm>
          <a:custGeom>
            <a:avLst/>
            <a:gdLst/>
            <a:ahLst/>
            <a:cxnLst/>
            <a:rect l="l" t="t" r="r" b="b"/>
            <a:pathLst>
              <a:path w="3098800" h="304800">
                <a:moveTo>
                  <a:pt x="50801" y="0"/>
                </a:moveTo>
                <a:lnTo>
                  <a:pt x="3047999" y="0"/>
                </a:lnTo>
                <a:cubicBezTo>
                  <a:pt x="3076056" y="0"/>
                  <a:pt x="3098800" y="22744"/>
                  <a:pt x="3098800" y="50801"/>
                </a:cubicBezTo>
                <a:lnTo>
                  <a:pt x="3098800" y="253999"/>
                </a:lnTo>
                <a:cubicBezTo>
                  <a:pt x="3098800" y="282056"/>
                  <a:pt x="3076056" y="304800"/>
                  <a:pt x="3047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A3A5">
              <a:alpha val="1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606637" y="4835240"/>
            <a:ext cx="31750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8A3A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Auth tokens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259618" y="1833418"/>
            <a:ext cx="3616036" cy="3565236"/>
          </a:xfrm>
          <a:custGeom>
            <a:avLst/>
            <a:gdLst/>
            <a:ahLst/>
            <a:cxnLst/>
            <a:rect l="l" t="t" r="r" b="b"/>
            <a:pathLst>
              <a:path w="3616036" h="3565236">
                <a:moveTo>
                  <a:pt x="152414" y="0"/>
                </a:moveTo>
                <a:lnTo>
                  <a:pt x="3463623" y="0"/>
                </a:lnTo>
                <a:cubicBezTo>
                  <a:pt x="3547798" y="0"/>
                  <a:pt x="3616036" y="68238"/>
                  <a:pt x="3616036" y="152414"/>
                </a:cubicBezTo>
                <a:lnTo>
                  <a:pt x="3616036" y="3412823"/>
                </a:lnTo>
                <a:cubicBezTo>
                  <a:pt x="3616036" y="3496998"/>
                  <a:pt x="3547798" y="3565236"/>
                  <a:pt x="3463623" y="3565236"/>
                </a:cubicBezTo>
                <a:lnTo>
                  <a:pt x="152414" y="3565236"/>
                </a:lnTo>
                <a:cubicBezTo>
                  <a:pt x="68238" y="3565236"/>
                  <a:pt x="0" y="3496998"/>
                  <a:pt x="0" y="3412823"/>
                </a:cubicBezTo>
                <a:lnTo>
                  <a:pt x="0" y="152414"/>
                </a:lnTo>
                <a:cubicBezTo>
                  <a:pt x="0" y="68294"/>
                  <a:pt x="68294" y="0"/>
                  <a:pt x="152414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9236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518237" y="209204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8A3A5">
              <a:alpha val="2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711912" y="226984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222250" y="102096"/>
                </a:moveTo>
                <a:cubicBezTo>
                  <a:pt x="214908" y="106958"/>
                  <a:pt x="206474" y="110877"/>
                  <a:pt x="197693" y="114002"/>
                </a:cubicBezTo>
                <a:cubicBezTo>
                  <a:pt x="174377" y="122337"/>
                  <a:pt x="143768" y="127000"/>
                  <a:pt x="111125" y="127000"/>
                </a:cubicBezTo>
                <a:cubicBezTo>
                  <a:pt x="78482" y="127000"/>
                  <a:pt x="47823" y="122287"/>
                  <a:pt x="24557" y="114002"/>
                </a:cubicBezTo>
                <a:cubicBezTo>
                  <a:pt x="15825" y="110877"/>
                  <a:pt x="7342" y="106958"/>
                  <a:pt x="0" y="102096"/>
                </a:cubicBezTo>
                <a:lnTo>
                  <a:pt x="0" y="142875"/>
                </a:lnTo>
                <a:cubicBezTo>
                  <a:pt x="0" y="164802"/>
                  <a:pt x="49758" y="182563"/>
                  <a:pt x="111125" y="182563"/>
                </a:cubicBezTo>
                <a:cubicBezTo>
                  <a:pt x="172492" y="182563"/>
                  <a:pt x="222250" y="164802"/>
                  <a:pt x="222250" y="142875"/>
                </a:cubicBezTo>
                <a:lnTo>
                  <a:pt x="222250" y="102096"/>
                </a:lnTo>
                <a:close/>
                <a:moveTo>
                  <a:pt x="222250" y="63500"/>
                </a:moveTo>
                <a:lnTo>
                  <a:pt x="222250" y="39688"/>
                </a:lnTo>
                <a:cubicBezTo>
                  <a:pt x="222250" y="17760"/>
                  <a:pt x="172492" y="0"/>
                  <a:pt x="111125" y="0"/>
                </a:cubicBezTo>
                <a:cubicBezTo>
                  <a:pt x="49758" y="0"/>
                  <a:pt x="0" y="17760"/>
                  <a:pt x="0" y="39688"/>
                </a:cubicBezTo>
                <a:lnTo>
                  <a:pt x="0" y="63500"/>
                </a:lnTo>
                <a:cubicBezTo>
                  <a:pt x="0" y="85427"/>
                  <a:pt x="49758" y="103188"/>
                  <a:pt x="111125" y="103188"/>
                </a:cubicBezTo>
                <a:cubicBezTo>
                  <a:pt x="172492" y="103188"/>
                  <a:pt x="222250" y="85427"/>
                  <a:pt x="222250" y="63500"/>
                </a:cubicBezTo>
                <a:close/>
                <a:moveTo>
                  <a:pt x="197693" y="193377"/>
                </a:moveTo>
                <a:cubicBezTo>
                  <a:pt x="174427" y="201662"/>
                  <a:pt x="143818" y="206375"/>
                  <a:pt x="111125" y="206375"/>
                </a:cubicBezTo>
                <a:cubicBezTo>
                  <a:pt x="78432" y="206375"/>
                  <a:pt x="47823" y="201662"/>
                  <a:pt x="24557" y="193377"/>
                </a:cubicBezTo>
                <a:cubicBezTo>
                  <a:pt x="15825" y="190252"/>
                  <a:pt x="7342" y="186333"/>
                  <a:pt x="0" y="181471"/>
                </a:cubicBezTo>
                <a:lnTo>
                  <a:pt x="0" y="214313"/>
                </a:lnTo>
                <a:cubicBezTo>
                  <a:pt x="0" y="236240"/>
                  <a:pt x="49758" y="254000"/>
                  <a:pt x="111125" y="254000"/>
                </a:cubicBezTo>
                <a:cubicBezTo>
                  <a:pt x="172492" y="254000"/>
                  <a:pt x="222250" y="236240"/>
                  <a:pt x="222250" y="214313"/>
                </a:cubicBezTo>
                <a:lnTo>
                  <a:pt x="222250" y="181471"/>
                </a:lnTo>
                <a:cubicBezTo>
                  <a:pt x="214908" y="186333"/>
                  <a:pt x="206474" y="190252"/>
                  <a:pt x="197693" y="193377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38" name="Text 36"/>
          <p:cNvSpPr/>
          <p:nvPr/>
        </p:nvSpPr>
        <p:spPr>
          <a:xfrm>
            <a:off x="9280237" y="2219040"/>
            <a:ext cx="1600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SQLAlchemy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518237" y="2904840"/>
            <a:ext cx="3187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ORM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554749" y="334934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41" name="Text 39"/>
          <p:cNvSpPr/>
          <p:nvPr/>
        </p:nvSpPr>
        <p:spPr>
          <a:xfrm>
            <a:off x="8842087" y="3311240"/>
            <a:ext cx="1663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operations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554749" y="370494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43" name="Text 41"/>
          <p:cNvSpPr/>
          <p:nvPr/>
        </p:nvSpPr>
        <p:spPr>
          <a:xfrm>
            <a:off x="8842087" y="3666840"/>
            <a:ext cx="1409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definitions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554749" y="406054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45" name="Text 43"/>
          <p:cNvSpPr/>
          <p:nvPr/>
        </p:nvSpPr>
        <p:spPr>
          <a:xfrm>
            <a:off x="8842087" y="4022440"/>
            <a:ext cx="121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Query building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554749" y="441614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47" name="Text 45"/>
          <p:cNvSpPr/>
          <p:nvPr/>
        </p:nvSpPr>
        <p:spPr>
          <a:xfrm>
            <a:off x="8842087" y="4378040"/>
            <a:ext cx="1473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Transaction mgmt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518237" y="4835240"/>
            <a:ext cx="3098800" cy="304800"/>
          </a:xfrm>
          <a:custGeom>
            <a:avLst/>
            <a:gdLst/>
            <a:ahLst/>
            <a:cxnLst/>
            <a:rect l="l" t="t" r="r" b="b"/>
            <a:pathLst>
              <a:path w="3098800" h="304800">
                <a:moveTo>
                  <a:pt x="50801" y="0"/>
                </a:moveTo>
                <a:lnTo>
                  <a:pt x="3047999" y="0"/>
                </a:lnTo>
                <a:cubicBezTo>
                  <a:pt x="3076056" y="0"/>
                  <a:pt x="3098800" y="22744"/>
                  <a:pt x="3098800" y="50801"/>
                </a:cubicBezTo>
                <a:lnTo>
                  <a:pt x="3098800" y="253999"/>
                </a:lnTo>
                <a:cubicBezTo>
                  <a:pt x="3098800" y="282056"/>
                  <a:pt x="3076056" y="304800"/>
                  <a:pt x="3047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A3A5">
              <a:alpha val="10196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8480137" y="4835240"/>
            <a:ext cx="31750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8A3A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2133118" y="1833418"/>
            <a:ext cx="3616036" cy="3565236"/>
          </a:xfrm>
          <a:custGeom>
            <a:avLst/>
            <a:gdLst/>
            <a:ahLst/>
            <a:cxnLst/>
            <a:rect l="l" t="t" r="r" b="b"/>
            <a:pathLst>
              <a:path w="3616036" h="3565236">
                <a:moveTo>
                  <a:pt x="152414" y="0"/>
                </a:moveTo>
                <a:lnTo>
                  <a:pt x="3463623" y="0"/>
                </a:lnTo>
                <a:cubicBezTo>
                  <a:pt x="3547798" y="0"/>
                  <a:pt x="3616036" y="68238"/>
                  <a:pt x="3616036" y="152414"/>
                </a:cubicBezTo>
                <a:lnTo>
                  <a:pt x="3616036" y="3412823"/>
                </a:lnTo>
                <a:cubicBezTo>
                  <a:pt x="3616036" y="3496998"/>
                  <a:pt x="3547798" y="3565236"/>
                  <a:pt x="3463623" y="3565236"/>
                </a:cubicBezTo>
                <a:lnTo>
                  <a:pt x="152414" y="3565236"/>
                </a:lnTo>
                <a:cubicBezTo>
                  <a:pt x="68238" y="3565236"/>
                  <a:pt x="0" y="3496998"/>
                  <a:pt x="0" y="3412823"/>
                </a:cubicBezTo>
                <a:lnTo>
                  <a:pt x="0" y="152414"/>
                </a:lnTo>
                <a:cubicBezTo>
                  <a:pt x="0" y="68294"/>
                  <a:pt x="68294" y="0"/>
                  <a:pt x="152414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9236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2391737" y="209204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8A3A5">
              <a:alpha val="2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2585412" y="226984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31750" y="15875"/>
                </a:moveTo>
                <a:cubicBezTo>
                  <a:pt x="14238" y="15875"/>
                  <a:pt x="0" y="30113"/>
                  <a:pt x="0" y="47625"/>
                </a:cubicBezTo>
                <a:lnTo>
                  <a:pt x="0" y="79375"/>
                </a:lnTo>
                <a:cubicBezTo>
                  <a:pt x="0" y="96887"/>
                  <a:pt x="14238" y="111125"/>
                  <a:pt x="31750" y="111125"/>
                </a:cubicBezTo>
                <a:lnTo>
                  <a:pt x="190500" y="111125"/>
                </a:lnTo>
                <a:cubicBezTo>
                  <a:pt x="208012" y="111125"/>
                  <a:pt x="222250" y="96887"/>
                  <a:pt x="222250" y="79375"/>
                </a:cubicBezTo>
                <a:lnTo>
                  <a:pt x="222250" y="47625"/>
                </a:lnTo>
                <a:cubicBezTo>
                  <a:pt x="222250" y="30113"/>
                  <a:pt x="208012" y="15875"/>
                  <a:pt x="190500" y="15875"/>
                </a:cubicBezTo>
                <a:lnTo>
                  <a:pt x="31750" y="15875"/>
                </a:lnTo>
                <a:close/>
                <a:moveTo>
                  <a:pt x="138906" y="51594"/>
                </a:moveTo>
                <a:cubicBezTo>
                  <a:pt x="145477" y="51594"/>
                  <a:pt x="150813" y="56929"/>
                  <a:pt x="150813" y="63500"/>
                </a:cubicBezTo>
                <a:cubicBezTo>
                  <a:pt x="150813" y="70071"/>
                  <a:pt x="145477" y="75406"/>
                  <a:pt x="138906" y="75406"/>
                </a:cubicBezTo>
                <a:cubicBezTo>
                  <a:pt x="132335" y="75406"/>
                  <a:pt x="127000" y="70071"/>
                  <a:pt x="127000" y="63500"/>
                </a:cubicBezTo>
                <a:cubicBezTo>
                  <a:pt x="127000" y="56929"/>
                  <a:pt x="132335" y="51594"/>
                  <a:pt x="138906" y="51594"/>
                </a:cubicBezTo>
                <a:close/>
                <a:moveTo>
                  <a:pt x="166688" y="63500"/>
                </a:moveTo>
                <a:cubicBezTo>
                  <a:pt x="166688" y="56929"/>
                  <a:pt x="172023" y="51594"/>
                  <a:pt x="178594" y="51594"/>
                </a:cubicBezTo>
                <a:cubicBezTo>
                  <a:pt x="185165" y="51594"/>
                  <a:pt x="190500" y="56929"/>
                  <a:pt x="190500" y="63500"/>
                </a:cubicBezTo>
                <a:cubicBezTo>
                  <a:pt x="190500" y="70071"/>
                  <a:pt x="185165" y="75406"/>
                  <a:pt x="178594" y="75406"/>
                </a:cubicBezTo>
                <a:cubicBezTo>
                  <a:pt x="172023" y="75406"/>
                  <a:pt x="166688" y="70071"/>
                  <a:pt x="166688" y="63500"/>
                </a:cubicBezTo>
                <a:close/>
                <a:moveTo>
                  <a:pt x="31750" y="142875"/>
                </a:moveTo>
                <a:cubicBezTo>
                  <a:pt x="14238" y="142875"/>
                  <a:pt x="0" y="157113"/>
                  <a:pt x="0" y="174625"/>
                </a:cubicBezTo>
                <a:lnTo>
                  <a:pt x="0" y="206375"/>
                </a:lnTo>
                <a:cubicBezTo>
                  <a:pt x="0" y="223887"/>
                  <a:pt x="14238" y="238125"/>
                  <a:pt x="31750" y="238125"/>
                </a:cubicBezTo>
                <a:lnTo>
                  <a:pt x="190500" y="238125"/>
                </a:lnTo>
                <a:cubicBezTo>
                  <a:pt x="208012" y="238125"/>
                  <a:pt x="222250" y="223887"/>
                  <a:pt x="222250" y="206375"/>
                </a:cubicBezTo>
                <a:lnTo>
                  <a:pt x="222250" y="174625"/>
                </a:lnTo>
                <a:cubicBezTo>
                  <a:pt x="222250" y="157113"/>
                  <a:pt x="208012" y="142875"/>
                  <a:pt x="190500" y="142875"/>
                </a:cubicBezTo>
                <a:lnTo>
                  <a:pt x="31750" y="142875"/>
                </a:lnTo>
                <a:close/>
                <a:moveTo>
                  <a:pt x="138906" y="178594"/>
                </a:moveTo>
                <a:cubicBezTo>
                  <a:pt x="145477" y="178594"/>
                  <a:pt x="150813" y="183929"/>
                  <a:pt x="150813" y="190500"/>
                </a:cubicBezTo>
                <a:cubicBezTo>
                  <a:pt x="150813" y="197071"/>
                  <a:pt x="145477" y="202406"/>
                  <a:pt x="138906" y="202406"/>
                </a:cubicBezTo>
                <a:cubicBezTo>
                  <a:pt x="132335" y="202406"/>
                  <a:pt x="127000" y="197071"/>
                  <a:pt x="127000" y="190500"/>
                </a:cubicBezTo>
                <a:cubicBezTo>
                  <a:pt x="127000" y="183929"/>
                  <a:pt x="132335" y="178594"/>
                  <a:pt x="138906" y="178594"/>
                </a:cubicBezTo>
                <a:close/>
                <a:moveTo>
                  <a:pt x="166688" y="190500"/>
                </a:moveTo>
                <a:cubicBezTo>
                  <a:pt x="166688" y="183929"/>
                  <a:pt x="172023" y="178594"/>
                  <a:pt x="178594" y="178594"/>
                </a:cubicBezTo>
                <a:cubicBezTo>
                  <a:pt x="185165" y="178594"/>
                  <a:pt x="190500" y="183929"/>
                  <a:pt x="190500" y="190500"/>
                </a:cubicBezTo>
                <a:cubicBezTo>
                  <a:pt x="190500" y="197071"/>
                  <a:pt x="185165" y="202406"/>
                  <a:pt x="178594" y="202406"/>
                </a:cubicBezTo>
                <a:cubicBezTo>
                  <a:pt x="172023" y="202406"/>
                  <a:pt x="166688" y="197071"/>
                  <a:pt x="166688" y="190500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53" name="Text 51"/>
          <p:cNvSpPr/>
          <p:nvPr/>
        </p:nvSpPr>
        <p:spPr>
          <a:xfrm>
            <a:off x="13153737" y="2219040"/>
            <a:ext cx="2438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SQLite / PostgreSQL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2391737" y="2904840"/>
            <a:ext cx="3187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Engine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12428249" y="334934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56" name="Text 54"/>
          <p:cNvSpPr/>
          <p:nvPr/>
        </p:nvSpPr>
        <p:spPr>
          <a:xfrm>
            <a:off x="12715587" y="3311240"/>
            <a:ext cx="104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SQLite (dev)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2428249" y="370494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58" name="Text 56"/>
          <p:cNvSpPr/>
          <p:nvPr/>
        </p:nvSpPr>
        <p:spPr>
          <a:xfrm>
            <a:off x="12715587" y="3666840"/>
            <a:ext cx="1498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PostgreSQL (prod)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12428249" y="406054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60" name="Text 58"/>
          <p:cNvSpPr/>
          <p:nvPr/>
        </p:nvSpPr>
        <p:spPr>
          <a:xfrm>
            <a:off x="12715587" y="4022440"/>
            <a:ext cx="1422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ACID compliance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2428249" y="441614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62" name="Text 60"/>
          <p:cNvSpPr/>
          <p:nvPr/>
        </p:nvSpPr>
        <p:spPr>
          <a:xfrm>
            <a:off x="12715587" y="4378040"/>
            <a:ext cx="1308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Reliable storage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12391737" y="4835240"/>
            <a:ext cx="3098800" cy="304800"/>
          </a:xfrm>
          <a:custGeom>
            <a:avLst/>
            <a:gdLst/>
            <a:ahLst/>
            <a:cxnLst/>
            <a:rect l="l" t="t" r="r" b="b"/>
            <a:pathLst>
              <a:path w="3098800" h="304800">
                <a:moveTo>
                  <a:pt x="50801" y="0"/>
                </a:moveTo>
                <a:lnTo>
                  <a:pt x="3047999" y="0"/>
                </a:lnTo>
                <a:cubicBezTo>
                  <a:pt x="3076056" y="0"/>
                  <a:pt x="3098800" y="22744"/>
                  <a:pt x="3098800" y="50801"/>
                </a:cubicBezTo>
                <a:lnTo>
                  <a:pt x="3098800" y="253999"/>
                </a:lnTo>
                <a:cubicBezTo>
                  <a:pt x="3098800" y="282056"/>
                  <a:pt x="3076056" y="304800"/>
                  <a:pt x="3047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A3A5">
              <a:alpha val="10196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12353637" y="4835240"/>
            <a:ext cx="31750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8A3A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Persistence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512618" y="5661891"/>
            <a:ext cx="3616036" cy="3565236"/>
          </a:xfrm>
          <a:custGeom>
            <a:avLst/>
            <a:gdLst/>
            <a:ahLst/>
            <a:cxnLst/>
            <a:rect l="l" t="t" r="r" b="b"/>
            <a:pathLst>
              <a:path w="3616036" h="3565236">
                <a:moveTo>
                  <a:pt x="152414" y="0"/>
                </a:moveTo>
                <a:lnTo>
                  <a:pt x="3463623" y="0"/>
                </a:lnTo>
                <a:cubicBezTo>
                  <a:pt x="3547798" y="0"/>
                  <a:pt x="3616036" y="68238"/>
                  <a:pt x="3616036" y="152414"/>
                </a:cubicBezTo>
                <a:lnTo>
                  <a:pt x="3616036" y="3412823"/>
                </a:lnTo>
                <a:cubicBezTo>
                  <a:pt x="3616036" y="3496998"/>
                  <a:pt x="3547798" y="3565236"/>
                  <a:pt x="3463623" y="3565236"/>
                </a:cubicBezTo>
                <a:lnTo>
                  <a:pt x="152414" y="3565236"/>
                </a:lnTo>
                <a:cubicBezTo>
                  <a:pt x="68238" y="3565236"/>
                  <a:pt x="0" y="3496998"/>
                  <a:pt x="0" y="3412823"/>
                </a:cubicBezTo>
                <a:lnTo>
                  <a:pt x="0" y="152414"/>
                </a:lnTo>
                <a:cubicBezTo>
                  <a:pt x="0" y="68294"/>
                  <a:pt x="68294" y="0"/>
                  <a:pt x="152414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9236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71236" y="592051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8A3A5">
              <a:alpha val="20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64911" y="6098313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168077" y="-4911"/>
                </a:moveTo>
                <a:cubicBezTo>
                  <a:pt x="173980" y="-645"/>
                  <a:pt x="176163" y="7094"/>
                  <a:pt x="173484" y="13841"/>
                </a:cubicBezTo>
                <a:lnTo>
                  <a:pt x="134590" y="111125"/>
                </a:lnTo>
                <a:lnTo>
                  <a:pt x="206375" y="111125"/>
                </a:lnTo>
                <a:cubicBezTo>
                  <a:pt x="213072" y="111125"/>
                  <a:pt x="219025" y="115292"/>
                  <a:pt x="221307" y="121593"/>
                </a:cubicBezTo>
                <a:cubicBezTo>
                  <a:pt x="223589" y="127893"/>
                  <a:pt x="221655" y="134938"/>
                  <a:pt x="216545" y="139204"/>
                </a:cubicBezTo>
                <a:lnTo>
                  <a:pt x="73670" y="258266"/>
                </a:lnTo>
                <a:cubicBezTo>
                  <a:pt x="68064" y="262930"/>
                  <a:pt x="60077" y="263178"/>
                  <a:pt x="54173" y="258911"/>
                </a:cubicBezTo>
                <a:cubicBezTo>
                  <a:pt x="48270" y="254645"/>
                  <a:pt x="46087" y="246906"/>
                  <a:pt x="48766" y="240159"/>
                </a:cubicBezTo>
                <a:lnTo>
                  <a:pt x="87660" y="142875"/>
                </a:lnTo>
                <a:lnTo>
                  <a:pt x="15875" y="142875"/>
                </a:lnTo>
                <a:cubicBezTo>
                  <a:pt x="9178" y="142875"/>
                  <a:pt x="3225" y="138708"/>
                  <a:pt x="943" y="132407"/>
                </a:cubicBezTo>
                <a:cubicBezTo>
                  <a:pt x="-1339" y="126107"/>
                  <a:pt x="595" y="119062"/>
                  <a:pt x="5705" y="114796"/>
                </a:cubicBezTo>
                <a:lnTo>
                  <a:pt x="148580" y="-4266"/>
                </a:lnTo>
                <a:cubicBezTo>
                  <a:pt x="154186" y="-8930"/>
                  <a:pt x="162173" y="-9178"/>
                  <a:pt x="168077" y="-4911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68" name="Text 66"/>
          <p:cNvSpPr/>
          <p:nvPr/>
        </p:nvSpPr>
        <p:spPr>
          <a:xfrm>
            <a:off x="1533236" y="6047513"/>
            <a:ext cx="1003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FastAPI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771236" y="6733313"/>
            <a:ext cx="3187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 API Framework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07749" y="7177807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71" name="Text 69"/>
          <p:cNvSpPr/>
          <p:nvPr/>
        </p:nvSpPr>
        <p:spPr>
          <a:xfrm>
            <a:off x="1095086" y="7139707"/>
            <a:ext cx="1473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performance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807749" y="7533407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73" name="Text 71"/>
          <p:cNvSpPr/>
          <p:nvPr/>
        </p:nvSpPr>
        <p:spPr>
          <a:xfrm>
            <a:off x="1095086" y="7495307"/>
            <a:ext cx="1536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Pydantic validation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807749" y="7889007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75" name="Text 73"/>
          <p:cNvSpPr/>
          <p:nvPr/>
        </p:nvSpPr>
        <p:spPr>
          <a:xfrm>
            <a:off x="1095086" y="7850907"/>
            <a:ext cx="172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Auto-generated docs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807749" y="8244607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77" name="Text 75"/>
          <p:cNvSpPr/>
          <p:nvPr/>
        </p:nvSpPr>
        <p:spPr>
          <a:xfrm>
            <a:off x="1095086" y="8206507"/>
            <a:ext cx="1206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Async support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771236" y="8663707"/>
            <a:ext cx="3098800" cy="304800"/>
          </a:xfrm>
          <a:custGeom>
            <a:avLst/>
            <a:gdLst/>
            <a:ahLst/>
            <a:cxnLst/>
            <a:rect l="l" t="t" r="r" b="b"/>
            <a:pathLst>
              <a:path w="3098800" h="304800">
                <a:moveTo>
                  <a:pt x="50801" y="0"/>
                </a:moveTo>
                <a:lnTo>
                  <a:pt x="3047999" y="0"/>
                </a:lnTo>
                <a:cubicBezTo>
                  <a:pt x="3076056" y="0"/>
                  <a:pt x="3098800" y="22744"/>
                  <a:pt x="3098800" y="50801"/>
                </a:cubicBezTo>
                <a:lnTo>
                  <a:pt x="3098800" y="253999"/>
                </a:lnTo>
                <a:cubicBezTo>
                  <a:pt x="3098800" y="282056"/>
                  <a:pt x="3076056" y="304800"/>
                  <a:pt x="3047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A3A5">
              <a:alpha val="10196"/>
            </a:srgbClr>
          </a:solidFill>
          <a:ln/>
        </p:spPr>
      </p:sp>
      <p:sp>
        <p:nvSpPr>
          <p:cNvPr id="79" name="Text 77"/>
          <p:cNvSpPr/>
          <p:nvPr/>
        </p:nvSpPr>
        <p:spPr>
          <a:xfrm>
            <a:off x="733136" y="8663707"/>
            <a:ext cx="31750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8A3A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API layer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4386118" y="5661891"/>
            <a:ext cx="3616036" cy="3565236"/>
          </a:xfrm>
          <a:custGeom>
            <a:avLst/>
            <a:gdLst/>
            <a:ahLst/>
            <a:cxnLst/>
            <a:rect l="l" t="t" r="r" b="b"/>
            <a:pathLst>
              <a:path w="3616036" h="3565236">
                <a:moveTo>
                  <a:pt x="152414" y="0"/>
                </a:moveTo>
                <a:lnTo>
                  <a:pt x="3463623" y="0"/>
                </a:lnTo>
                <a:cubicBezTo>
                  <a:pt x="3547798" y="0"/>
                  <a:pt x="3616036" y="68238"/>
                  <a:pt x="3616036" y="152414"/>
                </a:cubicBezTo>
                <a:lnTo>
                  <a:pt x="3616036" y="3412823"/>
                </a:lnTo>
                <a:cubicBezTo>
                  <a:pt x="3616036" y="3496998"/>
                  <a:pt x="3547798" y="3565236"/>
                  <a:pt x="3463623" y="3565236"/>
                </a:cubicBezTo>
                <a:lnTo>
                  <a:pt x="152414" y="3565236"/>
                </a:lnTo>
                <a:cubicBezTo>
                  <a:pt x="68238" y="3565236"/>
                  <a:pt x="0" y="3496998"/>
                  <a:pt x="0" y="3412823"/>
                </a:cubicBezTo>
                <a:lnTo>
                  <a:pt x="0" y="152414"/>
                </a:lnTo>
                <a:cubicBezTo>
                  <a:pt x="0" y="68294"/>
                  <a:pt x="68294" y="0"/>
                  <a:pt x="152414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9236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644737" y="592051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8A3A5">
              <a:alpha val="20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4838412" y="6098313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31750" y="79375"/>
                </a:moveTo>
                <a:lnTo>
                  <a:pt x="63500" y="79375"/>
                </a:lnTo>
                <a:lnTo>
                  <a:pt x="63500" y="47625"/>
                </a:lnTo>
                <a:lnTo>
                  <a:pt x="31750" y="47625"/>
                </a:lnTo>
                <a:lnTo>
                  <a:pt x="31750" y="79375"/>
                </a:lnTo>
                <a:close/>
                <a:moveTo>
                  <a:pt x="0" y="39688"/>
                </a:moveTo>
                <a:cubicBezTo>
                  <a:pt x="0" y="26541"/>
                  <a:pt x="10666" y="15875"/>
                  <a:pt x="23812" y="15875"/>
                </a:cubicBezTo>
                <a:lnTo>
                  <a:pt x="71438" y="15875"/>
                </a:lnTo>
                <a:cubicBezTo>
                  <a:pt x="84584" y="15875"/>
                  <a:pt x="95250" y="26541"/>
                  <a:pt x="95250" y="39688"/>
                </a:cubicBezTo>
                <a:lnTo>
                  <a:pt x="95250" y="87313"/>
                </a:lnTo>
                <a:cubicBezTo>
                  <a:pt x="95250" y="100459"/>
                  <a:pt x="84584" y="111125"/>
                  <a:pt x="71438" y="111125"/>
                </a:cubicBezTo>
                <a:lnTo>
                  <a:pt x="23812" y="111125"/>
                </a:lnTo>
                <a:cubicBezTo>
                  <a:pt x="10666" y="111125"/>
                  <a:pt x="0" y="100459"/>
                  <a:pt x="0" y="87313"/>
                </a:cubicBezTo>
                <a:lnTo>
                  <a:pt x="0" y="39688"/>
                </a:lnTo>
                <a:close/>
                <a:moveTo>
                  <a:pt x="31750" y="206375"/>
                </a:moveTo>
                <a:lnTo>
                  <a:pt x="63500" y="206375"/>
                </a:lnTo>
                <a:lnTo>
                  <a:pt x="63500" y="174625"/>
                </a:lnTo>
                <a:lnTo>
                  <a:pt x="31750" y="174625"/>
                </a:lnTo>
                <a:lnTo>
                  <a:pt x="31750" y="206375"/>
                </a:lnTo>
                <a:close/>
                <a:moveTo>
                  <a:pt x="0" y="166688"/>
                </a:moveTo>
                <a:cubicBezTo>
                  <a:pt x="0" y="153541"/>
                  <a:pt x="10666" y="142875"/>
                  <a:pt x="23812" y="142875"/>
                </a:cubicBezTo>
                <a:lnTo>
                  <a:pt x="71438" y="142875"/>
                </a:lnTo>
                <a:cubicBezTo>
                  <a:pt x="84584" y="142875"/>
                  <a:pt x="95250" y="153541"/>
                  <a:pt x="95250" y="166688"/>
                </a:cubicBezTo>
                <a:lnTo>
                  <a:pt x="95250" y="214313"/>
                </a:lnTo>
                <a:cubicBezTo>
                  <a:pt x="95250" y="227459"/>
                  <a:pt x="84584" y="238125"/>
                  <a:pt x="71438" y="238125"/>
                </a:cubicBezTo>
                <a:lnTo>
                  <a:pt x="23812" y="238125"/>
                </a:lnTo>
                <a:cubicBezTo>
                  <a:pt x="10666" y="238125"/>
                  <a:pt x="0" y="227459"/>
                  <a:pt x="0" y="214313"/>
                </a:cubicBezTo>
                <a:lnTo>
                  <a:pt x="0" y="166688"/>
                </a:lnTo>
                <a:close/>
                <a:moveTo>
                  <a:pt x="158750" y="47625"/>
                </a:moveTo>
                <a:lnTo>
                  <a:pt x="158750" y="79375"/>
                </a:lnTo>
                <a:lnTo>
                  <a:pt x="190500" y="79375"/>
                </a:lnTo>
                <a:lnTo>
                  <a:pt x="190500" y="47625"/>
                </a:lnTo>
                <a:lnTo>
                  <a:pt x="158750" y="47625"/>
                </a:lnTo>
                <a:close/>
                <a:moveTo>
                  <a:pt x="150813" y="15875"/>
                </a:moveTo>
                <a:lnTo>
                  <a:pt x="198438" y="15875"/>
                </a:lnTo>
                <a:cubicBezTo>
                  <a:pt x="211584" y="15875"/>
                  <a:pt x="222250" y="26541"/>
                  <a:pt x="222250" y="39688"/>
                </a:cubicBezTo>
                <a:lnTo>
                  <a:pt x="222250" y="87313"/>
                </a:lnTo>
                <a:cubicBezTo>
                  <a:pt x="222250" y="100459"/>
                  <a:pt x="211584" y="111125"/>
                  <a:pt x="198438" y="111125"/>
                </a:cubicBezTo>
                <a:lnTo>
                  <a:pt x="150813" y="111125"/>
                </a:lnTo>
                <a:cubicBezTo>
                  <a:pt x="137666" y="111125"/>
                  <a:pt x="127000" y="100459"/>
                  <a:pt x="127000" y="87313"/>
                </a:cubicBezTo>
                <a:lnTo>
                  <a:pt x="127000" y="39688"/>
                </a:lnTo>
                <a:cubicBezTo>
                  <a:pt x="127000" y="26541"/>
                  <a:pt x="137666" y="15875"/>
                  <a:pt x="150813" y="15875"/>
                </a:cubicBezTo>
                <a:close/>
                <a:moveTo>
                  <a:pt x="142875" y="174625"/>
                </a:moveTo>
                <a:cubicBezTo>
                  <a:pt x="134113" y="174625"/>
                  <a:pt x="127000" y="167512"/>
                  <a:pt x="127000" y="158750"/>
                </a:cubicBezTo>
                <a:cubicBezTo>
                  <a:pt x="127000" y="149988"/>
                  <a:pt x="134113" y="142875"/>
                  <a:pt x="142875" y="142875"/>
                </a:cubicBezTo>
                <a:cubicBezTo>
                  <a:pt x="151637" y="142875"/>
                  <a:pt x="158750" y="149988"/>
                  <a:pt x="158750" y="158750"/>
                </a:cubicBezTo>
                <a:cubicBezTo>
                  <a:pt x="158750" y="167512"/>
                  <a:pt x="151637" y="174625"/>
                  <a:pt x="142875" y="174625"/>
                </a:cubicBezTo>
                <a:close/>
                <a:moveTo>
                  <a:pt x="142875" y="206375"/>
                </a:moveTo>
                <a:cubicBezTo>
                  <a:pt x="151656" y="206375"/>
                  <a:pt x="158750" y="213469"/>
                  <a:pt x="158750" y="222250"/>
                </a:cubicBezTo>
                <a:cubicBezTo>
                  <a:pt x="158750" y="231031"/>
                  <a:pt x="151656" y="238125"/>
                  <a:pt x="142875" y="238125"/>
                </a:cubicBezTo>
                <a:cubicBezTo>
                  <a:pt x="134094" y="238125"/>
                  <a:pt x="127000" y="231031"/>
                  <a:pt x="127000" y="222250"/>
                </a:cubicBezTo>
                <a:cubicBezTo>
                  <a:pt x="127000" y="213469"/>
                  <a:pt x="134094" y="206375"/>
                  <a:pt x="142875" y="206375"/>
                </a:cubicBezTo>
                <a:close/>
                <a:moveTo>
                  <a:pt x="190500" y="222250"/>
                </a:moveTo>
                <a:cubicBezTo>
                  <a:pt x="190500" y="213469"/>
                  <a:pt x="197594" y="206375"/>
                  <a:pt x="206375" y="206375"/>
                </a:cubicBezTo>
                <a:cubicBezTo>
                  <a:pt x="215156" y="206375"/>
                  <a:pt x="222250" y="213469"/>
                  <a:pt x="222250" y="222250"/>
                </a:cubicBezTo>
                <a:cubicBezTo>
                  <a:pt x="222250" y="231031"/>
                  <a:pt x="215156" y="238125"/>
                  <a:pt x="206375" y="238125"/>
                </a:cubicBezTo>
                <a:cubicBezTo>
                  <a:pt x="197594" y="238125"/>
                  <a:pt x="190500" y="231031"/>
                  <a:pt x="190500" y="222250"/>
                </a:cubicBezTo>
                <a:close/>
                <a:moveTo>
                  <a:pt x="206375" y="174625"/>
                </a:moveTo>
                <a:cubicBezTo>
                  <a:pt x="197613" y="174625"/>
                  <a:pt x="190500" y="167512"/>
                  <a:pt x="190500" y="158750"/>
                </a:cubicBezTo>
                <a:cubicBezTo>
                  <a:pt x="190500" y="149988"/>
                  <a:pt x="197613" y="142875"/>
                  <a:pt x="206375" y="142875"/>
                </a:cubicBezTo>
                <a:cubicBezTo>
                  <a:pt x="215137" y="142875"/>
                  <a:pt x="222250" y="149988"/>
                  <a:pt x="222250" y="158750"/>
                </a:cubicBezTo>
                <a:cubicBezTo>
                  <a:pt x="222250" y="167512"/>
                  <a:pt x="215137" y="174625"/>
                  <a:pt x="206375" y="174625"/>
                </a:cubicBezTo>
                <a:close/>
                <a:moveTo>
                  <a:pt x="190500" y="190500"/>
                </a:moveTo>
                <a:cubicBezTo>
                  <a:pt x="190500" y="199262"/>
                  <a:pt x="183387" y="206375"/>
                  <a:pt x="174625" y="206375"/>
                </a:cubicBezTo>
                <a:cubicBezTo>
                  <a:pt x="165863" y="206375"/>
                  <a:pt x="158750" y="199262"/>
                  <a:pt x="158750" y="190500"/>
                </a:cubicBezTo>
                <a:cubicBezTo>
                  <a:pt x="158750" y="181738"/>
                  <a:pt x="165863" y="174625"/>
                  <a:pt x="174625" y="174625"/>
                </a:cubicBezTo>
                <a:cubicBezTo>
                  <a:pt x="183387" y="174625"/>
                  <a:pt x="190500" y="181738"/>
                  <a:pt x="190500" y="190500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83" name="Text 81"/>
          <p:cNvSpPr/>
          <p:nvPr/>
        </p:nvSpPr>
        <p:spPr>
          <a:xfrm>
            <a:off x="5406737" y="6047513"/>
            <a:ext cx="914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qrcode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4644737" y="6733313"/>
            <a:ext cx="3187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QR Code Generation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4681249" y="7177807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86" name="Text 84"/>
          <p:cNvSpPr/>
          <p:nvPr/>
        </p:nvSpPr>
        <p:spPr>
          <a:xfrm>
            <a:off x="4968587" y="7139707"/>
            <a:ext cx="1282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PNG generation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4681249" y="7533407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88" name="Text 86"/>
          <p:cNvSpPr/>
          <p:nvPr/>
        </p:nvSpPr>
        <p:spPr>
          <a:xfrm>
            <a:off x="4968587" y="7495307"/>
            <a:ext cx="1384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Base64 encoding</a:t>
            </a: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4681249" y="7889007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90" name="Text 88"/>
          <p:cNvSpPr/>
          <p:nvPr/>
        </p:nvSpPr>
        <p:spPr>
          <a:xfrm>
            <a:off x="4968587" y="7850907"/>
            <a:ext cx="1206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Offline backup</a:t>
            </a:r>
            <a:endParaRPr lang="en-US" sz="1600" dirty="0"/>
          </a:p>
        </p:txBody>
      </p:sp>
      <p:sp>
        <p:nvSpPr>
          <p:cNvPr id="91" name="Shape 89"/>
          <p:cNvSpPr/>
          <p:nvPr/>
        </p:nvSpPr>
        <p:spPr>
          <a:xfrm>
            <a:off x="4681249" y="8244607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92" name="Text 90"/>
          <p:cNvSpPr/>
          <p:nvPr/>
        </p:nvSpPr>
        <p:spPr>
          <a:xfrm>
            <a:off x="4968587" y="8206507"/>
            <a:ext cx="1536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Private key storage</a:t>
            </a:r>
            <a:endParaRPr lang="en-US" sz="1600" dirty="0"/>
          </a:p>
        </p:txBody>
      </p:sp>
      <p:sp>
        <p:nvSpPr>
          <p:cNvPr id="93" name="Shape 91"/>
          <p:cNvSpPr/>
          <p:nvPr/>
        </p:nvSpPr>
        <p:spPr>
          <a:xfrm>
            <a:off x="4644737" y="8663707"/>
            <a:ext cx="3098800" cy="304800"/>
          </a:xfrm>
          <a:custGeom>
            <a:avLst/>
            <a:gdLst/>
            <a:ahLst/>
            <a:cxnLst/>
            <a:rect l="l" t="t" r="r" b="b"/>
            <a:pathLst>
              <a:path w="3098800" h="304800">
                <a:moveTo>
                  <a:pt x="50801" y="0"/>
                </a:moveTo>
                <a:lnTo>
                  <a:pt x="3047999" y="0"/>
                </a:lnTo>
                <a:cubicBezTo>
                  <a:pt x="3076056" y="0"/>
                  <a:pt x="3098800" y="22744"/>
                  <a:pt x="3098800" y="50801"/>
                </a:cubicBezTo>
                <a:lnTo>
                  <a:pt x="3098800" y="253999"/>
                </a:lnTo>
                <a:cubicBezTo>
                  <a:pt x="3098800" y="282056"/>
                  <a:pt x="3076056" y="304800"/>
                  <a:pt x="3047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A3A5">
              <a:alpha val="10196"/>
            </a:srgbClr>
          </a:solidFill>
          <a:ln/>
        </p:spPr>
      </p:sp>
      <p:sp>
        <p:nvSpPr>
          <p:cNvPr id="94" name="Text 92"/>
          <p:cNvSpPr/>
          <p:nvPr/>
        </p:nvSpPr>
        <p:spPr>
          <a:xfrm>
            <a:off x="4606637" y="8663707"/>
            <a:ext cx="31750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8A3A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Backup tool</a:t>
            </a:r>
            <a:endParaRPr lang="en-US" sz="1600" dirty="0"/>
          </a:p>
        </p:txBody>
      </p:sp>
      <p:sp>
        <p:nvSpPr>
          <p:cNvPr id="95" name="Shape 93"/>
          <p:cNvSpPr/>
          <p:nvPr/>
        </p:nvSpPr>
        <p:spPr>
          <a:xfrm>
            <a:off x="8259618" y="5661891"/>
            <a:ext cx="3616036" cy="3565236"/>
          </a:xfrm>
          <a:custGeom>
            <a:avLst/>
            <a:gdLst/>
            <a:ahLst/>
            <a:cxnLst/>
            <a:rect l="l" t="t" r="r" b="b"/>
            <a:pathLst>
              <a:path w="3616036" h="3565236">
                <a:moveTo>
                  <a:pt x="152414" y="0"/>
                </a:moveTo>
                <a:lnTo>
                  <a:pt x="3463623" y="0"/>
                </a:lnTo>
                <a:cubicBezTo>
                  <a:pt x="3547798" y="0"/>
                  <a:pt x="3616036" y="68238"/>
                  <a:pt x="3616036" y="152414"/>
                </a:cubicBezTo>
                <a:lnTo>
                  <a:pt x="3616036" y="3412823"/>
                </a:lnTo>
                <a:cubicBezTo>
                  <a:pt x="3616036" y="3496998"/>
                  <a:pt x="3547798" y="3565236"/>
                  <a:pt x="3463623" y="3565236"/>
                </a:cubicBezTo>
                <a:lnTo>
                  <a:pt x="152414" y="3565236"/>
                </a:lnTo>
                <a:cubicBezTo>
                  <a:pt x="68238" y="3565236"/>
                  <a:pt x="0" y="3496998"/>
                  <a:pt x="0" y="3412823"/>
                </a:cubicBezTo>
                <a:lnTo>
                  <a:pt x="0" y="152414"/>
                </a:lnTo>
                <a:cubicBezTo>
                  <a:pt x="0" y="68294"/>
                  <a:pt x="68294" y="0"/>
                  <a:pt x="152414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9236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518237" y="592051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8A3A5">
              <a:alpha val="20000"/>
            </a:srgbClr>
          </a:solidFill>
          <a:ln/>
        </p:spPr>
      </p:sp>
      <p:sp>
        <p:nvSpPr>
          <p:cNvPr id="97" name="Shape 95"/>
          <p:cNvSpPr/>
          <p:nvPr/>
        </p:nvSpPr>
        <p:spPr>
          <a:xfrm>
            <a:off x="8696037" y="609831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06511" y="347"/>
                </a:moveTo>
                <a:cubicBezTo>
                  <a:pt x="115094" y="2183"/>
                  <a:pt x="120551" y="10616"/>
                  <a:pt x="118715" y="19199"/>
                </a:cubicBezTo>
                <a:lnTo>
                  <a:pt x="109240" y="63500"/>
                </a:lnTo>
                <a:lnTo>
                  <a:pt x="171996" y="63500"/>
                </a:lnTo>
                <a:lnTo>
                  <a:pt x="182910" y="12551"/>
                </a:lnTo>
                <a:cubicBezTo>
                  <a:pt x="184745" y="3969"/>
                  <a:pt x="193179" y="-1488"/>
                  <a:pt x="201761" y="347"/>
                </a:cubicBezTo>
                <a:cubicBezTo>
                  <a:pt x="210344" y="2183"/>
                  <a:pt x="215801" y="10616"/>
                  <a:pt x="213965" y="19199"/>
                </a:cubicBezTo>
                <a:lnTo>
                  <a:pt x="204490" y="63500"/>
                </a:lnTo>
                <a:lnTo>
                  <a:pt x="238125" y="63500"/>
                </a:lnTo>
                <a:cubicBezTo>
                  <a:pt x="246906" y="63500"/>
                  <a:pt x="254000" y="70594"/>
                  <a:pt x="254000" y="79375"/>
                </a:cubicBezTo>
                <a:cubicBezTo>
                  <a:pt x="254000" y="88156"/>
                  <a:pt x="246906" y="95250"/>
                  <a:pt x="238125" y="95250"/>
                </a:cubicBezTo>
                <a:lnTo>
                  <a:pt x="197644" y="95250"/>
                </a:lnTo>
                <a:lnTo>
                  <a:pt x="184051" y="158750"/>
                </a:lnTo>
                <a:lnTo>
                  <a:pt x="217686" y="158750"/>
                </a:lnTo>
                <a:cubicBezTo>
                  <a:pt x="226467" y="158750"/>
                  <a:pt x="233561" y="165844"/>
                  <a:pt x="233561" y="174625"/>
                </a:cubicBezTo>
                <a:cubicBezTo>
                  <a:pt x="233561" y="183406"/>
                  <a:pt x="226467" y="190500"/>
                  <a:pt x="217686" y="190500"/>
                </a:cubicBezTo>
                <a:lnTo>
                  <a:pt x="177205" y="190500"/>
                </a:lnTo>
                <a:lnTo>
                  <a:pt x="166291" y="241449"/>
                </a:lnTo>
                <a:cubicBezTo>
                  <a:pt x="164455" y="250031"/>
                  <a:pt x="156021" y="255488"/>
                  <a:pt x="147439" y="253653"/>
                </a:cubicBezTo>
                <a:cubicBezTo>
                  <a:pt x="138857" y="251817"/>
                  <a:pt x="133400" y="243384"/>
                  <a:pt x="135235" y="234801"/>
                </a:cubicBezTo>
                <a:lnTo>
                  <a:pt x="144711" y="190500"/>
                </a:lnTo>
                <a:lnTo>
                  <a:pt x="81955" y="190500"/>
                </a:lnTo>
                <a:lnTo>
                  <a:pt x="71041" y="241449"/>
                </a:lnTo>
                <a:cubicBezTo>
                  <a:pt x="69205" y="250031"/>
                  <a:pt x="60771" y="255488"/>
                  <a:pt x="52189" y="253653"/>
                </a:cubicBezTo>
                <a:cubicBezTo>
                  <a:pt x="43607" y="251817"/>
                  <a:pt x="38150" y="243384"/>
                  <a:pt x="39985" y="234801"/>
                </a:cubicBezTo>
                <a:lnTo>
                  <a:pt x="49510" y="190500"/>
                </a:lnTo>
                <a:lnTo>
                  <a:pt x="15875" y="190500"/>
                </a:lnTo>
                <a:cubicBezTo>
                  <a:pt x="7094" y="190500"/>
                  <a:pt x="0" y="183406"/>
                  <a:pt x="0" y="174625"/>
                </a:cubicBezTo>
                <a:cubicBezTo>
                  <a:pt x="0" y="165844"/>
                  <a:pt x="7094" y="158750"/>
                  <a:pt x="15875" y="158750"/>
                </a:cubicBezTo>
                <a:lnTo>
                  <a:pt x="56356" y="158750"/>
                </a:lnTo>
                <a:lnTo>
                  <a:pt x="69949" y="95250"/>
                </a:lnTo>
                <a:lnTo>
                  <a:pt x="36314" y="95250"/>
                </a:lnTo>
                <a:cubicBezTo>
                  <a:pt x="27533" y="95250"/>
                  <a:pt x="20439" y="88156"/>
                  <a:pt x="20439" y="79375"/>
                </a:cubicBezTo>
                <a:cubicBezTo>
                  <a:pt x="20439" y="70594"/>
                  <a:pt x="27533" y="63500"/>
                  <a:pt x="36314" y="63500"/>
                </a:cubicBezTo>
                <a:lnTo>
                  <a:pt x="76795" y="63500"/>
                </a:lnTo>
                <a:lnTo>
                  <a:pt x="87709" y="12551"/>
                </a:lnTo>
                <a:cubicBezTo>
                  <a:pt x="89495" y="3969"/>
                  <a:pt x="97929" y="-1488"/>
                  <a:pt x="106511" y="347"/>
                </a:cubicBezTo>
                <a:close/>
                <a:moveTo>
                  <a:pt x="102394" y="95250"/>
                </a:moveTo>
                <a:lnTo>
                  <a:pt x="88801" y="158750"/>
                </a:lnTo>
                <a:lnTo>
                  <a:pt x="151557" y="158750"/>
                </a:lnTo>
                <a:lnTo>
                  <a:pt x="165150" y="95250"/>
                </a:lnTo>
                <a:lnTo>
                  <a:pt x="102394" y="95250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98" name="Text 96"/>
          <p:cNvSpPr/>
          <p:nvPr/>
        </p:nvSpPr>
        <p:spPr>
          <a:xfrm>
            <a:off x="9280237" y="6047513"/>
            <a:ext cx="927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hashlib</a:t>
            </a:r>
            <a:endParaRPr lang="en-US" sz="1600" dirty="0"/>
          </a:p>
        </p:txBody>
      </p:sp>
      <p:sp>
        <p:nvSpPr>
          <p:cNvPr id="99" name="Text 97"/>
          <p:cNvSpPr/>
          <p:nvPr/>
        </p:nvSpPr>
        <p:spPr>
          <a:xfrm>
            <a:off x="8518237" y="6733313"/>
            <a:ext cx="3187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Hashing Library</a:t>
            </a:r>
            <a:endParaRPr lang="en-US" sz="1600" dirty="0"/>
          </a:p>
        </p:txBody>
      </p:sp>
      <p:sp>
        <p:nvSpPr>
          <p:cNvPr id="100" name="Shape 98"/>
          <p:cNvSpPr/>
          <p:nvPr/>
        </p:nvSpPr>
        <p:spPr>
          <a:xfrm>
            <a:off x="8554749" y="7177807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101" name="Text 99"/>
          <p:cNvSpPr/>
          <p:nvPr/>
        </p:nvSpPr>
        <p:spPr>
          <a:xfrm>
            <a:off x="8842087" y="7139707"/>
            <a:ext cx="1371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SHA-256 hashes</a:t>
            </a:r>
            <a:endParaRPr lang="en-US" sz="1600" dirty="0"/>
          </a:p>
        </p:txBody>
      </p:sp>
      <p:sp>
        <p:nvSpPr>
          <p:cNvPr id="102" name="Shape 100"/>
          <p:cNvSpPr/>
          <p:nvPr/>
        </p:nvSpPr>
        <p:spPr>
          <a:xfrm>
            <a:off x="8554749" y="7533407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103" name="Text 101"/>
          <p:cNvSpPr/>
          <p:nvPr/>
        </p:nvSpPr>
        <p:spPr>
          <a:xfrm>
            <a:off x="8842087" y="7495307"/>
            <a:ext cx="1371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 integrity</a:t>
            </a:r>
            <a:endParaRPr lang="en-US" sz="1600" dirty="0"/>
          </a:p>
        </p:txBody>
      </p:sp>
      <p:sp>
        <p:nvSpPr>
          <p:cNvPr id="104" name="Shape 102"/>
          <p:cNvSpPr/>
          <p:nvPr/>
        </p:nvSpPr>
        <p:spPr>
          <a:xfrm>
            <a:off x="8554749" y="7889007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105" name="Text 103"/>
          <p:cNvSpPr/>
          <p:nvPr/>
        </p:nvSpPr>
        <p:spPr>
          <a:xfrm>
            <a:off x="8842087" y="7850907"/>
            <a:ext cx="952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Audit chain</a:t>
            </a:r>
            <a:endParaRPr lang="en-US" sz="1600" dirty="0"/>
          </a:p>
        </p:txBody>
      </p:sp>
      <p:sp>
        <p:nvSpPr>
          <p:cNvPr id="106" name="Shape 104"/>
          <p:cNvSpPr/>
          <p:nvPr/>
        </p:nvSpPr>
        <p:spPr>
          <a:xfrm>
            <a:off x="8554749" y="8244607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107" name="Text 105"/>
          <p:cNvSpPr/>
          <p:nvPr/>
        </p:nvSpPr>
        <p:spPr>
          <a:xfrm>
            <a:off x="8842087" y="8206507"/>
            <a:ext cx="939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Unique IDs</a:t>
            </a:r>
            <a:endParaRPr lang="en-US" sz="1600" dirty="0"/>
          </a:p>
        </p:txBody>
      </p:sp>
      <p:sp>
        <p:nvSpPr>
          <p:cNvPr id="108" name="Shape 106"/>
          <p:cNvSpPr/>
          <p:nvPr/>
        </p:nvSpPr>
        <p:spPr>
          <a:xfrm>
            <a:off x="8518237" y="8663707"/>
            <a:ext cx="3098800" cy="304800"/>
          </a:xfrm>
          <a:custGeom>
            <a:avLst/>
            <a:gdLst/>
            <a:ahLst/>
            <a:cxnLst/>
            <a:rect l="l" t="t" r="r" b="b"/>
            <a:pathLst>
              <a:path w="3098800" h="304800">
                <a:moveTo>
                  <a:pt x="50801" y="0"/>
                </a:moveTo>
                <a:lnTo>
                  <a:pt x="3047999" y="0"/>
                </a:lnTo>
                <a:cubicBezTo>
                  <a:pt x="3076056" y="0"/>
                  <a:pt x="3098800" y="22744"/>
                  <a:pt x="3098800" y="50801"/>
                </a:cubicBezTo>
                <a:lnTo>
                  <a:pt x="3098800" y="253999"/>
                </a:lnTo>
                <a:cubicBezTo>
                  <a:pt x="3098800" y="282056"/>
                  <a:pt x="3076056" y="304800"/>
                  <a:pt x="3047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A3A5">
              <a:alpha val="10196"/>
            </a:srgbClr>
          </a:solidFill>
          <a:ln/>
        </p:spPr>
      </p:sp>
      <p:sp>
        <p:nvSpPr>
          <p:cNvPr id="109" name="Text 107"/>
          <p:cNvSpPr/>
          <p:nvPr/>
        </p:nvSpPr>
        <p:spPr>
          <a:xfrm>
            <a:off x="8480137" y="8663707"/>
            <a:ext cx="31750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8A3A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Hash functions</a:t>
            </a:r>
            <a:endParaRPr lang="en-US" sz="1600" dirty="0"/>
          </a:p>
        </p:txBody>
      </p:sp>
      <p:sp>
        <p:nvSpPr>
          <p:cNvPr id="110" name="Shape 108"/>
          <p:cNvSpPr/>
          <p:nvPr/>
        </p:nvSpPr>
        <p:spPr>
          <a:xfrm>
            <a:off x="12133118" y="5661891"/>
            <a:ext cx="3616036" cy="3565236"/>
          </a:xfrm>
          <a:custGeom>
            <a:avLst/>
            <a:gdLst/>
            <a:ahLst/>
            <a:cxnLst/>
            <a:rect l="l" t="t" r="r" b="b"/>
            <a:pathLst>
              <a:path w="3616036" h="3565236">
                <a:moveTo>
                  <a:pt x="152414" y="0"/>
                </a:moveTo>
                <a:lnTo>
                  <a:pt x="3463623" y="0"/>
                </a:lnTo>
                <a:cubicBezTo>
                  <a:pt x="3547798" y="0"/>
                  <a:pt x="3616036" y="68238"/>
                  <a:pt x="3616036" y="152414"/>
                </a:cubicBezTo>
                <a:lnTo>
                  <a:pt x="3616036" y="3412823"/>
                </a:lnTo>
                <a:cubicBezTo>
                  <a:pt x="3616036" y="3496998"/>
                  <a:pt x="3547798" y="3565236"/>
                  <a:pt x="3463623" y="3565236"/>
                </a:cubicBezTo>
                <a:lnTo>
                  <a:pt x="152414" y="3565236"/>
                </a:lnTo>
                <a:cubicBezTo>
                  <a:pt x="68238" y="3565236"/>
                  <a:pt x="0" y="3496998"/>
                  <a:pt x="0" y="3412823"/>
                </a:cubicBezTo>
                <a:lnTo>
                  <a:pt x="0" y="152414"/>
                </a:lnTo>
                <a:cubicBezTo>
                  <a:pt x="0" y="68294"/>
                  <a:pt x="68294" y="0"/>
                  <a:pt x="152414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9236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2391737" y="592051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8A3A5">
              <a:alpha val="20000"/>
            </a:srgbClr>
          </a:solidFill>
          <a:ln/>
        </p:spPr>
      </p:sp>
      <p:sp>
        <p:nvSpPr>
          <p:cNvPr id="112" name="Shape 110"/>
          <p:cNvSpPr/>
          <p:nvPr/>
        </p:nvSpPr>
        <p:spPr>
          <a:xfrm>
            <a:off x="12569537" y="609831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00323" y="17066"/>
                </a:moveTo>
                <a:cubicBezTo>
                  <a:pt x="206276" y="14585"/>
                  <a:pt x="213072" y="15974"/>
                  <a:pt x="217636" y="20489"/>
                </a:cubicBezTo>
                <a:lnTo>
                  <a:pt x="249386" y="52239"/>
                </a:lnTo>
                <a:cubicBezTo>
                  <a:pt x="252363" y="55215"/>
                  <a:pt x="254050" y="59234"/>
                  <a:pt x="254050" y="63450"/>
                </a:cubicBezTo>
                <a:cubicBezTo>
                  <a:pt x="254050" y="67667"/>
                  <a:pt x="252363" y="71686"/>
                  <a:pt x="249386" y="74662"/>
                </a:cubicBezTo>
                <a:lnTo>
                  <a:pt x="217636" y="106412"/>
                </a:lnTo>
                <a:cubicBezTo>
                  <a:pt x="213072" y="110976"/>
                  <a:pt x="206276" y="112316"/>
                  <a:pt x="200323" y="109835"/>
                </a:cubicBezTo>
                <a:cubicBezTo>
                  <a:pt x="194370" y="107355"/>
                  <a:pt x="190500" y="101650"/>
                  <a:pt x="190500" y="95250"/>
                </a:cubicBezTo>
                <a:lnTo>
                  <a:pt x="190500" y="79375"/>
                </a:lnTo>
                <a:lnTo>
                  <a:pt x="174625" y="79375"/>
                </a:lnTo>
                <a:cubicBezTo>
                  <a:pt x="169614" y="79375"/>
                  <a:pt x="164902" y="81707"/>
                  <a:pt x="161925" y="85725"/>
                </a:cubicBezTo>
                <a:lnTo>
                  <a:pt x="145852" y="107156"/>
                </a:lnTo>
                <a:lnTo>
                  <a:pt x="126008" y="80714"/>
                </a:lnTo>
                <a:lnTo>
                  <a:pt x="136525" y="66675"/>
                </a:lnTo>
                <a:cubicBezTo>
                  <a:pt x="145504" y="54670"/>
                  <a:pt x="159643" y="47625"/>
                  <a:pt x="174625" y="47625"/>
                </a:cubicBezTo>
                <a:lnTo>
                  <a:pt x="190500" y="47625"/>
                </a:lnTo>
                <a:lnTo>
                  <a:pt x="190500" y="31750"/>
                </a:lnTo>
                <a:cubicBezTo>
                  <a:pt x="190500" y="25350"/>
                  <a:pt x="194370" y="19546"/>
                  <a:pt x="200323" y="17066"/>
                </a:cubicBezTo>
                <a:close/>
                <a:moveTo>
                  <a:pt x="76398" y="146844"/>
                </a:moveTo>
                <a:lnTo>
                  <a:pt x="96242" y="173286"/>
                </a:lnTo>
                <a:lnTo>
                  <a:pt x="85725" y="187325"/>
                </a:lnTo>
                <a:cubicBezTo>
                  <a:pt x="76746" y="199330"/>
                  <a:pt x="62607" y="206375"/>
                  <a:pt x="47625" y="206375"/>
                </a:cubicBezTo>
                <a:lnTo>
                  <a:pt x="15875" y="206375"/>
                </a:lnTo>
                <a:cubicBezTo>
                  <a:pt x="7094" y="206375"/>
                  <a:pt x="0" y="199281"/>
                  <a:pt x="0" y="190500"/>
                </a:cubicBezTo>
                <a:cubicBezTo>
                  <a:pt x="0" y="181719"/>
                  <a:pt x="7094" y="174625"/>
                  <a:pt x="15875" y="174625"/>
                </a:cubicBezTo>
                <a:lnTo>
                  <a:pt x="47625" y="174625"/>
                </a:lnTo>
                <a:cubicBezTo>
                  <a:pt x="52636" y="174625"/>
                  <a:pt x="57348" y="172293"/>
                  <a:pt x="60325" y="168275"/>
                </a:cubicBezTo>
                <a:lnTo>
                  <a:pt x="76398" y="146844"/>
                </a:lnTo>
                <a:close/>
                <a:moveTo>
                  <a:pt x="217587" y="233462"/>
                </a:moveTo>
                <a:cubicBezTo>
                  <a:pt x="213023" y="238026"/>
                  <a:pt x="206226" y="239365"/>
                  <a:pt x="200273" y="236885"/>
                </a:cubicBezTo>
                <a:cubicBezTo>
                  <a:pt x="194320" y="234404"/>
                  <a:pt x="190500" y="228650"/>
                  <a:pt x="190500" y="222250"/>
                </a:cubicBezTo>
                <a:lnTo>
                  <a:pt x="190500" y="206375"/>
                </a:lnTo>
                <a:lnTo>
                  <a:pt x="174625" y="206375"/>
                </a:lnTo>
                <a:cubicBezTo>
                  <a:pt x="159643" y="206375"/>
                  <a:pt x="145504" y="199330"/>
                  <a:pt x="136525" y="187325"/>
                </a:cubicBezTo>
                <a:lnTo>
                  <a:pt x="60325" y="85725"/>
                </a:lnTo>
                <a:cubicBezTo>
                  <a:pt x="57348" y="81707"/>
                  <a:pt x="52636" y="79375"/>
                  <a:pt x="47625" y="79375"/>
                </a:cubicBezTo>
                <a:lnTo>
                  <a:pt x="15875" y="79375"/>
                </a:lnTo>
                <a:cubicBezTo>
                  <a:pt x="7094" y="79375"/>
                  <a:pt x="0" y="72281"/>
                  <a:pt x="0" y="63500"/>
                </a:cubicBezTo>
                <a:cubicBezTo>
                  <a:pt x="0" y="54719"/>
                  <a:pt x="7094" y="47625"/>
                  <a:pt x="15875" y="47625"/>
                </a:cubicBezTo>
                <a:lnTo>
                  <a:pt x="47625" y="47625"/>
                </a:lnTo>
                <a:cubicBezTo>
                  <a:pt x="62607" y="47625"/>
                  <a:pt x="76746" y="54670"/>
                  <a:pt x="85725" y="66675"/>
                </a:cubicBezTo>
                <a:lnTo>
                  <a:pt x="161925" y="168275"/>
                </a:lnTo>
                <a:cubicBezTo>
                  <a:pt x="164902" y="172293"/>
                  <a:pt x="169614" y="174625"/>
                  <a:pt x="174625" y="174625"/>
                </a:cubicBezTo>
                <a:lnTo>
                  <a:pt x="190500" y="174625"/>
                </a:lnTo>
                <a:lnTo>
                  <a:pt x="190500" y="158750"/>
                </a:lnTo>
                <a:cubicBezTo>
                  <a:pt x="190500" y="152350"/>
                  <a:pt x="194370" y="146546"/>
                  <a:pt x="200323" y="144066"/>
                </a:cubicBezTo>
                <a:cubicBezTo>
                  <a:pt x="206276" y="141585"/>
                  <a:pt x="213072" y="142974"/>
                  <a:pt x="217636" y="147489"/>
                </a:cubicBezTo>
                <a:lnTo>
                  <a:pt x="249386" y="179239"/>
                </a:lnTo>
                <a:cubicBezTo>
                  <a:pt x="252363" y="182215"/>
                  <a:pt x="254050" y="186234"/>
                  <a:pt x="254050" y="190450"/>
                </a:cubicBezTo>
                <a:cubicBezTo>
                  <a:pt x="254050" y="194667"/>
                  <a:pt x="252363" y="198686"/>
                  <a:pt x="249386" y="201662"/>
                </a:cubicBezTo>
                <a:lnTo>
                  <a:pt x="217636" y="233412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113" name="Text 111"/>
          <p:cNvSpPr/>
          <p:nvPr/>
        </p:nvSpPr>
        <p:spPr>
          <a:xfrm>
            <a:off x="13153737" y="6047513"/>
            <a:ext cx="1447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os.urandom</a:t>
            </a:r>
            <a:endParaRPr lang="en-US" sz="1600" dirty="0"/>
          </a:p>
        </p:txBody>
      </p:sp>
      <p:sp>
        <p:nvSpPr>
          <p:cNvPr id="114" name="Text 112"/>
          <p:cNvSpPr/>
          <p:nvPr/>
        </p:nvSpPr>
        <p:spPr>
          <a:xfrm>
            <a:off x="12391737" y="6733313"/>
            <a:ext cx="3187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Entropy Source</a:t>
            </a:r>
            <a:endParaRPr lang="en-US" sz="1600" dirty="0"/>
          </a:p>
        </p:txBody>
      </p:sp>
      <p:sp>
        <p:nvSpPr>
          <p:cNvPr id="115" name="Shape 113"/>
          <p:cNvSpPr/>
          <p:nvPr/>
        </p:nvSpPr>
        <p:spPr>
          <a:xfrm>
            <a:off x="12428249" y="7177807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116" name="Text 114"/>
          <p:cNvSpPr/>
          <p:nvPr/>
        </p:nvSpPr>
        <p:spPr>
          <a:xfrm>
            <a:off x="12715587" y="7139707"/>
            <a:ext cx="1409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OS-level entropy</a:t>
            </a:r>
            <a:endParaRPr lang="en-US" sz="1600" dirty="0"/>
          </a:p>
        </p:txBody>
      </p:sp>
      <p:sp>
        <p:nvSpPr>
          <p:cNvPr id="117" name="Shape 115"/>
          <p:cNvSpPr/>
          <p:nvPr/>
        </p:nvSpPr>
        <p:spPr>
          <a:xfrm>
            <a:off x="12428249" y="7533407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118" name="Text 116"/>
          <p:cNvSpPr/>
          <p:nvPr/>
        </p:nvSpPr>
        <p:spPr>
          <a:xfrm>
            <a:off x="12715587" y="7495307"/>
            <a:ext cx="1231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/dev/urandom</a:t>
            </a:r>
            <a:endParaRPr lang="en-US" sz="1600" dirty="0"/>
          </a:p>
        </p:txBody>
      </p:sp>
      <p:sp>
        <p:nvSpPr>
          <p:cNvPr id="119" name="Shape 117"/>
          <p:cNvSpPr/>
          <p:nvPr/>
        </p:nvSpPr>
        <p:spPr>
          <a:xfrm>
            <a:off x="12428249" y="7889007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120" name="Text 118"/>
          <p:cNvSpPr/>
          <p:nvPr/>
        </p:nvSpPr>
        <p:spPr>
          <a:xfrm>
            <a:off x="12715587" y="7850907"/>
            <a:ext cx="90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Salts &amp; IVs</a:t>
            </a:r>
            <a:endParaRPr lang="en-US" sz="1600" dirty="0"/>
          </a:p>
        </p:txBody>
      </p:sp>
      <p:sp>
        <p:nvSpPr>
          <p:cNvPr id="121" name="Shape 119"/>
          <p:cNvSpPr/>
          <p:nvPr/>
        </p:nvSpPr>
        <p:spPr>
          <a:xfrm>
            <a:off x="12428249" y="8244607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122" name="Text 120"/>
          <p:cNvSpPr/>
          <p:nvPr/>
        </p:nvSpPr>
        <p:spPr>
          <a:xfrm>
            <a:off x="12715587" y="8206507"/>
            <a:ext cx="1244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generation</a:t>
            </a:r>
            <a:endParaRPr lang="en-US" sz="1600" dirty="0"/>
          </a:p>
        </p:txBody>
      </p:sp>
      <p:sp>
        <p:nvSpPr>
          <p:cNvPr id="123" name="Shape 121"/>
          <p:cNvSpPr/>
          <p:nvPr/>
        </p:nvSpPr>
        <p:spPr>
          <a:xfrm>
            <a:off x="12391737" y="8663707"/>
            <a:ext cx="3098800" cy="304800"/>
          </a:xfrm>
          <a:custGeom>
            <a:avLst/>
            <a:gdLst/>
            <a:ahLst/>
            <a:cxnLst/>
            <a:rect l="l" t="t" r="r" b="b"/>
            <a:pathLst>
              <a:path w="3098800" h="304800">
                <a:moveTo>
                  <a:pt x="50801" y="0"/>
                </a:moveTo>
                <a:lnTo>
                  <a:pt x="3047999" y="0"/>
                </a:lnTo>
                <a:cubicBezTo>
                  <a:pt x="3076056" y="0"/>
                  <a:pt x="3098800" y="22744"/>
                  <a:pt x="3098800" y="50801"/>
                </a:cubicBezTo>
                <a:lnTo>
                  <a:pt x="3098800" y="253999"/>
                </a:lnTo>
                <a:cubicBezTo>
                  <a:pt x="3098800" y="282056"/>
                  <a:pt x="3076056" y="304800"/>
                  <a:pt x="3047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A3A5">
              <a:alpha val="10196"/>
            </a:srgbClr>
          </a:solidFill>
          <a:ln/>
        </p:spPr>
      </p:sp>
      <p:sp>
        <p:nvSpPr>
          <p:cNvPr id="124" name="Text 122"/>
          <p:cNvSpPr/>
          <p:nvPr/>
        </p:nvSpPr>
        <p:spPr>
          <a:xfrm>
            <a:off x="12353637" y="8663707"/>
            <a:ext cx="31750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8A3A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CSPRNG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rawpixel.com/0a86f37e96be80ab8bad7791f17913b9acf2407a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7786" b="7786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4A5C6A">
                  <a:alpha val="85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6342929" y="300761"/>
            <a:ext cx="3565236" cy="669636"/>
          </a:xfrm>
          <a:custGeom>
            <a:avLst/>
            <a:gdLst/>
            <a:ahLst/>
            <a:cxnLst/>
            <a:rect l="l" t="t" r="r" b="b"/>
            <a:pathLst>
              <a:path w="3565236" h="669636">
                <a:moveTo>
                  <a:pt x="152403" y="0"/>
                </a:moveTo>
                <a:lnTo>
                  <a:pt x="3412834" y="0"/>
                </a:lnTo>
                <a:cubicBezTo>
                  <a:pt x="3497003" y="0"/>
                  <a:pt x="3565236" y="68233"/>
                  <a:pt x="3565236" y="152403"/>
                </a:cubicBezTo>
                <a:lnTo>
                  <a:pt x="3565236" y="517234"/>
                </a:lnTo>
                <a:cubicBezTo>
                  <a:pt x="3565236" y="601403"/>
                  <a:pt x="3497003" y="669636"/>
                  <a:pt x="3412834" y="669636"/>
                </a:cubicBezTo>
                <a:lnTo>
                  <a:pt x="152403" y="669636"/>
                </a:lnTo>
                <a:cubicBezTo>
                  <a:pt x="68233" y="669636"/>
                  <a:pt x="0" y="601403"/>
                  <a:pt x="0" y="517234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solidFill>
            <a:srgbClr val="38A3A5">
              <a:alpha val="20000"/>
            </a:srgbClr>
          </a:solidFill>
          <a:ln w="9236">
            <a:solidFill>
              <a:srgbClr val="38A3A5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8847" y="494729"/>
            <a:ext cx="3078235" cy="281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spc="200" kern="0" dirty="0">
                <a:solidFill>
                  <a:srgbClr val="38A3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Principles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342082" y="1381423"/>
            <a:ext cx="55753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60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112000" y="2549823"/>
            <a:ext cx="2032000" cy="0"/>
          </a:xfrm>
          <a:custGeom>
            <a:avLst/>
            <a:gdLst/>
            <a:ahLst/>
            <a:cxnLst/>
            <a:rect l="l" t="t" r="r" b="b"/>
            <a:pathLst>
              <a:path w="2032000" h="0">
                <a:moveTo>
                  <a:pt x="0" y="0"/>
                </a:moveTo>
                <a:lnTo>
                  <a:pt x="2032000" y="0"/>
                </a:lnTo>
                <a:lnTo>
                  <a:pt x="203200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8" name="Shape 5"/>
          <p:cNvSpPr/>
          <p:nvPr/>
        </p:nvSpPr>
        <p:spPr>
          <a:xfrm>
            <a:off x="1630218" y="3062441"/>
            <a:ext cx="6346536" cy="2282536"/>
          </a:xfrm>
          <a:custGeom>
            <a:avLst/>
            <a:gdLst/>
            <a:ahLst/>
            <a:cxnLst/>
            <a:rect l="l" t="t" r="r" b="b"/>
            <a:pathLst>
              <a:path w="6346536" h="2282536">
                <a:moveTo>
                  <a:pt x="152405" y="0"/>
                </a:moveTo>
                <a:lnTo>
                  <a:pt x="6194131" y="0"/>
                </a:lnTo>
                <a:cubicBezTo>
                  <a:pt x="6278302" y="0"/>
                  <a:pt x="6346536" y="68234"/>
                  <a:pt x="6346536" y="152405"/>
                </a:cubicBezTo>
                <a:lnTo>
                  <a:pt x="6346536" y="2130131"/>
                </a:lnTo>
                <a:cubicBezTo>
                  <a:pt x="6346536" y="2214302"/>
                  <a:pt x="6278302" y="2282536"/>
                  <a:pt x="6194131" y="2282536"/>
                </a:cubicBezTo>
                <a:lnTo>
                  <a:pt x="152405" y="2282536"/>
                </a:lnTo>
                <a:cubicBezTo>
                  <a:pt x="68234" y="2282536"/>
                  <a:pt x="0" y="2214302"/>
                  <a:pt x="0" y="2130131"/>
                </a:cubicBezTo>
                <a:lnTo>
                  <a:pt x="0" y="152405"/>
                </a:lnTo>
                <a:cubicBezTo>
                  <a:pt x="0" y="68234"/>
                  <a:pt x="68234" y="0"/>
                  <a:pt x="152405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9236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939636" y="337185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8A3A5">
              <a:alpha val="2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2142836" y="35750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00025" y="209550"/>
                </a:moveTo>
                <a:cubicBezTo>
                  <a:pt x="257889" y="209550"/>
                  <a:pt x="304800" y="162639"/>
                  <a:pt x="304800" y="104775"/>
                </a:cubicBezTo>
                <a:cubicBezTo>
                  <a:pt x="304800" y="46911"/>
                  <a:pt x="257889" y="0"/>
                  <a:pt x="200025" y="0"/>
                </a:cubicBezTo>
                <a:cubicBezTo>
                  <a:pt x="142161" y="0"/>
                  <a:pt x="95250" y="46911"/>
                  <a:pt x="95250" y="104775"/>
                </a:cubicBezTo>
                <a:cubicBezTo>
                  <a:pt x="95250" y="115907"/>
                  <a:pt x="96976" y="126683"/>
                  <a:pt x="100191" y="136743"/>
                </a:cubicBezTo>
                <a:lnTo>
                  <a:pt x="4167" y="232767"/>
                </a:lnTo>
                <a:cubicBezTo>
                  <a:pt x="1488" y="235446"/>
                  <a:pt x="0" y="239078"/>
                  <a:pt x="0" y="242888"/>
                </a:cubicBezTo>
                <a:lnTo>
                  <a:pt x="0" y="290513"/>
                </a:lnTo>
                <a:cubicBezTo>
                  <a:pt x="0" y="298430"/>
                  <a:pt x="6370" y="304800"/>
                  <a:pt x="14288" y="304800"/>
                </a:cubicBezTo>
                <a:lnTo>
                  <a:pt x="61912" y="304800"/>
                </a:lnTo>
                <a:cubicBezTo>
                  <a:pt x="69830" y="304800"/>
                  <a:pt x="76200" y="298430"/>
                  <a:pt x="76200" y="290513"/>
                </a:cubicBezTo>
                <a:lnTo>
                  <a:pt x="76200" y="266700"/>
                </a:lnTo>
                <a:lnTo>
                  <a:pt x="100013" y="266700"/>
                </a:lnTo>
                <a:cubicBezTo>
                  <a:pt x="107930" y="266700"/>
                  <a:pt x="114300" y="260330"/>
                  <a:pt x="114300" y="252413"/>
                </a:cubicBezTo>
                <a:lnTo>
                  <a:pt x="114300" y="228600"/>
                </a:lnTo>
                <a:lnTo>
                  <a:pt x="138113" y="228600"/>
                </a:lnTo>
                <a:cubicBezTo>
                  <a:pt x="141923" y="228600"/>
                  <a:pt x="145554" y="227112"/>
                  <a:pt x="148233" y="224433"/>
                </a:cubicBezTo>
                <a:lnTo>
                  <a:pt x="168057" y="204609"/>
                </a:lnTo>
                <a:cubicBezTo>
                  <a:pt x="178117" y="207824"/>
                  <a:pt x="188893" y="209550"/>
                  <a:pt x="200025" y="209550"/>
                </a:cubicBezTo>
                <a:close/>
                <a:moveTo>
                  <a:pt x="223838" y="57150"/>
                </a:moveTo>
                <a:cubicBezTo>
                  <a:pt x="236980" y="57150"/>
                  <a:pt x="247650" y="67820"/>
                  <a:pt x="247650" y="80962"/>
                </a:cubicBezTo>
                <a:cubicBezTo>
                  <a:pt x="247650" y="94105"/>
                  <a:pt x="236980" y="104775"/>
                  <a:pt x="223838" y="104775"/>
                </a:cubicBezTo>
                <a:cubicBezTo>
                  <a:pt x="210695" y="104775"/>
                  <a:pt x="200025" y="94105"/>
                  <a:pt x="200025" y="80962"/>
                </a:cubicBezTo>
                <a:cubicBezTo>
                  <a:pt x="200025" y="67820"/>
                  <a:pt x="210695" y="57150"/>
                  <a:pt x="223838" y="57150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11" name="Text 8"/>
          <p:cNvSpPr/>
          <p:nvPr/>
        </p:nvSpPr>
        <p:spPr>
          <a:xfrm>
            <a:off x="2854036" y="3524250"/>
            <a:ext cx="3175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Key Ownership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939636" y="4286250"/>
            <a:ext cx="58420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Generated server-side but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never stored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shown ONCE to user. Patient has sole control.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285018" y="3062441"/>
            <a:ext cx="6346536" cy="2282536"/>
          </a:xfrm>
          <a:custGeom>
            <a:avLst/>
            <a:gdLst/>
            <a:ahLst/>
            <a:cxnLst/>
            <a:rect l="l" t="t" r="r" b="b"/>
            <a:pathLst>
              <a:path w="6346536" h="2282536">
                <a:moveTo>
                  <a:pt x="152405" y="0"/>
                </a:moveTo>
                <a:lnTo>
                  <a:pt x="6194131" y="0"/>
                </a:lnTo>
                <a:cubicBezTo>
                  <a:pt x="6278302" y="0"/>
                  <a:pt x="6346536" y="68234"/>
                  <a:pt x="6346536" y="152405"/>
                </a:cubicBezTo>
                <a:lnTo>
                  <a:pt x="6346536" y="2130131"/>
                </a:lnTo>
                <a:cubicBezTo>
                  <a:pt x="6346536" y="2214302"/>
                  <a:pt x="6278302" y="2282536"/>
                  <a:pt x="6194131" y="2282536"/>
                </a:cubicBezTo>
                <a:lnTo>
                  <a:pt x="152405" y="2282536"/>
                </a:lnTo>
                <a:cubicBezTo>
                  <a:pt x="68234" y="2282536"/>
                  <a:pt x="0" y="2214302"/>
                  <a:pt x="0" y="2130131"/>
                </a:cubicBezTo>
                <a:lnTo>
                  <a:pt x="0" y="152405"/>
                </a:lnTo>
                <a:cubicBezTo>
                  <a:pt x="0" y="68234"/>
                  <a:pt x="68234" y="0"/>
                  <a:pt x="152405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9236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594437" y="337185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8A3A5">
              <a:alpha val="2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8778587" y="357505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33350" y="147638"/>
                </a:moveTo>
                <a:cubicBezTo>
                  <a:pt x="172777" y="147638"/>
                  <a:pt x="204787" y="115627"/>
                  <a:pt x="204787" y="76200"/>
                </a:cubicBezTo>
                <a:cubicBezTo>
                  <a:pt x="204787" y="36773"/>
                  <a:pt x="172777" y="4763"/>
                  <a:pt x="133350" y="4763"/>
                </a:cubicBezTo>
                <a:cubicBezTo>
                  <a:pt x="93923" y="4763"/>
                  <a:pt x="61913" y="36773"/>
                  <a:pt x="61912" y="76200"/>
                </a:cubicBezTo>
                <a:cubicBezTo>
                  <a:pt x="61912" y="115627"/>
                  <a:pt x="93923" y="147638"/>
                  <a:pt x="133350" y="147638"/>
                </a:cubicBezTo>
                <a:close/>
                <a:moveTo>
                  <a:pt x="115669" y="180975"/>
                </a:moveTo>
                <a:cubicBezTo>
                  <a:pt x="57031" y="180975"/>
                  <a:pt x="9525" y="228481"/>
                  <a:pt x="9525" y="287119"/>
                </a:cubicBezTo>
                <a:cubicBezTo>
                  <a:pt x="9525" y="296882"/>
                  <a:pt x="17443" y="304800"/>
                  <a:pt x="27206" y="304800"/>
                </a:cubicBezTo>
                <a:lnTo>
                  <a:pt x="176927" y="304800"/>
                </a:lnTo>
                <a:cubicBezTo>
                  <a:pt x="155377" y="279440"/>
                  <a:pt x="142875" y="246757"/>
                  <a:pt x="142875" y="212169"/>
                </a:cubicBezTo>
                <a:lnTo>
                  <a:pt x="142875" y="193655"/>
                </a:lnTo>
                <a:cubicBezTo>
                  <a:pt x="142875" y="189309"/>
                  <a:pt x="143470" y="185023"/>
                  <a:pt x="144601" y="180975"/>
                </a:cubicBezTo>
                <a:lnTo>
                  <a:pt x="115669" y="180975"/>
                </a:lnTo>
                <a:close/>
                <a:moveTo>
                  <a:pt x="265093" y="290810"/>
                </a:moveTo>
                <a:lnTo>
                  <a:pt x="257175" y="294561"/>
                </a:lnTo>
                <a:lnTo>
                  <a:pt x="257175" y="182582"/>
                </a:lnTo>
                <a:lnTo>
                  <a:pt x="314325" y="201632"/>
                </a:lnTo>
                <a:lnTo>
                  <a:pt x="314325" y="213300"/>
                </a:lnTo>
                <a:cubicBezTo>
                  <a:pt x="314325" y="246519"/>
                  <a:pt x="295156" y="276701"/>
                  <a:pt x="265093" y="290870"/>
                </a:cubicBezTo>
                <a:close/>
                <a:moveTo>
                  <a:pt x="251162" y="154484"/>
                </a:moveTo>
                <a:lnTo>
                  <a:pt x="184487" y="176689"/>
                </a:lnTo>
                <a:cubicBezTo>
                  <a:pt x="176689" y="179308"/>
                  <a:pt x="171450" y="186571"/>
                  <a:pt x="171450" y="194786"/>
                </a:cubicBezTo>
                <a:lnTo>
                  <a:pt x="171450" y="213300"/>
                </a:lnTo>
                <a:cubicBezTo>
                  <a:pt x="171450" y="257592"/>
                  <a:pt x="197048" y="297894"/>
                  <a:pt x="237053" y="316706"/>
                </a:cubicBezTo>
                <a:lnTo>
                  <a:pt x="248067" y="321885"/>
                </a:lnTo>
                <a:cubicBezTo>
                  <a:pt x="250924" y="323195"/>
                  <a:pt x="254020" y="323910"/>
                  <a:pt x="257115" y="323910"/>
                </a:cubicBezTo>
                <a:cubicBezTo>
                  <a:pt x="260211" y="323910"/>
                  <a:pt x="263366" y="323195"/>
                  <a:pt x="266164" y="321885"/>
                </a:cubicBezTo>
                <a:lnTo>
                  <a:pt x="277178" y="316706"/>
                </a:lnTo>
                <a:cubicBezTo>
                  <a:pt x="317302" y="297835"/>
                  <a:pt x="342900" y="257532"/>
                  <a:pt x="342900" y="213241"/>
                </a:cubicBezTo>
                <a:lnTo>
                  <a:pt x="342900" y="194727"/>
                </a:lnTo>
                <a:cubicBezTo>
                  <a:pt x="342900" y="186511"/>
                  <a:pt x="337661" y="179249"/>
                  <a:pt x="329863" y="176629"/>
                </a:cubicBezTo>
                <a:lnTo>
                  <a:pt x="263188" y="154424"/>
                </a:lnTo>
                <a:cubicBezTo>
                  <a:pt x="259259" y="153114"/>
                  <a:pt x="255032" y="153114"/>
                  <a:pt x="251162" y="154424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16" name="Text 13"/>
          <p:cNvSpPr/>
          <p:nvPr/>
        </p:nvSpPr>
        <p:spPr>
          <a:xfrm>
            <a:off x="9508837" y="3524250"/>
            <a:ext cx="2159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Patient Control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594437" y="4286250"/>
            <a:ext cx="58420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Patient controls all access through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38A3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cryptographic signatures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Grant and revoke permissions instantly.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630218" y="5652658"/>
            <a:ext cx="6346536" cy="2282536"/>
          </a:xfrm>
          <a:custGeom>
            <a:avLst/>
            <a:gdLst/>
            <a:ahLst/>
            <a:cxnLst/>
            <a:rect l="l" t="t" r="r" b="b"/>
            <a:pathLst>
              <a:path w="6346536" h="2282536">
                <a:moveTo>
                  <a:pt x="152405" y="0"/>
                </a:moveTo>
                <a:lnTo>
                  <a:pt x="6194131" y="0"/>
                </a:lnTo>
                <a:cubicBezTo>
                  <a:pt x="6278302" y="0"/>
                  <a:pt x="6346536" y="68234"/>
                  <a:pt x="6346536" y="152405"/>
                </a:cubicBezTo>
                <a:lnTo>
                  <a:pt x="6346536" y="2130131"/>
                </a:lnTo>
                <a:cubicBezTo>
                  <a:pt x="6346536" y="2214302"/>
                  <a:pt x="6278302" y="2282536"/>
                  <a:pt x="6194131" y="2282536"/>
                </a:cubicBezTo>
                <a:lnTo>
                  <a:pt x="152405" y="2282536"/>
                </a:lnTo>
                <a:cubicBezTo>
                  <a:pt x="68234" y="2282536"/>
                  <a:pt x="0" y="2214302"/>
                  <a:pt x="0" y="2130131"/>
                </a:cubicBezTo>
                <a:lnTo>
                  <a:pt x="0" y="152405"/>
                </a:lnTo>
                <a:cubicBezTo>
                  <a:pt x="0" y="68234"/>
                  <a:pt x="68234" y="0"/>
                  <a:pt x="152405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9236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939636" y="5962079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8A3A5">
              <a:alpha val="20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2180936" y="6165279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76200" y="57150"/>
                </a:moveTo>
                <a:lnTo>
                  <a:pt x="76200" y="95250"/>
                </a:lnTo>
                <a:lnTo>
                  <a:pt x="152400" y="95250"/>
                </a:lnTo>
                <a:lnTo>
                  <a:pt x="152400" y="57150"/>
                </a:lnTo>
                <a:cubicBezTo>
                  <a:pt x="152400" y="36135"/>
                  <a:pt x="135315" y="19050"/>
                  <a:pt x="114300" y="19050"/>
                </a:cubicBezTo>
                <a:cubicBezTo>
                  <a:pt x="93285" y="19050"/>
                  <a:pt x="76200" y="36135"/>
                  <a:pt x="76200" y="57150"/>
                </a:cubicBezTo>
                <a:close/>
                <a:moveTo>
                  <a:pt x="38100" y="95250"/>
                </a:moveTo>
                <a:lnTo>
                  <a:pt x="38100" y="57150"/>
                </a:lnTo>
                <a:cubicBezTo>
                  <a:pt x="38100" y="15061"/>
                  <a:pt x="72211" y="-19050"/>
                  <a:pt x="114300" y="-19050"/>
                </a:cubicBezTo>
                <a:cubicBezTo>
                  <a:pt x="156389" y="-19050"/>
                  <a:pt x="190500" y="15061"/>
                  <a:pt x="190500" y="57150"/>
                </a:cubicBezTo>
                <a:lnTo>
                  <a:pt x="190500" y="95250"/>
                </a:lnTo>
                <a:cubicBezTo>
                  <a:pt x="211515" y="95250"/>
                  <a:pt x="228600" y="112335"/>
                  <a:pt x="228600" y="133350"/>
                </a:cubicBezTo>
                <a:lnTo>
                  <a:pt x="228600" y="266700"/>
                </a:lnTo>
                <a:cubicBezTo>
                  <a:pt x="228600" y="287715"/>
                  <a:pt x="211515" y="304800"/>
                  <a:pt x="190500" y="304800"/>
                </a:cubicBezTo>
                <a:lnTo>
                  <a:pt x="38100" y="304800"/>
                </a:lnTo>
                <a:cubicBezTo>
                  <a:pt x="17085" y="304800"/>
                  <a:pt x="0" y="287715"/>
                  <a:pt x="0" y="266700"/>
                </a:cubicBezTo>
                <a:lnTo>
                  <a:pt x="0" y="133350"/>
                </a:lnTo>
                <a:cubicBezTo>
                  <a:pt x="0" y="112335"/>
                  <a:pt x="17085" y="95250"/>
                  <a:pt x="38100" y="95250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21" name="Text 18"/>
          <p:cNvSpPr/>
          <p:nvPr/>
        </p:nvSpPr>
        <p:spPr>
          <a:xfrm>
            <a:off x="2854036" y="6114479"/>
            <a:ext cx="3238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End-to-End Encryption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939636" y="6876479"/>
            <a:ext cx="58420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38A3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Only patient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can decrypt their records. AES-256-GCM + ECIES ensures data privacy.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285018" y="5652658"/>
            <a:ext cx="6346536" cy="2282536"/>
          </a:xfrm>
          <a:custGeom>
            <a:avLst/>
            <a:gdLst/>
            <a:ahLst/>
            <a:cxnLst/>
            <a:rect l="l" t="t" r="r" b="b"/>
            <a:pathLst>
              <a:path w="6346536" h="2282536">
                <a:moveTo>
                  <a:pt x="152405" y="0"/>
                </a:moveTo>
                <a:lnTo>
                  <a:pt x="6194131" y="0"/>
                </a:lnTo>
                <a:cubicBezTo>
                  <a:pt x="6278302" y="0"/>
                  <a:pt x="6346536" y="68234"/>
                  <a:pt x="6346536" y="152405"/>
                </a:cubicBezTo>
                <a:lnTo>
                  <a:pt x="6346536" y="2130131"/>
                </a:lnTo>
                <a:cubicBezTo>
                  <a:pt x="6346536" y="2214302"/>
                  <a:pt x="6278302" y="2282536"/>
                  <a:pt x="6194131" y="2282536"/>
                </a:cubicBezTo>
                <a:lnTo>
                  <a:pt x="152405" y="2282536"/>
                </a:lnTo>
                <a:cubicBezTo>
                  <a:pt x="68234" y="2282536"/>
                  <a:pt x="0" y="2214302"/>
                  <a:pt x="0" y="2130131"/>
                </a:cubicBezTo>
                <a:lnTo>
                  <a:pt x="0" y="152405"/>
                </a:lnTo>
                <a:cubicBezTo>
                  <a:pt x="0" y="68234"/>
                  <a:pt x="68234" y="0"/>
                  <a:pt x="152405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9236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594437" y="5962079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8A3A5">
              <a:alpha val="20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8797637" y="616527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38100"/>
                </a:moveTo>
                <a:cubicBezTo>
                  <a:pt x="17085" y="38100"/>
                  <a:pt x="0" y="55185"/>
                  <a:pt x="0" y="76200"/>
                </a:cubicBezTo>
                <a:lnTo>
                  <a:pt x="0" y="228600"/>
                </a:lnTo>
                <a:cubicBezTo>
                  <a:pt x="0" y="249615"/>
                  <a:pt x="17085" y="266700"/>
                  <a:pt x="38100" y="266700"/>
                </a:cubicBezTo>
                <a:lnTo>
                  <a:pt x="266700" y="266700"/>
                </a:lnTo>
                <a:cubicBezTo>
                  <a:pt x="287715" y="266700"/>
                  <a:pt x="304800" y="249615"/>
                  <a:pt x="304800" y="228600"/>
                </a:cubicBezTo>
                <a:lnTo>
                  <a:pt x="304800" y="76200"/>
                </a:lnTo>
                <a:cubicBezTo>
                  <a:pt x="304800" y="55185"/>
                  <a:pt x="287715" y="38100"/>
                  <a:pt x="266700" y="38100"/>
                </a:cubicBezTo>
                <a:lnTo>
                  <a:pt x="38100" y="38100"/>
                </a:lnTo>
                <a:close/>
                <a:moveTo>
                  <a:pt x="95250" y="190500"/>
                </a:moveTo>
                <a:cubicBezTo>
                  <a:pt x="95250" y="201014"/>
                  <a:pt x="86714" y="209550"/>
                  <a:pt x="76200" y="209550"/>
                </a:cubicBezTo>
                <a:cubicBezTo>
                  <a:pt x="65686" y="209550"/>
                  <a:pt x="57150" y="201014"/>
                  <a:pt x="57150" y="190500"/>
                </a:cubicBezTo>
                <a:cubicBezTo>
                  <a:pt x="57150" y="179986"/>
                  <a:pt x="65686" y="171450"/>
                  <a:pt x="76200" y="171450"/>
                </a:cubicBezTo>
                <a:cubicBezTo>
                  <a:pt x="86714" y="171450"/>
                  <a:pt x="95250" y="179986"/>
                  <a:pt x="95250" y="190500"/>
                </a:cubicBezTo>
                <a:close/>
                <a:moveTo>
                  <a:pt x="76200" y="133350"/>
                </a:moveTo>
                <a:cubicBezTo>
                  <a:pt x="65686" y="133350"/>
                  <a:pt x="57150" y="124814"/>
                  <a:pt x="57150" y="114300"/>
                </a:cubicBezTo>
                <a:cubicBezTo>
                  <a:pt x="57150" y="103786"/>
                  <a:pt x="65686" y="95250"/>
                  <a:pt x="76200" y="95250"/>
                </a:cubicBezTo>
                <a:cubicBezTo>
                  <a:pt x="86714" y="95250"/>
                  <a:pt x="95250" y="103786"/>
                  <a:pt x="95250" y="114300"/>
                </a:cubicBezTo>
                <a:cubicBezTo>
                  <a:pt x="95250" y="124814"/>
                  <a:pt x="86714" y="133350"/>
                  <a:pt x="76200" y="133350"/>
                </a:cubicBezTo>
                <a:close/>
                <a:moveTo>
                  <a:pt x="147638" y="100013"/>
                </a:moveTo>
                <a:lnTo>
                  <a:pt x="233363" y="100013"/>
                </a:lnTo>
                <a:cubicBezTo>
                  <a:pt x="241280" y="100013"/>
                  <a:pt x="247650" y="106382"/>
                  <a:pt x="247650" y="114300"/>
                </a:cubicBezTo>
                <a:cubicBezTo>
                  <a:pt x="247650" y="122218"/>
                  <a:pt x="241280" y="128588"/>
                  <a:pt x="233363" y="128588"/>
                </a:cubicBezTo>
                <a:lnTo>
                  <a:pt x="147638" y="128588"/>
                </a:lnTo>
                <a:cubicBezTo>
                  <a:pt x="139720" y="128588"/>
                  <a:pt x="133350" y="122218"/>
                  <a:pt x="133350" y="114300"/>
                </a:cubicBezTo>
                <a:cubicBezTo>
                  <a:pt x="133350" y="106382"/>
                  <a:pt x="139720" y="100013"/>
                  <a:pt x="147638" y="100013"/>
                </a:cubicBezTo>
                <a:close/>
                <a:moveTo>
                  <a:pt x="147638" y="176212"/>
                </a:moveTo>
                <a:lnTo>
                  <a:pt x="233363" y="176212"/>
                </a:lnTo>
                <a:cubicBezTo>
                  <a:pt x="241280" y="176212"/>
                  <a:pt x="247650" y="182582"/>
                  <a:pt x="247650" y="190500"/>
                </a:cubicBezTo>
                <a:cubicBezTo>
                  <a:pt x="247650" y="198418"/>
                  <a:pt x="241280" y="204787"/>
                  <a:pt x="233363" y="204787"/>
                </a:cubicBezTo>
                <a:lnTo>
                  <a:pt x="147638" y="204787"/>
                </a:lnTo>
                <a:cubicBezTo>
                  <a:pt x="139720" y="204787"/>
                  <a:pt x="133350" y="198418"/>
                  <a:pt x="133350" y="190500"/>
                </a:cubicBezTo>
                <a:cubicBezTo>
                  <a:pt x="133350" y="182582"/>
                  <a:pt x="139720" y="176212"/>
                  <a:pt x="147638" y="176212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26" name="Text 23"/>
          <p:cNvSpPr/>
          <p:nvPr/>
        </p:nvSpPr>
        <p:spPr>
          <a:xfrm>
            <a:off x="9508837" y="6114479"/>
            <a:ext cx="3022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Immutable Audit Trail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594437" y="6876479"/>
            <a:ext cx="58420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SHA-256 hash chain provides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38A3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transparency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Every action logged and verifiable.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3954246" y="849225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55138" y="0"/>
                  <a:pt x="157877" y="595"/>
                  <a:pt x="160377" y="1726"/>
                </a:cubicBezTo>
                <a:lnTo>
                  <a:pt x="272534" y="49292"/>
                </a:lnTo>
                <a:cubicBezTo>
                  <a:pt x="285631" y="54828"/>
                  <a:pt x="295394" y="67747"/>
                  <a:pt x="295335" y="83344"/>
                </a:cubicBezTo>
                <a:cubicBezTo>
                  <a:pt x="295037" y="142399"/>
                  <a:pt x="270748" y="250448"/>
                  <a:pt x="168176" y="299561"/>
                </a:cubicBezTo>
                <a:cubicBezTo>
                  <a:pt x="158234" y="304324"/>
                  <a:pt x="146685" y="304324"/>
                  <a:pt x="136743" y="299561"/>
                </a:cubicBezTo>
                <a:cubicBezTo>
                  <a:pt x="34111" y="250448"/>
                  <a:pt x="9882" y="142399"/>
                  <a:pt x="9585" y="83344"/>
                </a:cubicBezTo>
                <a:cubicBezTo>
                  <a:pt x="9525" y="67747"/>
                  <a:pt x="19288" y="54828"/>
                  <a:pt x="32385" y="49292"/>
                </a:cubicBezTo>
                <a:lnTo>
                  <a:pt x="144482" y="1726"/>
                </a:lnTo>
                <a:cubicBezTo>
                  <a:pt x="146983" y="595"/>
                  <a:pt x="149662" y="0"/>
                  <a:pt x="152400" y="0"/>
                </a:cubicBezTo>
                <a:close/>
                <a:moveTo>
                  <a:pt x="152400" y="39767"/>
                </a:moveTo>
                <a:lnTo>
                  <a:pt x="152400" y="264855"/>
                </a:lnTo>
                <a:cubicBezTo>
                  <a:pt x="234553" y="225088"/>
                  <a:pt x="256639" y="136981"/>
                  <a:pt x="257175" y="84237"/>
                </a:cubicBezTo>
                <a:lnTo>
                  <a:pt x="152400" y="39826"/>
                </a:lnTo>
                <a:lnTo>
                  <a:pt x="152400" y="39826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29" name="Text 26"/>
          <p:cNvSpPr/>
          <p:nvPr/>
        </p:nvSpPr>
        <p:spPr>
          <a:xfrm>
            <a:off x="4392396" y="8466857"/>
            <a:ext cx="182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 by Design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572972" y="8441457"/>
            <a:ext cx="50800" cy="406400"/>
          </a:xfrm>
          <a:custGeom>
            <a:avLst/>
            <a:gdLst/>
            <a:ahLst/>
            <a:cxnLst/>
            <a:rect l="l" t="t" r="r" b="b"/>
            <a:pathLst>
              <a:path w="50800" h="406400">
                <a:moveTo>
                  <a:pt x="0" y="0"/>
                </a:moveTo>
                <a:lnTo>
                  <a:pt x="50800" y="0"/>
                </a:lnTo>
                <a:lnTo>
                  <a:pt x="508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31" name="Shape 28"/>
          <p:cNvSpPr/>
          <p:nvPr/>
        </p:nvSpPr>
        <p:spPr>
          <a:xfrm>
            <a:off x="7049222" y="8492257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49734" y="57150"/>
                </a:moveTo>
                <a:cubicBezTo>
                  <a:pt x="239851" y="57150"/>
                  <a:pt x="230267" y="59829"/>
                  <a:pt x="221873" y="64710"/>
                </a:cubicBezTo>
                <a:cubicBezTo>
                  <a:pt x="212467" y="55185"/>
                  <a:pt x="201513" y="47208"/>
                  <a:pt x="189428" y="41196"/>
                </a:cubicBezTo>
                <a:cubicBezTo>
                  <a:pt x="206216" y="26908"/>
                  <a:pt x="227588" y="19050"/>
                  <a:pt x="249734" y="19050"/>
                </a:cubicBezTo>
                <a:cubicBezTo>
                  <a:pt x="301169" y="19050"/>
                  <a:pt x="342900" y="60722"/>
                  <a:pt x="342900" y="112216"/>
                </a:cubicBezTo>
                <a:cubicBezTo>
                  <a:pt x="342900" y="136922"/>
                  <a:pt x="333077" y="160615"/>
                  <a:pt x="315635" y="178058"/>
                </a:cubicBezTo>
                <a:lnTo>
                  <a:pt x="273308" y="220385"/>
                </a:lnTo>
                <a:cubicBezTo>
                  <a:pt x="255865" y="237827"/>
                  <a:pt x="232172" y="247650"/>
                  <a:pt x="207466" y="247650"/>
                </a:cubicBezTo>
                <a:cubicBezTo>
                  <a:pt x="156031" y="247650"/>
                  <a:pt x="114300" y="205978"/>
                  <a:pt x="114300" y="154484"/>
                </a:cubicBezTo>
                <a:cubicBezTo>
                  <a:pt x="114300" y="153591"/>
                  <a:pt x="114300" y="152698"/>
                  <a:pt x="114360" y="151805"/>
                </a:cubicBezTo>
                <a:cubicBezTo>
                  <a:pt x="114657" y="141268"/>
                  <a:pt x="123408" y="132993"/>
                  <a:pt x="133945" y="133290"/>
                </a:cubicBezTo>
                <a:cubicBezTo>
                  <a:pt x="144482" y="133588"/>
                  <a:pt x="152757" y="142339"/>
                  <a:pt x="152460" y="152876"/>
                </a:cubicBezTo>
                <a:cubicBezTo>
                  <a:pt x="152460" y="153412"/>
                  <a:pt x="152460" y="153948"/>
                  <a:pt x="152460" y="154424"/>
                </a:cubicBezTo>
                <a:cubicBezTo>
                  <a:pt x="152460" y="184845"/>
                  <a:pt x="177105" y="209490"/>
                  <a:pt x="207526" y="209490"/>
                </a:cubicBezTo>
                <a:cubicBezTo>
                  <a:pt x="222111" y="209490"/>
                  <a:pt x="236101" y="203716"/>
                  <a:pt x="246459" y="193358"/>
                </a:cubicBezTo>
                <a:lnTo>
                  <a:pt x="288786" y="151031"/>
                </a:lnTo>
                <a:cubicBezTo>
                  <a:pt x="299085" y="140732"/>
                  <a:pt x="304919" y="126683"/>
                  <a:pt x="304919" y="112097"/>
                </a:cubicBezTo>
                <a:cubicBezTo>
                  <a:pt x="304919" y="81677"/>
                  <a:pt x="280273" y="57031"/>
                  <a:pt x="249853" y="57031"/>
                </a:cubicBezTo>
                <a:close/>
                <a:moveTo>
                  <a:pt x="163830" y="103168"/>
                </a:moveTo>
                <a:cubicBezTo>
                  <a:pt x="162699" y="102691"/>
                  <a:pt x="161568" y="102037"/>
                  <a:pt x="160556" y="101322"/>
                </a:cubicBezTo>
                <a:cubicBezTo>
                  <a:pt x="153055" y="97453"/>
                  <a:pt x="144482" y="95250"/>
                  <a:pt x="135493" y="95250"/>
                </a:cubicBezTo>
                <a:cubicBezTo>
                  <a:pt x="120908" y="95250"/>
                  <a:pt x="106918" y="101025"/>
                  <a:pt x="96560" y="111383"/>
                </a:cubicBezTo>
                <a:lnTo>
                  <a:pt x="54233" y="153710"/>
                </a:lnTo>
                <a:cubicBezTo>
                  <a:pt x="43934" y="164009"/>
                  <a:pt x="38100" y="178058"/>
                  <a:pt x="38100" y="192643"/>
                </a:cubicBezTo>
                <a:cubicBezTo>
                  <a:pt x="38100" y="223064"/>
                  <a:pt x="62746" y="247710"/>
                  <a:pt x="93166" y="247710"/>
                </a:cubicBezTo>
                <a:cubicBezTo>
                  <a:pt x="102989" y="247710"/>
                  <a:pt x="112574" y="245090"/>
                  <a:pt x="120967" y="240209"/>
                </a:cubicBezTo>
                <a:cubicBezTo>
                  <a:pt x="130373" y="249734"/>
                  <a:pt x="141327" y="257711"/>
                  <a:pt x="153472" y="263723"/>
                </a:cubicBezTo>
                <a:cubicBezTo>
                  <a:pt x="136684" y="277951"/>
                  <a:pt x="115372" y="285869"/>
                  <a:pt x="93166" y="285869"/>
                </a:cubicBezTo>
                <a:cubicBezTo>
                  <a:pt x="41731" y="285869"/>
                  <a:pt x="0" y="244197"/>
                  <a:pt x="0" y="192703"/>
                </a:cubicBezTo>
                <a:cubicBezTo>
                  <a:pt x="0" y="167997"/>
                  <a:pt x="9823" y="144304"/>
                  <a:pt x="27265" y="126861"/>
                </a:cubicBezTo>
                <a:lnTo>
                  <a:pt x="69592" y="84534"/>
                </a:lnTo>
                <a:cubicBezTo>
                  <a:pt x="87035" y="67092"/>
                  <a:pt x="110728" y="57269"/>
                  <a:pt x="135434" y="57269"/>
                </a:cubicBezTo>
                <a:cubicBezTo>
                  <a:pt x="186988" y="57269"/>
                  <a:pt x="228600" y="99298"/>
                  <a:pt x="228600" y="150674"/>
                </a:cubicBezTo>
                <a:cubicBezTo>
                  <a:pt x="228600" y="151448"/>
                  <a:pt x="228600" y="152221"/>
                  <a:pt x="228600" y="152995"/>
                </a:cubicBezTo>
                <a:cubicBezTo>
                  <a:pt x="228362" y="163532"/>
                  <a:pt x="219611" y="171807"/>
                  <a:pt x="209074" y="171569"/>
                </a:cubicBezTo>
                <a:cubicBezTo>
                  <a:pt x="198537" y="171331"/>
                  <a:pt x="190262" y="162580"/>
                  <a:pt x="190500" y="152043"/>
                </a:cubicBezTo>
                <a:cubicBezTo>
                  <a:pt x="190500" y="151567"/>
                  <a:pt x="190500" y="151150"/>
                  <a:pt x="190500" y="150674"/>
                </a:cubicBezTo>
                <a:cubicBezTo>
                  <a:pt x="190500" y="130612"/>
                  <a:pt x="179784" y="112990"/>
                  <a:pt x="163830" y="103287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32" name="Text 29"/>
          <p:cNvSpPr/>
          <p:nvPr/>
        </p:nvSpPr>
        <p:spPr>
          <a:xfrm>
            <a:off x="7506422" y="8466857"/>
            <a:ext cx="2006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Blockchain-Backed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9857077" y="8441457"/>
            <a:ext cx="50800" cy="406400"/>
          </a:xfrm>
          <a:custGeom>
            <a:avLst/>
            <a:gdLst/>
            <a:ahLst/>
            <a:cxnLst/>
            <a:rect l="l" t="t" r="r" b="b"/>
            <a:pathLst>
              <a:path w="50800" h="406400">
                <a:moveTo>
                  <a:pt x="0" y="0"/>
                </a:moveTo>
                <a:lnTo>
                  <a:pt x="50800" y="0"/>
                </a:lnTo>
                <a:lnTo>
                  <a:pt x="508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34" name="Shape 31"/>
          <p:cNvSpPr/>
          <p:nvPr/>
        </p:nvSpPr>
        <p:spPr>
          <a:xfrm>
            <a:off x="10333327" y="8492257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33350" y="4763"/>
                </a:moveTo>
                <a:cubicBezTo>
                  <a:pt x="172777" y="4763"/>
                  <a:pt x="204787" y="36773"/>
                  <a:pt x="204787" y="76200"/>
                </a:cubicBezTo>
                <a:cubicBezTo>
                  <a:pt x="204787" y="115627"/>
                  <a:pt x="172777" y="147638"/>
                  <a:pt x="133350" y="147638"/>
                </a:cubicBezTo>
                <a:cubicBezTo>
                  <a:pt x="93923" y="147638"/>
                  <a:pt x="61913" y="115627"/>
                  <a:pt x="61912" y="76200"/>
                </a:cubicBezTo>
                <a:cubicBezTo>
                  <a:pt x="61912" y="36773"/>
                  <a:pt x="93923" y="4763"/>
                  <a:pt x="133350" y="4763"/>
                </a:cubicBezTo>
                <a:close/>
                <a:moveTo>
                  <a:pt x="115669" y="180975"/>
                </a:moveTo>
                <a:lnTo>
                  <a:pt x="151031" y="180975"/>
                </a:lnTo>
                <a:cubicBezTo>
                  <a:pt x="168712" y="180975"/>
                  <a:pt x="185380" y="185321"/>
                  <a:pt x="200025" y="192941"/>
                </a:cubicBezTo>
                <a:lnTo>
                  <a:pt x="200025" y="195501"/>
                </a:lnTo>
                <a:cubicBezTo>
                  <a:pt x="188357" y="205978"/>
                  <a:pt x="180975" y="221159"/>
                  <a:pt x="180975" y="238065"/>
                </a:cubicBezTo>
                <a:lnTo>
                  <a:pt x="180975" y="295215"/>
                </a:lnTo>
                <a:cubicBezTo>
                  <a:pt x="180975" y="298490"/>
                  <a:pt x="181273" y="301704"/>
                  <a:pt x="181749" y="304800"/>
                </a:cubicBezTo>
                <a:lnTo>
                  <a:pt x="27206" y="304800"/>
                </a:lnTo>
                <a:cubicBezTo>
                  <a:pt x="17443" y="304800"/>
                  <a:pt x="9525" y="296882"/>
                  <a:pt x="9525" y="287119"/>
                </a:cubicBezTo>
                <a:cubicBezTo>
                  <a:pt x="9525" y="228481"/>
                  <a:pt x="57031" y="180975"/>
                  <a:pt x="115669" y="180975"/>
                </a:cubicBezTo>
                <a:close/>
                <a:moveTo>
                  <a:pt x="295275" y="181035"/>
                </a:moveTo>
                <a:cubicBezTo>
                  <a:pt x="295275" y="170498"/>
                  <a:pt x="286762" y="161985"/>
                  <a:pt x="276225" y="161985"/>
                </a:cubicBezTo>
                <a:cubicBezTo>
                  <a:pt x="265688" y="161985"/>
                  <a:pt x="257175" y="170498"/>
                  <a:pt x="257175" y="181035"/>
                </a:cubicBezTo>
                <a:lnTo>
                  <a:pt x="257175" y="209550"/>
                </a:lnTo>
                <a:lnTo>
                  <a:pt x="295275" y="209550"/>
                </a:lnTo>
                <a:lnTo>
                  <a:pt x="295275" y="181035"/>
                </a:lnTo>
                <a:close/>
                <a:moveTo>
                  <a:pt x="209550" y="238125"/>
                </a:moveTo>
                <a:cubicBezTo>
                  <a:pt x="209550" y="225683"/>
                  <a:pt x="217527" y="215086"/>
                  <a:pt x="228600" y="211157"/>
                </a:cubicBezTo>
                <a:lnTo>
                  <a:pt x="228600" y="181035"/>
                </a:lnTo>
                <a:cubicBezTo>
                  <a:pt x="228600" y="154722"/>
                  <a:pt x="249912" y="133410"/>
                  <a:pt x="276225" y="133410"/>
                </a:cubicBezTo>
                <a:cubicBezTo>
                  <a:pt x="302538" y="133410"/>
                  <a:pt x="323850" y="154722"/>
                  <a:pt x="323850" y="181035"/>
                </a:cubicBezTo>
                <a:lnTo>
                  <a:pt x="323850" y="211157"/>
                </a:lnTo>
                <a:cubicBezTo>
                  <a:pt x="334923" y="215086"/>
                  <a:pt x="342900" y="225683"/>
                  <a:pt x="342900" y="238125"/>
                </a:cubicBezTo>
                <a:lnTo>
                  <a:pt x="342900" y="295275"/>
                </a:lnTo>
                <a:cubicBezTo>
                  <a:pt x="342900" y="311051"/>
                  <a:pt x="330101" y="323850"/>
                  <a:pt x="314325" y="323850"/>
                </a:cubicBezTo>
                <a:lnTo>
                  <a:pt x="238125" y="323850"/>
                </a:lnTo>
                <a:cubicBezTo>
                  <a:pt x="222349" y="323850"/>
                  <a:pt x="209550" y="311051"/>
                  <a:pt x="209550" y="295275"/>
                </a:cubicBezTo>
                <a:lnTo>
                  <a:pt x="209550" y="238125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35" name="Text 32"/>
          <p:cNvSpPr/>
          <p:nvPr/>
        </p:nvSpPr>
        <p:spPr>
          <a:xfrm>
            <a:off x="10790527" y="8466857"/>
            <a:ext cx="1600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Patient-Centric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MedLedger Backend Deep Dive</dc:title>
  <dc:subject>MedLedger Backend Deep Dive</dc:subject>
  <dc:creator>Kimi</dc:creator>
  <cp:lastModifiedBy>Kimi</cp:lastModifiedBy>
  <cp:revision>1</cp:revision>
  <dcterms:created xsi:type="dcterms:W3CDTF">2026-02-21T02:38:39Z</dcterms:created>
  <dcterms:modified xsi:type="dcterms:W3CDTF">2026-02-21T02:38:39Z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{"Label":"MedLedger Backend Deep Dive","ContentProducer":"001191110108MACG2KBH8F10000","ProduceID":"19c7c614-70b2-8d00-8000-0000ed18f761","ReservedCode1":"","ContentPropagator":"001191110108MACG2KBH8F20000","PropagateID":"19c7c614-70b2-8d00-8000-0000ed18f761","ReservedCode2":""}</vt:lpwstr>
  </property>
</Properties>
</file>