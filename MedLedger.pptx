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" y="0"/>
            <a:ext cx="9144000" cy="5143500"/>
          </a:xfrm>
          <a:prstGeom prst="rect">
            <a:avLst/>
          </a:prstGeom>
          <a:solidFill>
            <a:srgbClr val="060E1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50292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-457200"/>
            <a:ext cx="4114800" cy="4114800"/>
          </a:xfrm>
          <a:prstGeom prst="oval">
            <a:avLst/>
          </a:prstGeom>
          <a:solidFill>
            <a:srgbClr val="0A7A6D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132320" y="1371600"/>
            <a:ext cx="2743200" cy="2743200"/>
          </a:xfrm>
          <a:prstGeom prst="oval">
            <a:avLst/>
          </a:prstGeom>
          <a:solidFill>
            <a:srgbClr val="02C39A">
              <a:alpha val="12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005840"/>
            <a:ext cx="1645920" cy="1645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005840"/>
            <a:ext cx="2948940" cy="228600"/>
          </a:xfrm>
          <a:prstGeom prst="rect">
            <a:avLst>
              <a:gd name="adj" fmla="val 16000"/>
            </a:avLst>
          </a:prstGeom>
          <a:solidFill>
            <a:srgbClr val="0A7A6D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005840"/>
            <a:ext cx="2948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HEALTHCARE · SECURITY · SOVEREIGNTY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57200" y="137160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MedLedger</a:t>
            </a:r>
            <a:endParaRPr lang="en-US" sz="5600" dirty="0"/>
          </a:p>
        </p:txBody>
      </p:sp>
      <p:sp>
        <p:nvSpPr>
          <p:cNvPr id="11" name="Text 8"/>
          <p:cNvSpPr/>
          <p:nvPr/>
        </p:nvSpPr>
        <p:spPr>
          <a:xfrm>
            <a:off x="457200" y="25603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Health Records.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Rules.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57200" y="35204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patient-controlled vault that encrypts, stores, and shares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data — without trusting any single server.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7A6D">
              <a:alpha val="3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D7EA"/>
                </a:solidFill>
              </a:rPr>
              <a:t>CypherAegis Cryptographic Engine  ·  FastAPI Backend  ·  P-256 Elliptic Curve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083564" cy="228600"/>
          </a:xfrm>
          <a:prstGeom prst="rect">
            <a:avLst>
              <a:gd name="adj" fmla="val 16000"/>
            </a:avLst>
          </a:prstGeom>
          <a:solidFill>
            <a:srgbClr val="9B2C2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0835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Who Really Owns Your Medical Records?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114800" cy="1417320"/>
          </a:xfrm>
          <a:prstGeom prst="rect">
            <a:avLst/>
          </a:prstGeom>
          <a:solidFill>
            <a:srgbClr val="1A0A0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45720" cy="1417320"/>
          </a:xfrm>
          <a:prstGeom prst="rect">
            <a:avLst/>
          </a:prstGeom>
          <a:solidFill>
            <a:srgbClr val="E53E3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27048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Hospital Lock-in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05840" y="185623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7EA"/>
                </a:solidFill>
              </a:rPr>
              <a:t>Records siloed across dozens of institutions.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D7EA"/>
                </a:solidFill>
              </a:rPr>
              <a:t>You can't take them anywhere.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1417320"/>
            <a:ext cx="4114800" cy="1417320"/>
          </a:xfrm>
          <a:prstGeom prst="rect">
            <a:avLst/>
          </a:prstGeom>
          <a:solidFill>
            <a:srgbClr val="1A0A0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417320"/>
            <a:ext cx="45720" cy="1417320"/>
          </a:xfrm>
          <a:prstGeom prst="rect">
            <a:avLst/>
          </a:prstGeom>
          <a:solidFill>
            <a:srgbClr val="E53E3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527048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03520" y="1508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Zero Visibility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303520" y="185623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7EA"/>
                </a:solidFill>
              </a:rPr>
              <a:t>You have no idea who accessed your records,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D7EA"/>
                </a:solidFill>
              </a:rPr>
              <a:t>when, or why.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65760" y="3017520"/>
            <a:ext cx="4114800" cy="1417320"/>
          </a:xfrm>
          <a:prstGeom prst="rect">
            <a:avLst/>
          </a:prstGeom>
          <a:solidFill>
            <a:srgbClr val="1A0A0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65760" y="3017520"/>
            <a:ext cx="45720" cy="1417320"/>
          </a:xfrm>
          <a:prstGeom prst="rect">
            <a:avLst/>
          </a:prstGeom>
          <a:solidFill>
            <a:srgbClr val="E53E3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127248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5840" y="3108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 Consent Layer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005840" y="345643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7EA"/>
                </a:solidFill>
              </a:rPr>
              <a:t>Hospitals share data for research, billing, and insurance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D7EA"/>
                </a:solidFill>
              </a:rPr>
              <a:t>without granular patient consent.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663440" y="3017520"/>
            <a:ext cx="4114800" cy="1417320"/>
          </a:xfrm>
          <a:prstGeom prst="rect">
            <a:avLst/>
          </a:prstGeom>
          <a:solidFill>
            <a:srgbClr val="1A0A0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663440" y="3017520"/>
            <a:ext cx="45720" cy="1417320"/>
          </a:xfrm>
          <a:prstGeom prst="rect">
            <a:avLst/>
          </a:prstGeom>
          <a:solidFill>
            <a:srgbClr val="E53E3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127248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303520" y="3108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 Audit Trail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303520" y="345643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7EA"/>
                </a:solidFill>
              </a:rPr>
              <a:t>Breaches go undetected. Nobody is accountable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D7EA"/>
                </a:solidFill>
              </a:rPr>
              <a:t>when your PHI leaks.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161288" cy="228600"/>
          </a:xfrm>
          <a:prstGeom prst="rect">
            <a:avLst>
              <a:gd name="adj" fmla="val 16000"/>
            </a:avLst>
          </a:prstGeom>
          <a:solidFill>
            <a:srgbClr val="0A7A6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161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THE SOLUTION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Encrypt First. Share by Choice.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FD7EA"/>
                </a:solidFill>
              </a:rPr>
              <a:t>MedLedger flips the model: data is encrypted on the patient's device before it ever touches a server.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1417320" cy="1828800"/>
          </a:xfrm>
          <a:prstGeom prst="rect">
            <a:avLst/>
          </a:prstGeom>
          <a:solidFill>
            <a:srgbClr val="1C32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574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6060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Patient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Generates Key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920240" y="2715768"/>
            <a:ext cx="292608" cy="54864"/>
          </a:xfrm>
          <a:prstGeom prst="rect">
            <a:avLst/>
          </a:prstGeom>
          <a:solidFill>
            <a:srgbClr val="0A7A6D"/>
          </a:solidFill>
          <a:ln/>
        </p:spPr>
      </p:sp>
      <p:sp>
        <p:nvSpPr>
          <p:cNvPr id="11" name="Shape 8"/>
          <p:cNvSpPr/>
          <p:nvPr/>
        </p:nvSpPr>
        <p:spPr>
          <a:xfrm>
            <a:off x="2176272" y="2670048"/>
            <a:ext cx="54864" cy="146304"/>
          </a:xfrm>
          <a:prstGeom prst="rect">
            <a:avLst/>
          </a:prstGeom>
          <a:solidFill>
            <a:srgbClr val="0A7A6D"/>
          </a:solidFill>
          <a:ln/>
        </p:spPr>
      </p:sp>
      <p:sp>
        <p:nvSpPr>
          <p:cNvPr id="12" name="Shape 9"/>
          <p:cNvSpPr/>
          <p:nvPr/>
        </p:nvSpPr>
        <p:spPr>
          <a:xfrm rot="2700000">
            <a:off x="2176272" y="2679192"/>
            <a:ext cx="146304" cy="54864"/>
          </a:xfrm>
          <a:prstGeom prst="rect">
            <a:avLst/>
          </a:prstGeom>
          <a:solidFill>
            <a:srgbClr val="0A7A6D"/>
          </a:solidFill>
          <a:ln/>
        </p:spPr>
      </p:sp>
      <p:sp>
        <p:nvSpPr>
          <p:cNvPr id="13" name="Shape 10"/>
          <p:cNvSpPr/>
          <p:nvPr/>
        </p:nvSpPr>
        <p:spPr>
          <a:xfrm rot="-2700000">
            <a:off x="2176272" y="2752344"/>
            <a:ext cx="146304" cy="54864"/>
          </a:xfrm>
          <a:prstGeom prst="rect">
            <a:avLst/>
          </a:prstGeom>
          <a:solidFill>
            <a:srgbClr val="0A7A6D"/>
          </a:solidFill>
          <a:ln/>
        </p:spPr>
      </p:sp>
      <p:sp>
        <p:nvSpPr>
          <p:cNvPr id="14" name="Shape 11"/>
          <p:cNvSpPr/>
          <p:nvPr/>
        </p:nvSpPr>
        <p:spPr>
          <a:xfrm>
            <a:off x="2834640" y="1874520"/>
            <a:ext cx="1417320" cy="1828800"/>
          </a:xfrm>
          <a:prstGeom prst="rect">
            <a:avLst/>
          </a:prstGeom>
          <a:solidFill>
            <a:srgbClr val="1C32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205740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880360" y="26060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File Encrypted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Locally (AES-256)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297680" y="2715768"/>
            <a:ext cx="292608" cy="54864"/>
          </a:xfrm>
          <a:prstGeom prst="rect">
            <a:avLst/>
          </a:prstGeom>
          <a:solidFill>
            <a:srgbClr val="0A7A6D"/>
          </a:solidFill>
          <a:ln/>
        </p:spPr>
      </p:sp>
      <p:sp>
        <p:nvSpPr>
          <p:cNvPr id="18" name="Shape 14"/>
          <p:cNvSpPr/>
          <p:nvPr/>
        </p:nvSpPr>
        <p:spPr>
          <a:xfrm>
            <a:off x="4553712" y="2670048"/>
            <a:ext cx="54864" cy="146304"/>
          </a:xfrm>
          <a:prstGeom prst="rect">
            <a:avLst/>
          </a:prstGeom>
          <a:solidFill>
            <a:srgbClr val="0A7A6D"/>
          </a:solidFill>
          <a:ln/>
        </p:spPr>
      </p:sp>
      <p:sp>
        <p:nvSpPr>
          <p:cNvPr id="19" name="Shape 15"/>
          <p:cNvSpPr/>
          <p:nvPr/>
        </p:nvSpPr>
        <p:spPr>
          <a:xfrm rot="2700000">
            <a:off x="4553712" y="2679192"/>
            <a:ext cx="146304" cy="54864"/>
          </a:xfrm>
          <a:prstGeom prst="rect">
            <a:avLst/>
          </a:prstGeom>
          <a:solidFill>
            <a:srgbClr val="0A7A6D"/>
          </a:solidFill>
          <a:ln/>
        </p:spPr>
      </p:sp>
      <p:sp>
        <p:nvSpPr>
          <p:cNvPr id="20" name="Shape 16"/>
          <p:cNvSpPr/>
          <p:nvPr/>
        </p:nvSpPr>
        <p:spPr>
          <a:xfrm rot="-2700000">
            <a:off x="4553712" y="2752344"/>
            <a:ext cx="146304" cy="54864"/>
          </a:xfrm>
          <a:prstGeom prst="rect">
            <a:avLst/>
          </a:prstGeom>
          <a:solidFill>
            <a:srgbClr val="0A7A6D"/>
          </a:solidFill>
          <a:ln/>
        </p:spPr>
      </p:sp>
      <p:sp>
        <p:nvSpPr>
          <p:cNvPr id="21" name="Shape 17"/>
          <p:cNvSpPr/>
          <p:nvPr/>
        </p:nvSpPr>
        <p:spPr>
          <a:xfrm>
            <a:off x="5212080" y="1874520"/>
            <a:ext cx="1417320" cy="1828800"/>
          </a:xfrm>
          <a:prstGeom prst="rect">
            <a:avLst/>
          </a:prstGeom>
          <a:solidFill>
            <a:srgbClr val="1C32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05740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257800" y="26060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Encrypted File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Stored in Vault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675120" y="2715768"/>
            <a:ext cx="292608" cy="54864"/>
          </a:xfrm>
          <a:prstGeom prst="rect">
            <a:avLst/>
          </a:prstGeom>
          <a:solidFill>
            <a:srgbClr val="0A7A6D"/>
          </a:solidFill>
          <a:ln/>
        </p:spPr>
      </p:sp>
      <p:sp>
        <p:nvSpPr>
          <p:cNvPr id="25" name="Shape 20"/>
          <p:cNvSpPr/>
          <p:nvPr/>
        </p:nvSpPr>
        <p:spPr>
          <a:xfrm>
            <a:off x="6931152" y="2670048"/>
            <a:ext cx="54864" cy="146304"/>
          </a:xfrm>
          <a:prstGeom prst="rect">
            <a:avLst/>
          </a:prstGeom>
          <a:solidFill>
            <a:srgbClr val="0A7A6D"/>
          </a:solidFill>
          <a:ln/>
        </p:spPr>
      </p:sp>
      <p:sp>
        <p:nvSpPr>
          <p:cNvPr id="26" name="Shape 21"/>
          <p:cNvSpPr/>
          <p:nvPr/>
        </p:nvSpPr>
        <p:spPr>
          <a:xfrm rot="2700000">
            <a:off x="6931152" y="2679192"/>
            <a:ext cx="146304" cy="54864"/>
          </a:xfrm>
          <a:prstGeom prst="rect">
            <a:avLst/>
          </a:prstGeom>
          <a:solidFill>
            <a:srgbClr val="0A7A6D"/>
          </a:solidFill>
          <a:ln/>
        </p:spPr>
      </p:sp>
      <p:sp>
        <p:nvSpPr>
          <p:cNvPr id="27" name="Shape 22"/>
          <p:cNvSpPr/>
          <p:nvPr/>
        </p:nvSpPr>
        <p:spPr>
          <a:xfrm rot="-2700000">
            <a:off x="6931152" y="2752344"/>
            <a:ext cx="146304" cy="54864"/>
          </a:xfrm>
          <a:prstGeom prst="rect">
            <a:avLst/>
          </a:prstGeom>
          <a:solidFill>
            <a:srgbClr val="0A7A6D"/>
          </a:solidFill>
          <a:ln/>
        </p:spPr>
      </p:sp>
      <p:sp>
        <p:nvSpPr>
          <p:cNvPr id="28" name="Shape 23"/>
          <p:cNvSpPr/>
          <p:nvPr/>
        </p:nvSpPr>
        <p:spPr>
          <a:xfrm>
            <a:off x="7589520" y="1874520"/>
            <a:ext cx="1417320" cy="1828800"/>
          </a:xfrm>
          <a:prstGeom prst="rect">
            <a:avLst/>
          </a:prstGeom>
          <a:solidFill>
            <a:srgbClr val="1C32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2057400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635240" y="26060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Doctor Receives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Time-Limited Access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The server never sees plaintext. The key never leaves the patient.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2286000" y="4206240"/>
            <a:ext cx="4572000" cy="54864"/>
          </a:xfrm>
          <a:prstGeom prst="rect">
            <a:avLst/>
          </a:prstGeom>
          <a:solidFill>
            <a:srgbClr val="0A7A6D">
              <a:alpha val="40000"/>
            </a:srgbClr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7A6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316736" cy="228600"/>
          </a:xfrm>
          <a:prstGeom prst="rect">
            <a:avLst>
              <a:gd name="adj" fmla="val 16000"/>
            </a:avLst>
          </a:prstGeom>
          <a:solidFill>
            <a:srgbClr val="0A7A6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ACCESS CONTROL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Consent That Actually Means Something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57200" cy="457200"/>
          </a:xfrm>
          <a:prstGeom prst="oval">
            <a:avLst/>
          </a:prstGeom>
          <a:solidFill>
            <a:srgbClr val="0A7A6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Patient holds the key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65506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7EA"/>
                </a:solidFill>
              </a:rPr>
              <a:t>A P-256 keypair is generated once and stays with the patient. No server, no third party.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22576"/>
            <a:ext cx="457200" cy="457200"/>
          </a:xfrm>
          <a:prstGeom prst="oval">
            <a:avLst/>
          </a:prstGeom>
          <a:solidFill>
            <a:srgbClr val="0A7A6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" y="22768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Grant is cryptographically signed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56032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7EA"/>
                </a:solidFill>
              </a:rPr>
              <a:t>When the patient shares a file, a permission payload is ECDSA-signed — tamper-evident by design.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227832"/>
            <a:ext cx="457200" cy="457200"/>
          </a:xfrm>
          <a:prstGeom prst="oval">
            <a:avLst/>
          </a:prstGeom>
          <a:solidFill>
            <a:srgbClr val="0A7A6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" y="3182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Access is time-bounded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346557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7EA"/>
                </a:solidFill>
              </a:rPr>
              <a:t>Every grant has a hard expiry window. No permission lasts forever by default.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133088"/>
            <a:ext cx="457200" cy="457200"/>
          </a:xfrm>
          <a:prstGeom prst="oval">
            <a:avLst/>
          </a:prstGeom>
          <a:solidFill>
            <a:srgbClr val="0A7A6D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51560" y="4087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Revoke instantly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437083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7EA"/>
                </a:solidFill>
              </a:rPr>
              <a:t>One API call flips the grant. The doctor's access stops — no admin, no request, no delay.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03520" y="1234440"/>
            <a:ext cx="3474720" cy="3520440"/>
          </a:xfrm>
          <a:prstGeom prst="rect">
            <a:avLst/>
          </a:prstGeom>
          <a:solidFill>
            <a:srgbClr val="1C32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577840" y="1371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Sample Grant Payload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577840" y="1828800"/>
            <a:ext cx="292608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0" y="18745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D7EA"/>
                </a:solidFill>
              </a:rPr>
              <a:t>record_id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766560" y="18745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a3f9…d2c1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577840" y="2331720"/>
            <a:ext cx="2926080" cy="384048"/>
          </a:xfrm>
          <a:prstGeom prst="rect">
            <a:avLst/>
          </a:prstGeom>
          <a:solidFill>
            <a:srgbClr val="111F2E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0" y="23774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D7EA"/>
                </a:solidFill>
              </a:rPr>
              <a:t>grantee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766560" y="23774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Dr. Priya Sharma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577840" y="2834640"/>
            <a:ext cx="292608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0" y="28803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D7EA"/>
                </a:solidFill>
              </a:rPr>
              <a:t>level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766560" y="28803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view_download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577840" y="3337560"/>
            <a:ext cx="2926080" cy="384048"/>
          </a:xfrm>
          <a:prstGeom prst="rect">
            <a:avLst/>
          </a:prstGeom>
          <a:solidFill>
            <a:srgbClr val="111F2E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0" y="33832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D7EA"/>
                </a:solidFill>
              </a:rPr>
              <a:t>expires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766560" y="33832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48 hours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577840" y="3840480"/>
            <a:ext cx="2926080" cy="38404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0" y="38862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D7EA"/>
                </a:solidFill>
              </a:rPr>
              <a:t>signature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766560" y="38862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ECDSA ✓ verified</a:t>
            </a:r>
            <a:endParaRPr lang="en-US" sz="950" dirty="0"/>
          </a:p>
        </p:txBody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4389120"/>
            <a:ext cx="320040" cy="32004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5989320" y="44165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</a:rPr>
              <a:t>Cryptographically verifiable at any time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316736" cy="228600"/>
          </a:xfrm>
          <a:prstGeom prst="rect">
            <a:avLst>
              <a:gd name="adj" fmla="val 16000"/>
            </a:avLst>
          </a:prstGeom>
          <a:solidFill>
            <a:srgbClr val="553C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UNDER THE HOOD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Security Without Compromise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560320" cy="1508760"/>
          </a:xfrm>
          <a:prstGeom prst="rect">
            <a:avLst/>
          </a:prstGeom>
          <a:solidFill>
            <a:srgbClr val="1C32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276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5727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ECIES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43000" y="19202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7EA"/>
                </a:solidFill>
              </a:rPr>
              <a:t>Hybrid encryption wraps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FD7EA"/>
                </a:solidFill>
              </a:rPr>
              <a:t>the file key for each recipient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46120" y="1371600"/>
            <a:ext cx="2560320" cy="1508760"/>
          </a:xfrm>
          <a:prstGeom prst="rect">
            <a:avLst/>
          </a:prstGeom>
          <a:solidFill>
            <a:srgbClr val="1C32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572768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23360" y="15727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AES-256-GCM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023360" y="19202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7EA"/>
                </a:solidFill>
              </a:rPr>
              <a:t>Authenticated encryption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FD7EA"/>
                </a:solidFill>
              </a:rPr>
              <a:t>for every stored file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1371600"/>
            <a:ext cx="2560320" cy="1508760"/>
          </a:xfrm>
          <a:prstGeom prst="rect">
            <a:avLst/>
          </a:prstGeom>
          <a:solidFill>
            <a:srgbClr val="1C32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72768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03720" y="15727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ECDSA P-256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903720" y="19202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7EA"/>
                </a:solidFill>
              </a:rPr>
              <a:t>Digital signature on every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FD7EA"/>
                </a:solidFill>
              </a:rPr>
              <a:t>access grant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65760" y="3063240"/>
            <a:ext cx="2560320" cy="1508760"/>
          </a:xfrm>
          <a:prstGeom prst="rect">
            <a:avLst/>
          </a:prstGeom>
          <a:solidFill>
            <a:srgbClr val="1C32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64408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43000" y="32644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PBKDF2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143000" y="36118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7EA"/>
                </a:solidFill>
              </a:rPr>
              <a:t>Password-hardened backup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FD7EA"/>
                </a:solidFill>
              </a:rPr>
              <a:t>of private key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3246120" y="3063240"/>
            <a:ext cx="2560320" cy="1508760"/>
          </a:xfrm>
          <a:prstGeom prst="rect">
            <a:avLst/>
          </a:prstGeom>
          <a:solidFill>
            <a:srgbClr val="1C32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264408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023360" y="32644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Rotation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4023360" y="36118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7EA"/>
                </a:solidFill>
              </a:rPr>
              <a:t>One command re-wraps 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FD7EA"/>
                </a:solidFill>
              </a:rPr>
              <a:t>records, revokes all grants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6126480" y="3063240"/>
            <a:ext cx="2560320" cy="1508760"/>
          </a:xfrm>
          <a:prstGeom prst="rect">
            <a:avLst/>
          </a:prstGeom>
          <a:solidFill>
            <a:srgbClr val="1C32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264408"/>
            <a:ext cx="457200" cy="4572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903720" y="32644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Audit Log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6903720" y="36118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7EA"/>
                </a:solidFill>
              </a:rPr>
              <a:t>Immutable timestamped log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FD7EA"/>
                </a:solidFill>
              </a:rPr>
              <a:t>of every vault operation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928116" cy="228600"/>
          </a:xfrm>
          <a:prstGeom prst="rect">
            <a:avLst>
              <a:gd name="adj" fmla="val 16000"/>
            </a:avLst>
          </a:prstGeom>
          <a:solidFill>
            <a:srgbClr val="0A7A6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9281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USE CASES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Built for Real Healthcare Workflows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2743200" cy="3520440"/>
          </a:xfrm>
          <a:prstGeom prst="rect">
            <a:avLst/>
          </a:prstGeom>
          <a:solidFill>
            <a:srgbClr val="1C32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25880"/>
            <a:ext cx="2743200" cy="54864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5087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057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Patient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" y="24871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FD7EA"/>
                </a:solidFill>
              </a:rPr>
              <a:t>Owns a single encrypted vault of their entire medical history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29992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FD7EA"/>
                </a:solidFill>
              </a:rPr>
              <a:t>Grants doctors access for exactly the right time window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11480" y="351129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FD7EA"/>
                </a:solidFill>
              </a:rPr>
              <a:t>Sees a complete audit log of every access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11480" y="4023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FD7EA"/>
                </a:solidFill>
              </a:rPr>
              <a:t>Rotates their key if they suspect compromise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00400" y="1325880"/>
            <a:ext cx="2743200" cy="3520440"/>
          </a:xfrm>
          <a:prstGeom prst="rect">
            <a:avLst/>
          </a:prstGeom>
          <a:solidFill>
            <a:srgbClr val="1C32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1325880"/>
            <a:ext cx="2743200" cy="54864"/>
          </a:xfrm>
          <a:prstGeom prst="rect">
            <a:avLst/>
          </a:prstGeom>
          <a:solidFill>
            <a:srgbClr val="63B3ED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50876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37560" y="2057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Doctor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337560" y="24871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FD7EA"/>
                </a:solidFill>
              </a:rPr>
              <a:t>Receives a cryptographically signed access token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337560" y="29992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FD7EA"/>
                </a:solidFill>
              </a:rPr>
              <a:t>Downloads the file within the granted window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337560" y="351129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FD7EA"/>
                </a:solidFill>
              </a:rPr>
              <a:t>Access auto-expires — no admin needed to clean up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3337560" y="4023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FD7EA"/>
                </a:solidFill>
              </a:rPr>
              <a:t>Cannot access revoked or expired records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126480" y="1325880"/>
            <a:ext cx="2743200" cy="3520440"/>
          </a:xfrm>
          <a:prstGeom prst="rect">
            <a:avLst/>
          </a:prstGeom>
          <a:solidFill>
            <a:srgbClr val="1C32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26480" y="1325880"/>
            <a:ext cx="2743200" cy="54864"/>
          </a:xfrm>
          <a:prstGeom prst="rect">
            <a:avLst/>
          </a:prstGeom>
          <a:solidFill>
            <a:srgbClr val="F6AD55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508760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263640" y="2057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Institution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263640" y="24871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FD7EA"/>
                </a:solidFill>
              </a:rPr>
              <a:t>Stores only ciphertext — a breach exposes nothing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263640" y="29992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FD7EA"/>
                </a:solidFill>
              </a:rPr>
              <a:t>Full audit trail satisfies compliance (HIPAA-style)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263640" y="351129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FD7EA"/>
                </a:solidFill>
              </a:rPr>
              <a:t>Modular backend: swap JSON → SQLite → Postgres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6263640" y="4023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BFD7EA"/>
                </a:solidFill>
              </a:rPr>
              <a:t>Open crypto layer (CypherAegis) auditable independently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7A6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161288" cy="228600"/>
          </a:xfrm>
          <a:prstGeom prst="rect">
            <a:avLst>
              <a:gd name="adj" fmla="val 16000"/>
            </a:avLst>
          </a:prstGeom>
          <a:solidFill>
            <a:srgbClr val="0A7A6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161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Layered. Modular. Extensible.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7863840" cy="713232"/>
          </a:xfrm>
          <a:prstGeom prst="rect">
            <a:avLst/>
          </a:prstGeom>
          <a:solidFill>
            <a:srgbClr val="0A7A6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API Layer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75564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7EA"/>
                </a:solidFill>
              </a:rPr>
              <a:t>FastAPI Routers  ·  JWT Auth  ·  Rate Limiting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7863840" cy="713232"/>
          </a:xfrm>
          <a:prstGeom prst="rect">
            <a:avLst/>
          </a:prstGeom>
          <a:solidFill>
            <a:srgbClr val="0E6B5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286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Service Layer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6243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7EA"/>
                </a:solidFill>
              </a:rPr>
              <a:t>RegistrationService  ·  Transceiver  ·  Audit Logic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7863840" cy="713232"/>
          </a:xfrm>
          <a:prstGeom prst="rect">
            <a:avLst/>
          </a:prstGeom>
          <a:solidFill>
            <a:srgbClr val="0A4F4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154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Crypto Engine (CypherAegis)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49300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7EA"/>
                </a:solidFill>
              </a:rPr>
              <a:t>KeyManager  ·  ECIES  ·  ECDSA  ·  AES-256-GCM  ·  PBKDF2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4005072"/>
            <a:ext cx="3749040" cy="713232"/>
          </a:xfrm>
          <a:prstGeom prst="rect">
            <a:avLst/>
          </a:prstGeom>
          <a:solidFill>
            <a:srgbClr val="1C32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4050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Store Layer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3525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7EA"/>
                </a:solidFill>
              </a:rPr>
              <a:t>JSON → SQLite → Postgres (swappable, zero service changes)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4005072"/>
            <a:ext cx="3749040" cy="713232"/>
          </a:xfrm>
          <a:prstGeom prst="rect">
            <a:avLst/>
          </a:prstGeom>
          <a:solidFill>
            <a:srgbClr val="1C324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4050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Typed Schemas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43525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7EA"/>
                </a:solidFill>
              </a:rPr>
              <a:t>UserRecord · VaultRecord · Grant · AuditEntry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6400800" cy="6400800"/>
          </a:xfrm>
          <a:prstGeom prst="oval">
            <a:avLst/>
          </a:prstGeom>
          <a:solidFill>
            <a:srgbClr val="0A7A6D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1828800"/>
            <a:ext cx="4572000" cy="4572000"/>
          </a:xfrm>
          <a:prstGeom prst="oval">
            <a:avLst/>
          </a:prstGeom>
          <a:solidFill>
            <a:srgbClr val="02C39A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74320"/>
            <a:ext cx="694944" cy="228600"/>
          </a:xfrm>
          <a:prstGeom prst="rect">
            <a:avLst>
              <a:gd name="adj" fmla="val 16000"/>
            </a:avLst>
          </a:prstGeom>
          <a:solidFill>
            <a:srgbClr val="0A7A6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74320"/>
            <a:ext cx="6949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VISION</a:t>
            </a:r>
            <a:endParaRPr lang="en-US" sz="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731520"/>
            <a:ext cx="1645920" cy="1645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73152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Healthcare data should serve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patients — not systems.</a:t>
            </a:r>
            <a:endParaRPr lang="en-US" sz="3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7744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235915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7EA"/>
                </a:solidFill>
              </a:rPr>
              <a:t>Portable medical records across any hospital or country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9923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298094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7EA"/>
                </a:solidFill>
              </a:rPr>
              <a:t>Consent enforced by cryptography, not policy promises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621024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14400" y="360273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7EA"/>
                </a:solidFill>
              </a:rPr>
              <a:t>Breach resilience: stolen data is just meaningless ciphertext</a:t>
            </a:r>
            <a:endParaRPr lang="en-US" sz="14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242816"/>
            <a:ext cx="274320" cy="2743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14400" y="422452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7EA"/>
                </a:solidFill>
              </a:rPr>
              <a:t>Self-sovereign identity layer — patient as the root of trust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7A6D">
              <a:alpha val="30000"/>
            </a:srgbClr>
          </a:solidFill>
          <a:ln/>
        </p:spPr>
      </p:sp>
      <p:sp>
        <p:nvSpPr>
          <p:cNvPr id="18" name="Text 11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D7EA"/>
                </a:solidFill>
              </a:rPr>
              <a:t>github.com/premananda-cloud/MedLedger   ·   CypherAegis Crypto Engine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MedLedger — Patient-Owned Health Data</dc:title>
  <dc:subject>PptxGenJS Presentation</dc:subject>
  <dc:creator>PptxGenJS</dc:creator>
  <cp:lastModifiedBy>PptxGenJS</cp:lastModifiedBy>
  <cp:revision>1</cp:revision>
  <dcterms:created xsi:type="dcterms:W3CDTF">2026-04-10T11:54:33Z</dcterms:created>
  <dcterms:modified xsi:type="dcterms:W3CDTF">2026-04-10T11:54:33Z</dcterms:modified>
</cp:coreProperties>
</file>